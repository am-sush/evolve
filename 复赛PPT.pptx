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5039" autoAdjust="0"/>
  </p:normalViewPr>
  <p:slideViewPr>
    <p:cSldViewPr snapToGrid="0">
      <p:cViewPr varScale="1">
        <p:scale>
          <a:sx n="82" d="100"/>
          <a:sy n="82" d="100"/>
        </p:scale>
        <p:origin x="267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讲稿（约 30 秒）：各位老师好，我们团队带来的项目是 os-lab。一句话定位：让操作系统不是被背下来，而是在同一份代码里从裸机长到线程同步；再加上学习工作台和 AI 导师，形成一套能进课堂的教学闭环。接下来我会讲清楚三件事：为什么做、我们交付了什么、为什么可信。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讲稿（约 30 秒）：学生在课程里最常见的感受，不是记不住概念，而是拿到真实代码不会动手。我们把它归纳成三座山：原理和实践脱节、成熟内核太大、环境门槛高。赛题也正好要求两条线：30% 把官方参考练习真实跑通，70% 自研一套更低门槛的教学实验环境。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讲稿（约 25 秒）：这页先给出全片结论。我们不是只交一个内核，而是交付四条线：官方参考练习全部通过；自研 Lab1-8 内核；账号制学习平台和教师端；以及把所有结论串起来的可信证据链。后面的每一页，都是逐步证明这四条真实成立。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讲稿（约 25 秒）：项目不是一次性写完。初赛七天内完成 Lab1-5 和配套文档；二期四周补齐磁盘文件系统、IPC/信号、线程同步；三期做成可部署的学习平台。团队分三条线并行：A 负责内核与平台工程，B 负责组件与测试，C 负责文档、评价与 AI 导师。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讲稿（约 30 秒）：参考练习线不是只报分数。每一章补丁都可审阅、命令可复现，checker 全绿：ch3 做系统调用跟踪，ch4 做 mmap，ch5 做 spawn 和 stride 调度，ch6 做文件系统调用，ch8 做死锁检测。汇总后 base 61 项、exercise 98 项全部通过。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讲稿（约 35 秒）：这是全片最核心的架构差异。参考环境每个 lab 是独立内核，而我们把 Lab1 到 Lab8 做进同一个 kernel，用 Cargo feature 逐级打开：Lab2 依赖 Lab1，Lab3 依赖 Lab2，一路到 Lab8。学生始终面对同一个代码库，却能看见内核从裸机长出 trap、虚存、进程、文件和线程。同时依赖更扁，自研只有 8 个组件 crate、2 层依赖。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讲稿（约 30 秒）：我们刻意做了职责分离：kernel 负责把机制接起来，8 个组件 crate 负责独立机制边界，user 目录放用户态测试程序。这样每个组件可以单独写 host 单测，内核再用 QEMU 自证，测试不再只能靠外部 checker。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讲稿（约 30 秒）：这 8 个 Lab 不是孤立 demo：Lab1、2 打底机制，Lab3、4 做虚拟化，Lab5 和 Lab8 覆盖并发，Lab5 和 Lab6 覆盖持久化，Lab7 做进程间通信。知识点与 OSTEP 的三大主题一一对应，学生按一条线学完，就能建立完整的操作系统地图。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讲稿（约 30 秒）：二期最重要的工作是补齐后半段课程。Lab6 让文件真正落在磁盘上，Lab7 补上信号和统一文件描述符，Lab8 实现线程、同步原语和死锁检测。三个 Lab 都有 make test-labN 全链回归，Lab8 的 8 条 expected 全部通过。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讲稿（约 30 秒）：我们不是只写 PDF 手册，而是把内容做成 Web 工作台。学生左边看手册，右边写代码，下方直接跑终端、看 Problems、测试结果和 Trace；报告一键提交。解锁不是点按钮，而是要求一次可信成功运行和一份带反思的报告，再由教师开放进度。如果现场允许演示，这页可以切到真实页面跑一遍最小闭环。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讲稿（约 25 秒）：平台不是单机 demo。教师可以按全局、班级、学生三级发布内容，控制 Lab 开放进度，分配补全、排错、随机变体任务，统一配置 AI 模型，也能在线看报告和导出名单。这一页回答评委最关心的问题：这套系统能不能真正拿到课堂里用。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讲稿（约 40 秒）：这页是平台与普通练习系统最大的区别。系统只认可信 recipe 产生的命名断言和 Trace，自定义命令即使退出码为 0 也不算通过；没有真实 Trace 就保持空态。AI 和评分只能引用本轮白名单内的证据，跨账号访问返回 404；runId、workspaceVersion、哈希和事件顺序在查询时会重新校验。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讲稿（约 30 秒）：演示里最常见的闭环是：运行失败，Problems 给出真实诊断并跳到源码行，修复后可信 recipe 通过，然后打开 Trace 看到 task_switch 的 from、to、reason。这条闭环里的每次查看都会被记录为学习事件，供后面的 AI 评价使用。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讲稿（约 35 秒）：AI 导师的回答由问题意图和证据决定，不按页面阶段拍脑袋。它只推进一个认知步骤：观察、假设、验证、迁移。直接要完整代码会触发答案护栏；L0-L4 提示等级按当前问题线程累计，换题、换文件、换诊断就重新开始。没有可信 run，AI 不能声称验证通过。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讲稿（约 30 秒）：我们把 AI 拆成两个 Agent：Tutor 负责陪学生思考，要容错；Assessment 负责稳定评价学习过程。如果同一个模型一边引导、一边给自己参与的过程打分，就会产生自我评价污染。教学对话可以有创造性，成绩必须可审计、可申诉、可复算。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讲稿（约 30 秒）：Rubric v3 用 45% 过程、35% 结果、20% 反思来评学习，14 个细项都要有证据引用，无证据就显示未观察到。系统设了 H1 到 H6 六类风险门控，比如结果满分但过程极低，疑似刷断言。教师改分会保留原始自动分、理由和证据引用，最终成绩由教师决定。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知识库分 Lab 专属层、公共概念层和证据层，多格式统一成 Document，保留行号或页码；检索用 FTS5、向量和 RRF 混合，Tutor 最多取 5 个片段。教师还能用 Lab Factory 的 lint、dry-run、test、publish 流程制作新实验变体，发布必须引用成功测试并经教师批准。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讲稿（约 35 秒）：验证分三层：参考练习 checker 全绿；内核 Lab1-8 全部有 QEMU 回归；平台侧 npm test 95 项里 94 项通过，唯一失败是既有文件路径迁移问题。AI 侧 Tutor Harness 34/34，V3 离线全链路综合 94，真实模型一轮 96；需要说明这两个数字语料和评分代次不同，不能直接比较。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讲稿（约 30 秒）：三方对比的核心结论是差异化互补。我们的代码量约为参考环境的四分之一，依赖层更少，组件可以单测；xv6 和 rCore 适合系统化深化。建议路径是先用 os-lab 建立全局脉络，再进 xv6 或 rCore 深化，而不是互相替代。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讲稿（约 30 秒）：创新点我不逐一念，而是把它们归成三类价值：面向学生，降低门槛、清晰脉络、学会与 AI 协作；面向教师，AI 建议可复核、任务变体可管理、系统可进课堂；面向评委，所有结论绑定测试、Trace 和证据，AI 不拥有最终裁决权。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讲稿（约 35 秒）：我们主动交代边界：真实课堂验证还没大规模执行，所以学习效果结论保持谨慎；内核仍有教学简化，调度还没做完整抢占式多核；真实模型 A/B 只跑了一轮。AI 使用也已披露，所有代码入库前经过人工审查和测试验证。下一步先做 M5 试用协议，用真实数据重新校准，再扩展抢占、COW、网络和一体化部署。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讲稿（约 30 秒）：回到封面的一句话：我们交付的不是单点功能，而是从裸机到线程同步的完整内核，加上可进课堂的学习闭环。参考练习 98/98，Lab1-8 全链通过，AI 建议可复核，教师拥有最终裁决。感谢各位老师，请批评指正。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727076FB-09D8-4D88-AB80-62794F9CC742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EVOLVE · 操作系统教学实验环境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B8B2049-5427-44AB-9E67-C04B97F7CA37}"/>
              </a:ext>
            </a:extLst>
          </p:cNvPr>
          <p:cNvSpPr>
            <a:spLocks noGrp="1"/>
          </p:cNvSpPr>
          <p:nvPr/>
        </p:nvSpPr>
        <p:spPr>
          <a:xfrm>
            <a:off x="685800" y="1600199"/>
            <a:ext cx="10845496" cy="25228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>
              <a:lnSpc>
                <a:spcPct val="108000"/>
              </a:lnSpc>
              <a:defRPr sz="5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54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EVOLVE——</a:t>
            </a:r>
          </a:p>
          <a:p>
            <a:pPr>
              <a:lnSpc>
                <a:spcPct val="108000"/>
              </a:lnSpc>
              <a:defRPr sz="5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54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Evolving Virtual OS Learning &amp; Verification Environment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1A414D6-6911-4DA1-A5C5-0AB6CDD1AC4B}"/>
              </a:ext>
            </a:extLst>
          </p:cNvPr>
          <p:cNvSpPr>
            <a:spLocks noGrp="1"/>
          </p:cNvSpPr>
          <p:nvPr/>
        </p:nvSpPr>
        <p:spPr>
          <a:xfrm>
            <a:off x="742949" y="4533899"/>
            <a:ext cx="9802765" cy="122079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45000"/>
              </a:lnSpc>
              <a:buNone/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从裸机启动到线程同步，一条线拉出完整内核；从实验手册到 AI 导师，一套可进课堂的 OS 教学闭环。</a:t>
            </a:r>
            <a:endParaRPr lang="en-US" sz="1650" b="0">
              <a:solidFill>
                <a:srgbClr val="334155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lnSpc>
                <a:spcPct val="145000"/>
              </a:lnSpc>
              <a:buNone/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endParaRPr lang="en-US" sz="1650">
              <a:solidFill>
                <a:srgbClr val="334155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lnSpc>
                <a:spcPct val="145000"/>
              </a:lnSpc>
              <a:buNone/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65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华东师范大学 </a:t>
            </a:r>
            <a:r>
              <a:rPr lang="en-US" sz="165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O</a:t>
            </a:r>
            <a:r>
              <a:rPr lang="en-US" altLang="zh-CN" sz="165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r2-1</a:t>
            </a:r>
            <a:r>
              <a:rPr lang="zh-CN" altLang="en-US" sz="165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团队</a:t>
            </a:r>
            <a:endParaRPr sz="1650" b="0">
              <a:solidFill>
                <a:srgbClr val="334155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6901812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6A184-1BB5-4F92-A2C8-3F585FEE38BC}"/>
              </a:ext>
            </a:extLst>
          </p:cNvPr>
          <p:cNvSpPr>
            <a:spLocks noGrp="1"/>
          </p:cNvSpPr>
          <p:nvPr/>
        </p:nvSpPr>
        <p:spPr>
          <a:xfrm>
            <a:off x="533400" y="476250"/>
            <a:ext cx="57150" cy="110490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D469C68-683E-4526-9456-24F1C18E7953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762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01 · 为什么做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6645146-4838-4C4B-B8F0-44FFA13DFD7C}"/>
              </a:ext>
            </a:extLst>
          </p:cNvPr>
          <p:cNvSpPr>
            <a:spLocks noGrp="1"/>
          </p:cNvSpPr>
          <p:nvPr/>
        </p:nvSpPr>
        <p:spPr>
          <a:xfrm>
            <a:off x="742950" y="800100"/>
            <a:ext cx="10287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OS 课程难，难在三座山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242B420-3DCC-44B6-9AFE-0CEAAC3D1330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10820400" cy="9525"/>
          </a:xfrm>
          <a:prstGeom prst="roundRect">
            <a:avLst>
              <a:gd name="adj" fmla="val 0"/>
            </a:avLst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1599543-C706-4BA9-8915-16B4B36AB294}"/>
              </a:ext>
            </a:extLst>
          </p:cNvPr>
          <p:cNvSpPr>
            <a:spLocks noGrp="1"/>
          </p:cNvSpPr>
          <p:nvPr/>
        </p:nvSpPr>
        <p:spPr>
          <a:xfrm>
            <a:off x="685800" y="65151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EVOLVE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F814BEE-9485-47B7-A337-46550136C54D}"/>
              </a:ext>
            </a:extLst>
          </p:cNvPr>
          <p:cNvSpPr>
            <a:spLocks noGrp="1"/>
          </p:cNvSpPr>
          <p:nvPr/>
        </p:nvSpPr>
        <p:spPr>
          <a:xfrm>
            <a:off x="10287000" y="651510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02 / 22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6E55524-E6CF-4DA3-A25E-8BE152894ED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3143250" cy="281940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9AC4402-CC76-48C2-A1DE-D1985B0D0AB4}"/>
              </a:ext>
            </a:extLst>
          </p:cNvPr>
          <p:cNvSpPr>
            <a:spLocks noGrp="1"/>
          </p:cNvSpPr>
          <p:nvPr/>
        </p:nvSpPr>
        <p:spPr>
          <a:xfrm>
            <a:off x="933450" y="232410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ED7E2B-E254-4CA6-A761-FE55292C5CA3}"/>
              </a:ext>
            </a:extLst>
          </p:cNvPr>
          <p:cNvSpPr>
            <a:spLocks noGrp="1"/>
          </p:cNvSpPr>
          <p:nvPr/>
        </p:nvSpPr>
        <p:spPr>
          <a:xfrm>
            <a:off x="933450" y="2324100"/>
            <a:ext cx="438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425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13F99F0-60E5-4AA9-AE26-8121DA67E8BF}"/>
              </a:ext>
            </a:extLst>
          </p:cNvPr>
          <p:cNvSpPr>
            <a:spLocks noGrp="1"/>
          </p:cNvSpPr>
          <p:nvPr/>
        </p:nvSpPr>
        <p:spPr>
          <a:xfrm>
            <a:off x="933450" y="2933700"/>
            <a:ext cx="2647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原理与实践脱节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DED0C48-AC1E-424F-B85F-2A5E13EB5450}"/>
              </a:ext>
            </a:extLst>
          </p:cNvPr>
          <p:cNvSpPr>
            <a:spLocks noGrp="1"/>
          </p:cNvSpPr>
          <p:nvPr/>
        </p:nvSpPr>
        <p:spPr>
          <a:xfrm>
            <a:off x="933450" y="3352800"/>
            <a:ext cx="26479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3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听得懂“虚存是什么”，面对真实页表代码却不知道从哪看起。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C3A75AE-DE87-48AD-990C-73409F5FF86B}"/>
              </a:ext>
            </a:extLst>
          </p:cNvPr>
          <p:cNvSpPr>
            <a:spLocks noGrp="1"/>
          </p:cNvSpPr>
          <p:nvPr/>
        </p:nvSpPr>
        <p:spPr>
          <a:xfrm>
            <a:off x="4057650" y="2057400"/>
            <a:ext cx="3143250" cy="281940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1EEA61ED-C3C2-4EF4-A6E0-C17CE00EC0DC}"/>
              </a:ext>
            </a:extLst>
          </p:cNvPr>
          <p:cNvSpPr>
            <a:spLocks noGrp="1"/>
          </p:cNvSpPr>
          <p:nvPr/>
        </p:nvSpPr>
        <p:spPr>
          <a:xfrm>
            <a:off x="4305300" y="232410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91CBF8B-043D-451F-AAA9-267684DB5A05}"/>
              </a:ext>
            </a:extLst>
          </p:cNvPr>
          <p:cNvSpPr>
            <a:spLocks noGrp="1"/>
          </p:cNvSpPr>
          <p:nvPr/>
        </p:nvSpPr>
        <p:spPr>
          <a:xfrm>
            <a:off x="4305300" y="2324100"/>
            <a:ext cx="438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425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9E9C6B9-4228-4A75-A731-0E6A7A89E03C}"/>
              </a:ext>
            </a:extLst>
          </p:cNvPr>
          <p:cNvSpPr>
            <a:spLocks noGrp="1"/>
          </p:cNvSpPr>
          <p:nvPr/>
        </p:nvSpPr>
        <p:spPr>
          <a:xfrm>
            <a:off x="4305300" y="2933700"/>
            <a:ext cx="2647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成熟内核太大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7C2BFFF-47F0-47A1-BF1A-23AFF82C047C}"/>
              </a:ext>
            </a:extLst>
          </p:cNvPr>
          <p:cNvSpPr>
            <a:spLocks noGrp="1"/>
          </p:cNvSpPr>
          <p:nvPr/>
        </p:nvSpPr>
        <p:spPr>
          <a:xfrm>
            <a:off x="4305300" y="3352800"/>
            <a:ext cx="26479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3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xv6、rCore 功能完整，但代码量大、模块多，学生容易迷失。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EBC2D768-88D0-4FB8-905F-6B8382668655}"/>
              </a:ext>
            </a:extLst>
          </p:cNvPr>
          <p:cNvSpPr>
            <a:spLocks noGrp="1"/>
          </p:cNvSpPr>
          <p:nvPr/>
        </p:nvSpPr>
        <p:spPr>
          <a:xfrm>
            <a:off x="7429500" y="2057400"/>
            <a:ext cx="3143250" cy="281940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9525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A689AE8-11A0-4648-832A-B1D845EC3230}"/>
              </a:ext>
            </a:extLst>
          </p:cNvPr>
          <p:cNvSpPr>
            <a:spLocks noGrp="1"/>
          </p:cNvSpPr>
          <p:nvPr/>
        </p:nvSpPr>
        <p:spPr>
          <a:xfrm>
            <a:off x="7677150" y="232410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4895521-2B0C-4524-AC04-9D59AD91B673}"/>
              </a:ext>
            </a:extLst>
          </p:cNvPr>
          <p:cNvSpPr>
            <a:spLocks noGrp="1"/>
          </p:cNvSpPr>
          <p:nvPr/>
        </p:nvSpPr>
        <p:spPr>
          <a:xfrm>
            <a:off x="7677150" y="2324100"/>
            <a:ext cx="438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425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49C9F3B-B915-4B0E-A599-FB87D7807CDE}"/>
              </a:ext>
            </a:extLst>
          </p:cNvPr>
          <p:cNvSpPr>
            <a:spLocks noGrp="1"/>
          </p:cNvSpPr>
          <p:nvPr/>
        </p:nvSpPr>
        <p:spPr>
          <a:xfrm>
            <a:off x="7677150" y="2933700"/>
            <a:ext cx="2647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环境门槛高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C909C7E-F375-481B-A4D8-0C55FC7B4AAF}"/>
              </a:ext>
            </a:extLst>
          </p:cNvPr>
          <p:cNvSpPr>
            <a:spLocks noGrp="1"/>
          </p:cNvSpPr>
          <p:nvPr/>
        </p:nvSpPr>
        <p:spPr>
          <a:xfrm>
            <a:off x="7677150" y="3352800"/>
            <a:ext cx="26479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3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C 指针、依赖结构、QEMU 黑屏和晦涩报错，把时间耗在调环境上。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C2C444D-8C58-4BE6-80A3-E9F4C7F4034F}"/>
              </a:ext>
            </a:extLst>
          </p:cNvPr>
          <p:cNvSpPr>
            <a:spLocks noGrp="1"/>
          </p:cNvSpPr>
          <p:nvPr/>
        </p:nvSpPr>
        <p:spPr>
          <a:xfrm>
            <a:off x="685800" y="5219700"/>
            <a:ext cx="1714500" cy="914400"/>
          </a:xfrm>
          <a:prstGeom prst="roundRect">
            <a:avLst>
              <a:gd name="adj" fmla="val 10417"/>
            </a:avLst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FC0B5F1-0EE0-41BF-84BD-548750F88ACD}"/>
              </a:ext>
            </a:extLst>
          </p:cNvPr>
          <p:cNvSpPr>
            <a:spLocks noGrp="1"/>
          </p:cNvSpPr>
          <p:nvPr/>
        </p:nvSpPr>
        <p:spPr>
          <a:xfrm>
            <a:off x="685800" y="5219700"/>
            <a:ext cx="1714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赛题要求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C6A7A0DD-0551-42CF-BC20-1D8DEC7229E0}"/>
              </a:ext>
            </a:extLst>
          </p:cNvPr>
          <p:cNvSpPr>
            <a:spLocks noGrp="1"/>
          </p:cNvSpPr>
          <p:nvPr/>
        </p:nvSpPr>
        <p:spPr>
          <a:xfrm>
            <a:off x="2552700" y="5219700"/>
            <a:ext cx="3048000" cy="914400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D7D20CD-3893-4C2D-A64A-B2EF8AB6B7CC}"/>
              </a:ext>
            </a:extLst>
          </p:cNvPr>
          <p:cNvSpPr>
            <a:spLocks noGrp="1"/>
          </p:cNvSpPr>
          <p:nvPr/>
        </p:nvSpPr>
        <p:spPr>
          <a:xfrm>
            <a:off x="2762250" y="5372100"/>
            <a:ext cx="266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30000"/>
              </a:lnSpc>
              <a:buNone/>
              <a:defRPr sz="150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30%</a:t>
            </a:r>
          </a:p>
          <a:p>
            <a:pPr algn="l">
              <a:lnSpc>
                <a:spcPct val="130000"/>
              </a:lnSpc>
              <a:buNone/>
              <a:defRPr sz="150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官方参考环境 5 章基础练习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258DCCB-D650-4871-A2A5-E1FBA525BB77}"/>
              </a:ext>
            </a:extLst>
          </p:cNvPr>
          <p:cNvSpPr>
            <a:spLocks noGrp="1"/>
          </p:cNvSpPr>
          <p:nvPr/>
        </p:nvSpPr>
        <p:spPr>
          <a:xfrm>
            <a:off x="5753100" y="5219700"/>
            <a:ext cx="5753100" cy="914400"/>
          </a:xfrm>
          <a:prstGeom prst="roundRect">
            <a:avLst>
              <a:gd name="adj" fmla="val 10417"/>
            </a:avLst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A644675-321A-4CDE-906D-5017B0949BF3}"/>
              </a:ext>
            </a:extLst>
          </p:cNvPr>
          <p:cNvSpPr>
            <a:spLocks noGrp="1"/>
          </p:cNvSpPr>
          <p:nvPr/>
        </p:nvSpPr>
        <p:spPr>
          <a:xfrm>
            <a:off x="5981700" y="5372100"/>
            <a:ext cx="5334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30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70%</a:t>
            </a:r>
          </a:p>
          <a:p>
            <a:pPr algn="l">
              <a:lnSpc>
                <a:spcPct val="130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自研教学实验环境：代码、文档、测试、答案、对比</a:t>
            </a:r>
          </a:p>
        </p:txBody>
      </p:sp>
    </p:spTree>
    <p:extLst>
      <p:ext uri="{BB962C8B-B14F-4D97-AF65-F5344CB8AC3E}">
        <p14:creationId xmlns:p14="http://schemas.microsoft.com/office/powerpoint/2010/main" val="1677184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41F2961F-1895-41EC-9447-2B6C4B8FFC01}"/>
              </a:ext>
            </a:extLst>
          </p:cNvPr>
          <p:cNvSpPr>
            <a:spLocks noGrp="1"/>
          </p:cNvSpPr>
          <p:nvPr/>
        </p:nvSpPr>
        <p:spPr>
          <a:xfrm>
            <a:off x="533400" y="476250"/>
            <a:ext cx="57150" cy="11049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0383B4D-723F-4D93-BA91-1F95A9FDD5D6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762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02 · 我们的答案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1C39757-8E76-49E2-9C66-AF95116F6811}"/>
              </a:ext>
            </a:extLst>
          </p:cNvPr>
          <p:cNvSpPr>
            <a:spLocks noGrp="1"/>
          </p:cNvSpPr>
          <p:nvPr/>
        </p:nvSpPr>
        <p:spPr>
          <a:xfrm>
            <a:off x="742950" y="800100"/>
            <a:ext cx="10287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双线交付 + 一个证据底座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9FF6E3D-0F25-447D-80EC-46EFA6E76210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10820400" cy="9525"/>
          </a:xfrm>
          <a:prstGeom prst="roundRect">
            <a:avLst>
              <a:gd name="adj" fmla="val 0"/>
            </a:avLst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1EFF861-7E26-4C43-B78B-D4A067685381}"/>
              </a:ext>
            </a:extLst>
          </p:cNvPr>
          <p:cNvSpPr>
            <a:spLocks noGrp="1"/>
          </p:cNvSpPr>
          <p:nvPr/>
        </p:nvSpPr>
        <p:spPr>
          <a:xfrm>
            <a:off x="685800" y="65151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EVOLVE 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30C4670-A4B5-4D70-AE37-B203E64E0EAD}"/>
              </a:ext>
            </a:extLst>
          </p:cNvPr>
          <p:cNvSpPr>
            <a:spLocks noGrp="1"/>
          </p:cNvSpPr>
          <p:nvPr/>
        </p:nvSpPr>
        <p:spPr>
          <a:xfrm>
            <a:off x="10287000" y="651510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03 / 22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09FBB3D-586E-4980-A7A5-D6297E2FBC0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2438400" cy="3143250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A859DA5C-E127-4A6D-BFCE-91B0C1C0030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2438400" cy="57150"/>
          </a:xfrm>
          <a:prstGeom prst="roundRect">
            <a:avLst>
              <a:gd name="adj" fmla="val 0"/>
            </a:avLst>
          </a:prstGeom>
          <a:solidFill>
            <a:srgbClr val="0D948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5821D48-C0AD-4AB9-BE8C-98F5A11460BB}"/>
              </a:ext>
            </a:extLst>
          </p:cNvPr>
          <p:cNvSpPr>
            <a:spLocks noGrp="1"/>
          </p:cNvSpPr>
          <p:nvPr/>
        </p:nvSpPr>
        <p:spPr>
          <a:xfrm>
            <a:off x="914400" y="238125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参考练习线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13A9F73-28FC-456F-91B2-6F60BB82147E}"/>
              </a:ext>
            </a:extLst>
          </p:cNvPr>
          <p:cNvSpPr>
            <a:spLocks noGrp="1"/>
          </p:cNvSpPr>
          <p:nvPr/>
        </p:nvSpPr>
        <p:spPr>
          <a:xfrm>
            <a:off x="914400" y="2781300"/>
            <a:ext cx="200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31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98/98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ABA2569-264A-4AE2-BB52-F040B4116D38}"/>
              </a:ext>
            </a:extLst>
          </p:cNvPr>
          <p:cNvSpPr>
            <a:spLocks noGrp="1"/>
          </p:cNvSpPr>
          <p:nvPr/>
        </p:nvSpPr>
        <p:spPr>
          <a:xfrm>
            <a:off x="914400" y="3486150"/>
            <a:ext cx="20002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4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5 章 exercise 全部通过 checker，补丁与报告可复现。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404202B3-2659-420A-9396-140D2A7F7062}"/>
              </a:ext>
            </a:extLst>
          </p:cNvPr>
          <p:cNvSpPr>
            <a:spLocks noGrp="1"/>
          </p:cNvSpPr>
          <p:nvPr/>
        </p:nvSpPr>
        <p:spPr>
          <a:xfrm>
            <a:off x="3390900" y="2057400"/>
            <a:ext cx="2438400" cy="3143250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C48274D-08FA-45E5-945D-BA44C7408CFE}"/>
              </a:ext>
            </a:extLst>
          </p:cNvPr>
          <p:cNvSpPr>
            <a:spLocks noGrp="1"/>
          </p:cNvSpPr>
          <p:nvPr/>
        </p:nvSpPr>
        <p:spPr>
          <a:xfrm>
            <a:off x="3390900" y="2057400"/>
            <a:ext cx="2438400" cy="57150"/>
          </a:xfrm>
          <a:prstGeom prst="roundRect">
            <a:avLst>
              <a:gd name="adj" fmla="val 0"/>
            </a:avLst>
          </a:prstGeom>
          <a:solidFill>
            <a:srgbClr val="0284C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A816ED7-1328-4652-A683-761BF1095D8C}"/>
              </a:ext>
            </a:extLst>
          </p:cNvPr>
          <p:cNvSpPr>
            <a:spLocks noGrp="1"/>
          </p:cNvSpPr>
          <p:nvPr/>
        </p:nvSpPr>
        <p:spPr>
          <a:xfrm>
            <a:off x="3619500" y="238125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自研内核线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AFBA618-ADD6-4CA5-A2C0-F9CB307AF187}"/>
              </a:ext>
            </a:extLst>
          </p:cNvPr>
          <p:cNvSpPr>
            <a:spLocks noGrp="1"/>
          </p:cNvSpPr>
          <p:nvPr/>
        </p:nvSpPr>
        <p:spPr>
          <a:xfrm>
            <a:off x="3619500" y="2781300"/>
            <a:ext cx="200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31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Lab1-8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DC9A38F-834A-4961-8E30-F9BD2EBE7D76}"/>
              </a:ext>
            </a:extLst>
          </p:cNvPr>
          <p:cNvSpPr>
            <a:spLocks noGrp="1"/>
          </p:cNvSpPr>
          <p:nvPr/>
        </p:nvSpPr>
        <p:spPr>
          <a:xfrm>
            <a:off x="3619500" y="3486150"/>
            <a:ext cx="20002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4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从裸机启动到线程同步，单内核渐进式长出来。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FB7E202-125D-483E-BBFE-72AFCC76F02B}"/>
              </a:ext>
            </a:extLst>
          </p:cNvPr>
          <p:cNvSpPr>
            <a:spLocks noGrp="1"/>
          </p:cNvSpPr>
          <p:nvPr/>
        </p:nvSpPr>
        <p:spPr>
          <a:xfrm>
            <a:off x="6096000" y="2057400"/>
            <a:ext cx="2438400" cy="3143250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5D0E3412-EE4B-464D-8D5F-A6B5F7A2CE4A}"/>
              </a:ext>
            </a:extLst>
          </p:cNvPr>
          <p:cNvSpPr>
            <a:spLocks noGrp="1"/>
          </p:cNvSpPr>
          <p:nvPr/>
        </p:nvSpPr>
        <p:spPr>
          <a:xfrm>
            <a:off x="6096000" y="2057400"/>
            <a:ext cx="2438400" cy="57150"/>
          </a:xfrm>
          <a:prstGeom prst="roundRect">
            <a:avLst>
              <a:gd name="adj" fmla="val 0"/>
            </a:avLst>
          </a:prstGeom>
          <a:solidFill>
            <a:srgbClr val="D97706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91428A6-DE8A-4BC5-8BFE-65693CFE1E5A}"/>
              </a:ext>
            </a:extLst>
          </p:cNvPr>
          <p:cNvSpPr>
            <a:spLocks noGrp="1"/>
          </p:cNvSpPr>
          <p:nvPr/>
        </p:nvSpPr>
        <p:spPr>
          <a:xfrm>
            <a:off x="6324600" y="238125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650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rPr>
              <a:t>学习平台线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ABD66EF-AF06-4F9C-83F6-DA561B88C29B}"/>
              </a:ext>
            </a:extLst>
          </p:cNvPr>
          <p:cNvSpPr>
            <a:spLocks noGrp="1"/>
          </p:cNvSpPr>
          <p:nvPr/>
        </p:nvSpPr>
        <p:spPr>
          <a:xfrm>
            <a:off x="6324600" y="2781300"/>
            <a:ext cx="200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31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工作台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CDB32B1-999D-43F8-9FDB-3A802F454AAD}"/>
              </a:ext>
            </a:extLst>
          </p:cNvPr>
          <p:cNvSpPr>
            <a:spLocks noGrp="1"/>
          </p:cNvSpPr>
          <p:nvPr/>
        </p:nvSpPr>
        <p:spPr>
          <a:xfrm>
            <a:off x="6324600" y="3486150"/>
            <a:ext cx="20002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4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账号制工作台、教师端、AI 导师与 AI 学习评价。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357AD194-4361-4C74-AFD7-2E9E28AF54C1}"/>
              </a:ext>
            </a:extLst>
          </p:cNvPr>
          <p:cNvSpPr>
            <a:spLocks noGrp="1"/>
          </p:cNvSpPr>
          <p:nvPr/>
        </p:nvSpPr>
        <p:spPr>
          <a:xfrm>
            <a:off x="8801100" y="2057400"/>
            <a:ext cx="2438400" cy="3143250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D441EC1C-143E-4DE7-8208-A19397B18372}"/>
              </a:ext>
            </a:extLst>
          </p:cNvPr>
          <p:cNvSpPr>
            <a:spLocks noGrp="1"/>
          </p:cNvSpPr>
          <p:nvPr/>
        </p:nvSpPr>
        <p:spPr>
          <a:xfrm>
            <a:off x="8801100" y="2057400"/>
            <a:ext cx="2438400" cy="57150"/>
          </a:xfrm>
          <a:prstGeom prst="roundRect">
            <a:avLst>
              <a:gd name="adj" fmla="val 0"/>
            </a:avLst>
          </a:prstGeom>
          <a:solidFill>
            <a:srgbClr val="05966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DA05C7E-A86E-499A-858E-3C2BF2F5960C}"/>
              </a:ext>
            </a:extLst>
          </p:cNvPr>
          <p:cNvSpPr>
            <a:spLocks noGrp="1"/>
          </p:cNvSpPr>
          <p:nvPr/>
        </p:nvSpPr>
        <p:spPr>
          <a:xfrm>
            <a:off x="9029700" y="238125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共同底座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A87E997-0FA6-4B6A-A6A8-290B1B11383E}"/>
              </a:ext>
            </a:extLst>
          </p:cNvPr>
          <p:cNvSpPr>
            <a:spLocks noGrp="1"/>
          </p:cNvSpPr>
          <p:nvPr/>
        </p:nvSpPr>
        <p:spPr>
          <a:xfrm>
            <a:off x="9029700" y="2781300"/>
            <a:ext cx="200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31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证据链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F419036-FEBA-436B-A212-764CA35320BE}"/>
              </a:ext>
            </a:extLst>
          </p:cNvPr>
          <p:cNvSpPr>
            <a:spLocks noGrp="1"/>
          </p:cNvSpPr>
          <p:nvPr/>
        </p:nvSpPr>
        <p:spPr>
          <a:xfrm>
            <a:off x="9029700" y="3486150"/>
            <a:ext cx="20002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4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可信 run、命名断言、Trace，结论可复现、可审计。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7E3F647-D8A6-47A8-861D-1B73DDEB668C}"/>
              </a:ext>
            </a:extLst>
          </p:cNvPr>
          <p:cNvSpPr>
            <a:spLocks noGrp="1"/>
          </p:cNvSpPr>
          <p:nvPr/>
        </p:nvSpPr>
        <p:spPr>
          <a:xfrm>
            <a:off x="685800" y="5581650"/>
            <a:ext cx="10820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40000"/>
              </a:lnSpc>
              <a:buNone/>
              <a:defRPr sz="15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全片叙事：为什么做 → 交付了什么 → 为什么可信；每一页都回答“为什么、做什么、证据是什么”。</a:t>
            </a:r>
          </a:p>
        </p:txBody>
      </p:sp>
    </p:spTree>
    <p:extLst>
      <p:ext uri="{BB962C8B-B14F-4D97-AF65-F5344CB8AC3E}">
        <p14:creationId xmlns:p14="http://schemas.microsoft.com/office/powerpoint/2010/main" val="20921302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95D71B94-DB00-45EB-8132-63828035CE41}"/>
              </a:ext>
            </a:extLst>
          </p:cNvPr>
          <p:cNvSpPr>
            <a:spLocks noGrp="1"/>
          </p:cNvSpPr>
          <p:nvPr/>
        </p:nvSpPr>
        <p:spPr>
          <a:xfrm>
            <a:off x="533400" y="476250"/>
            <a:ext cx="57150" cy="11049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2EDEC60-F63A-4ED4-9398-E54EBAB256B7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762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02 · 我们的答案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C660842-FC77-4102-BE30-9C655DEFCB7E}"/>
              </a:ext>
            </a:extLst>
          </p:cNvPr>
          <p:cNvSpPr>
            <a:spLocks noGrp="1"/>
          </p:cNvSpPr>
          <p:nvPr/>
        </p:nvSpPr>
        <p:spPr>
          <a:xfrm>
            <a:off x="742950" y="800100"/>
            <a:ext cx="10287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从初赛到课程化：三个阶段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BB4A5E1-E4F8-4513-980A-D72DA30F9E6D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10820400" cy="9525"/>
          </a:xfrm>
          <a:prstGeom prst="roundRect">
            <a:avLst>
              <a:gd name="adj" fmla="val 0"/>
            </a:avLst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4626358-CB6A-4972-8E29-D0AEBACF2DB2}"/>
              </a:ext>
            </a:extLst>
          </p:cNvPr>
          <p:cNvSpPr>
            <a:spLocks noGrp="1"/>
          </p:cNvSpPr>
          <p:nvPr/>
        </p:nvSpPr>
        <p:spPr>
          <a:xfrm>
            <a:off x="685800" y="65151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EVOLVE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EBA73BA-91CD-40A9-9C42-914D6008DE63}"/>
              </a:ext>
            </a:extLst>
          </p:cNvPr>
          <p:cNvSpPr>
            <a:spLocks noGrp="1"/>
          </p:cNvSpPr>
          <p:nvPr/>
        </p:nvSpPr>
        <p:spPr>
          <a:xfrm>
            <a:off x="10287000" y="651510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04 / 22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733AFCFD-F0B6-4824-BEC8-E9933D4CF965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3333750" cy="2095500"/>
          </a:xfrm>
          <a:prstGeom prst="roundRect">
            <a:avLst>
              <a:gd name="adj" fmla="val 4545"/>
            </a:avLst>
          </a:prstGeom>
          <a:solidFill>
            <a:srgbClr val="F0FDFA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69E22E8-A342-43DF-9C5D-619883597E99}"/>
              </a:ext>
            </a:extLst>
          </p:cNvPr>
          <p:cNvSpPr>
            <a:spLocks noGrp="1"/>
          </p:cNvSpPr>
          <p:nvPr/>
        </p:nvSpPr>
        <p:spPr>
          <a:xfrm>
            <a:off x="933450" y="2400300"/>
            <a:ext cx="285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1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初赛 7 天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ABC4483-64AA-4DF4-8F25-1FE392A457F0}"/>
              </a:ext>
            </a:extLst>
          </p:cNvPr>
          <p:cNvSpPr>
            <a:spLocks noGrp="1"/>
          </p:cNvSpPr>
          <p:nvPr/>
        </p:nvSpPr>
        <p:spPr>
          <a:xfrm>
            <a:off x="933450" y="2914650"/>
            <a:ext cx="2857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40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Lab1-5 内核、文档、三方对比与 AI 协作记录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BD151E3-6174-41E0-B37F-10BFDB9ED5C6}"/>
              </a:ext>
            </a:extLst>
          </p:cNvPr>
          <p:cNvSpPr>
            <a:spLocks noGrp="1"/>
          </p:cNvSpPr>
          <p:nvPr/>
        </p:nvSpPr>
        <p:spPr>
          <a:xfrm>
            <a:off x="3962400" y="2914650"/>
            <a:ext cx="323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9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4B899A4-1055-4D37-A65E-1476A0CD63A3}"/>
              </a:ext>
            </a:extLst>
          </p:cNvPr>
          <p:cNvSpPr>
            <a:spLocks noGrp="1"/>
          </p:cNvSpPr>
          <p:nvPr/>
        </p:nvSpPr>
        <p:spPr>
          <a:xfrm>
            <a:off x="4305300" y="2095500"/>
            <a:ext cx="3333750" cy="2095500"/>
          </a:xfrm>
          <a:prstGeom prst="roundRect">
            <a:avLst>
              <a:gd name="adj" fmla="val 4545"/>
            </a:avLst>
          </a:prstGeom>
          <a:solidFill>
            <a:srgbClr val="F0F9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B7D0B65-CDF4-48B3-8BF7-0F5EB8A7C93D}"/>
              </a:ext>
            </a:extLst>
          </p:cNvPr>
          <p:cNvSpPr>
            <a:spLocks noGrp="1"/>
          </p:cNvSpPr>
          <p:nvPr/>
        </p:nvSpPr>
        <p:spPr>
          <a:xfrm>
            <a:off x="4552950" y="2400300"/>
            <a:ext cx="285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1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二期 4 周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EAE7651-C61B-4183-885C-C3E36E7A4689}"/>
              </a:ext>
            </a:extLst>
          </p:cNvPr>
          <p:cNvSpPr>
            <a:spLocks noGrp="1"/>
          </p:cNvSpPr>
          <p:nvPr/>
        </p:nvSpPr>
        <p:spPr>
          <a:xfrm>
            <a:off x="4552950" y="2914650"/>
            <a:ext cx="2857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40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Lab6-8 补齐磁盘 FS、IPC/信号、线程同步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7432B22-0BB0-40ED-8D0A-1ED681D632C3}"/>
              </a:ext>
            </a:extLst>
          </p:cNvPr>
          <p:cNvSpPr>
            <a:spLocks noGrp="1"/>
          </p:cNvSpPr>
          <p:nvPr/>
        </p:nvSpPr>
        <p:spPr>
          <a:xfrm>
            <a:off x="7581900" y="2914650"/>
            <a:ext cx="323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9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898AE7F8-606D-4DA1-9B6E-7593FF224F61}"/>
              </a:ext>
            </a:extLst>
          </p:cNvPr>
          <p:cNvSpPr>
            <a:spLocks noGrp="1"/>
          </p:cNvSpPr>
          <p:nvPr/>
        </p:nvSpPr>
        <p:spPr>
          <a:xfrm>
            <a:off x="7924800" y="2095500"/>
            <a:ext cx="3333750" cy="2095500"/>
          </a:xfrm>
          <a:prstGeom prst="roundRect">
            <a:avLst>
              <a:gd name="adj" fmla="val 4545"/>
            </a:avLst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59DC89E-3B0A-40B8-B214-DAE7A2829807}"/>
              </a:ext>
            </a:extLst>
          </p:cNvPr>
          <p:cNvSpPr>
            <a:spLocks noGrp="1"/>
          </p:cNvSpPr>
          <p:nvPr/>
        </p:nvSpPr>
        <p:spPr>
          <a:xfrm>
            <a:off x="8172450" y="2400300"/>
            <a:ext cx="285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100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rPr>
              <a:t>三期课程化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EF4A6AF-6902-43C3-A51E-06211D4BA3B3}"/>
              </a:ext>
            </a:extLst>
          </p:cNvPr>
          <p:cNvSpPr>
            <a:spLocks noGrp="1"/>
          </p:cNvSpPr>
          <p:nvPr/>
        </p:nvSpPr>
        <p:spPr>
          <a:xfrm>
            <a:off x="8172450" y="2914650"/>
            <a:ext cx="2857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40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工作台、教师端、AI 双 Agent、评分复核、Lab Factory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AC1247A-DCB7-475E-B6AD-48F99E09BEFF}"/>
              </a:ext>
            </a:extLst>
          </p:cNvPr>
          <p:cNvSpPr>
            <a:spLocks noGrp="1"/>
          </p:cNvSpPr>
          <p:nvPr/>
        </p:nvSpPr>
        <p:spPr>
          <a:xfrm>
            <a:off x="685800" y="4552950"/>
            <a:ext cx="10820400" cy="1200150"/>
          </a:xfrm>
          <a:prstGeom prst="roundRect">
            <a:avLst>
              <a:gd name="adj" fmla="val 793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AEC8E90-A1F4-4E21-8D25-00D56D7BC09D}"/>
              </a:ext>
            </a:extLst>
          </p:cNvPr>
          <p:cNvSpPr>
            <a:spLocks noGrp="1"/>
          </p:cNvSpPr>
          <p:nvPr/>
        </p:nvSpPr>
        <p:spPr>
          <a:xfrm>
            <a:off x="952500" y="4762500"/>
            <a:ext cx="190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团队分工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B90A241-0475-438F-878D-3F488940A666}"/>
              </a:ext>
            </a:extLst>
          </p:cNvPr>
          <p:cNvSpPr>
            <a:spLocks noGrp="1"/>
          </p:cNvSpPr>
          <p:nvPr/>
        </p:nvSpPr>
        <p:spPr>
          <a:xfrm>
            <a:off x="3009900" y="4762500"/>
            <a:ext cx="27622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30000"/>
              </a:lnSpc>
              <a:buNone/>
              <a:def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  <a:p>
            <a:pPr algn="l">
              <a:lnSpc>
                <a:spcPct val="130000"/>
              </a:lnSpc>
              <a:buNone/>
              <a:def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内核与平台工程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D3D966C-0311-42FE-9A04-42567B01194B}"/>
              </a:ext>
            </a:extLst>
          </p:cNvPr>
          <p:cNvSpPr>
            <a:spLocks noGrp="1"/>
          </p:cNvSpPr>
          <p:nvPr/>
        </p:nvSpPr>
        <p:spPr>
          <a:xfrm>
            <a:off x="6076950" y="4762500"/>
            <a:ext cx="2476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30000"/>
              </a:lnSpc>
              <a:buNone/>
              <a:def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  <a:p>
            <a:pPr algn="l">
              <a:lnSpc>
                <a:spcPct val="130000"/>
              </a:lnSpc>
              <a:buNone/>
              <a:def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组件与测试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F72B59F-42E0-48B8-9394-BD41E66797BA}"/>
              </a:ext>
            </a:extLst>
          </p:cNvPr>
          <p:cNvSpPr>
            <a:spLocks noGrp="1"/>
          </p:cNvSpPr>
          <p:nvPr/>
        </p:nvSpPr>
        <p:spPr>
          <a:xfrm>
            <a:off x="8858250" y="4762500"/>
            <a:ext cx="2476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30000"/>
              </a:lnSpc>
              <a:buNone/>
              <a:def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  <a:p>
            <a:pPr algn="l">
              <a:lnSpc>
                <a:spcPct val="130000"/>
              </a:lnSpc>
              <a:buNone/>
              <a:def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文档、评价与 AI 导师</a:t>
            </a:r>
          </a:p>
        </p:txBody>
      </p:sp>
    </p:spTree>
    <p:extLst>
      <p:ext uri="{BB962C8B-B14F-4D97-AF65-F5344CB8AC3E}">
        <p14:creationId xmlns:p14="http://schemas.microsoft.com/office/powerpoint/2010/main" val="14826425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C37E3D2-31CC-44E4-9D40-EC6F61B22919}"/>
              </a:ext>
            </a:extLst>
          </p:cNvPr>
          <p:cNvSpPr>
            <a:spLocks noGrp="1"/>
          </p:cNvSpPr>
          <p:nvPr/>
        </p:nvSpPr>
        <p:spPr>
          <a:xfrm>
            <a:off x="533400" y="476250"/>
            <a:ext cx="57150" cy="11049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87E5793-34F1-4664-B105-B76F437D6622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762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03 · 参考练习线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B6C0D53-6476-449A-9EE3-193860F5F4ED}"/>
              </a:ext>
            </a:extLst>
          </p:cNvPr>
          <p:cNvSpPr>
            <a:spLocks noGrp="1"/>
          </p:cNvSpPr>
          <p:nvPr/>
        </p:nvSpPr>
        <p:spPr>
          <a:xfrm>
            <a:off x="742950" y="800100"/>
            <a:ext cx="10287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官方环境 5 章全部真实跑通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890E553-6970-4383-AB7F-B3869067A869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10820400" cy="9525"/>
          </a:xfrm>
          <a:prstGeom prst="roundRect">
            <a:avLst>
              <a:gd name="adj" fmla="val 0"/>
            </a:avLst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4FFD71D-8C4D-477D-BA84-BDEAEC2E86A8}"/>
              </a:ext>
            </a:extLst>
          </p:cNvPr>
          <p:cNvSpPr>
            <a:spLocks noGrp="1"/>
          </p:cNvSpPr>
          <p:nvPr/>
        </p:nvSpPr>
        <p:spPr>
          <a:xfrm>
            <a:off x="685800" y="65151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EVOLVE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2205633-634E-4C89-9AC8-CA4723811F87}"/>
              </a:ext>
            </a:extLst>
          </p:cNvPr>
          <p:cNvSpPr>
            <a:spLocks noGrp="1"/>
          </p:cNvSpPr>
          <p:nvPr/>
        </p:nvSpPr>
        <p:spPr>
          <a:xfrm>
            <a:off x="10287000" y="651510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05 / 22</a:t>
            </a:r>
          </a:p>
        </p:txBody>
      </p:sp>
      <p:graphicFrame>
        <p:nvGraphicFramePr>
          <p:cNvPr id="19" name="表格 18"/>
          <p:cNvGraphicFramePr/>
          <p:nvPr/>
        </p:nvGraphicFramePr>
        <p:xfrm>
          <a:off x="685800" y="2057400"/>
          <a:ext cx="7905750" cy="3143250"/>
        </p:xfrm>
        <a:graphic>
          <a:graphicData uri="http://schemas.openxmlformats.org/drawingml/2006/table">
            <a:tbl>
              <a:tblPr/>
              <a:tblGrid>
                <a:gridCol w="1238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5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章节</a:t>
                      </a:r>
                    </a:p>
                  </a:txBody>
                  <a:tcPr marL="152400" marR="114300" marT="76200" marB="762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exercise 内容</a:t>
                      </a:r>
                    </a:p>
                  </a:txBody>
                  <a:tcPr marL="152400" marR="114300" marT="76200" marB="762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checker</a:t>
                      </a:r>
                    </a:p>
                  </a:txBody>
                  <a:tcPr marL="152400" marR="114300" marT="76200" marB="76200"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ch3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sys_trace 系统调用跟踪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7/7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ch4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mmap / munmap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16/16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ch5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spawn + stride 调度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17/17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ch6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linkat / unlinkat / fstat + spawn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33/33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ch8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死锁检测：银行家算法 + 等待图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25/25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052C0B-3C61-4718-83E6-9792FEE6C237}"/>
              </a:ext>
            </a:extLst>
          </p:cNvPr>
          <p:cNvSpPr>
            <a:spLocks noGrp="1"/>
          </p:cNvSpPr>
          <p:nvPr/>
        </p:nvSpPr>
        <p:spPr>
          <a:xfrm>
            <a:off x="8858250" y="2057400"/>
            <a:ext cx="2647950" cy="3143250"/>
          </a:xfrm>
          <a:prstGeom prst="roundRect">
            <a:avLst>
              <a:gd name="adj" fmla="val 3597"/>
            </a:avLst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582A887-C611-4C88-AE14-9B7338320264}"/>
              </a:ext>
            </a:extLst>
          </p:cNvPr>
          <p:cNvSpPr>
            <a:spLocks noGrp="1"/>
          </p:cNvSpPr>
          <p:nvPr/>
        </p:nvSpPr>
        <p:spPr>
          <a:xfrm>
            <a:off x="9144000" y="2381250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8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checker 全绿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5A3125E-82AB-41BB-B7BD-109A932E672A}"/>
              </a:ext>
            </a:extLst>
          </p:cNvPr>
          <p:cNvSpPr>
            <a:spLocks noGrp="1"/>
          </p:cNvSpPr>
          <p:nvPr/>
        </p:nvSpPr>
        <p:spPr>
          <a:xfrm>
            <a:off x="9144000" y="2819400"/>
            <a:ext cx="2076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2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base 61/61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25C56F2-B060-4AC2-9064-1B9741D1BC61}"/>
              </a:ext>
            </a:extLst>
          </p:cNvPr>
          <p:cNvSpPr>
            <a:spLocks noGrp="1"/>
          </p:cNvSpPr>
          <p:nvPr/>
        </p:nvSpPr>
        <p:spPr>
          <a:xfrm>
            <a:off x="9144000" y="3390900"/>
            <a:ext cx="2076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2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exercise 98/98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71B53CE-893B-48D6-9109-CD7A4394F887}"/>
              </a:ext>
            </a:extLst>
          </p:cNvPr>
          <p:cNvSpPr>
            <a:spLocks noGrp="1"/>
          </p:cNvSpPr>
          <p:nvPr/>
        </p:nvSpPr>
        <p:spPr>
          <a:xfrm>
            <a:off x="9144000" y="4076700"/>
            <a:ext cx="20764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5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补丁可审阅</a:t>
            </a:r>
          </a:p>
          <a:p>
            <a:pPr algn="l">
              <a:lnSpc>
                <a:spcPct val="15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命令可复现</a:t>
            </a:r>
          </a:p>
          <a:p>
            <a:pPr algn="l">
              <a:lnSpc>
                <a:spcPct val="15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不贴分数</a:t>
            </a:r>
          </a:p>
        </p:txBody>
      </p:sp>
    </p:spTree>
    <p:extLst>
      <p:ext uri="{BB962C8B-B14F-4D97-AF65-F5344CB8AC3E}">
        <p14:creationId xmlns:p14="http://schemas.microsoft.com/office/powerpoint/2010/main" val="5531369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D637A0B-3819-4C92-8FED-BB12F8478F16}"/>
              </a:ext>
            </a:extLst>
          </p:cNvPr>
          <p:cNvSpPr>
            <a:spLocks noGrp="1"/>
          </p:cNvSpPr>
          <p:nvPr/>
        </p:nvSpPr>
        <p:spPr>
          <a:xfrm>
            <a:off x="533400" y="476250"/>
            <a:ext cx="57150" cy="11049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2A34CA6-DA77-4483-B36A-84207CB029FA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762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04 · 自研内核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05CFAD5-C8C3-48D1-8C38-CA3BF5E8265D}"/>
              </a:ext>
            </a:extLst>
          </p:cNvPr>
          <p:cNvSpPr>
            <a:spLocks noGrp="1"/>
          </p:cNvSpPr>
          <p:nvPr/>
        </p:nvSpPr>
        <p:spPr>
          <a:xfrm>
            <a:off x="742950" y="800100"/>
            <a:ext cx="10287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一个内核，用 feature gate 逐级长出来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5193A176-896E-4E1F-B65D-A094EA0D027D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10820400" cy="9525"/>
          </a:xfrm>
          <a:prstGeom prst="roundRect">
            <a:avLst>
              <a:gd name="adj" fmla="val 0"/>
            </a:avLst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1159AD0-0E2C-4AAE-9A1C-5A577B7A4B32}"/>
              </a:ext>
            </a:extLst>
          </p:cNvPr>
          <p:cNvSpPr>
            <a:spLocks noGrp="1"/>
          </p:cNvSpPr>
          <p:nvPr/>
        </p:nvSpPr>
        <p:spPr>
          <a:xfrm>
            <a:off x="685800" y="65151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EVOLVE</a:t>
            </a:r>
            <a:endParaRPr lang="en-US" sz="1050" b="0">
              <a:solidFill>
                <a:srgbClr val="94A3B8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endParaRPr sz="1050" b="0">
              <a:solidFill>
                <a:srgbClr val="94A3B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69A3033-82BF-40D1-9394-2208A857860D}"/>
              </a:ext>
            </a:extLst>
          </p:cNvPr>
          <p:cNvSpPr>
            <a:spLocks noGrp="1"/>
          </p:cNvSpPr>
          <p:nvPr/>
        </p:nvSpPr>
        <p:spPr>
          <a:xfrm>
            <a:off x="10287000" y="651510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06 / 22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CBFAC40-4C23-44E4-928B-5D99309FBFD5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4953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不是 8 个独立内核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FAA855F-2AEB-45D6-BC04-F88310B81899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476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40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kernel 通过 Cargo feature 逐级打开能力；学生始终在同一个代码库，看到 trap、虚存、进程、文件、线程一层层长出。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E555512-00BB-4214-8557-52EAF7357233}"/>
              </a:ext>
            </a:extLst>
          </p:cNvPr>
          <p:cNvSpPr>
            <a:spLocks noGrp="1"/>
          </p:cNvSpPr>
          <p:nvPr/>
        </p:nvSpPr>
        <p:spPr>
          <a:xfrm>
            <a:off x="685800" y="3886200"/>
            <a:ext cx="4953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依赖更扁、边界更清晰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56B075B-B4CA-47F4-9BDA-4338F98C3960}"/>
              </a:ext>
            </a:extLst>
          </p:cNvPr>
          <p:cNvSpPr>
            <a:spLocks noGrp="1"/>
          </p:cNvSpPr>
          <p:nvPr/>
        </p:nvSpPr>
        <p:spPr>
          <a:xfrm>
            <a:off x="685800" y="4343400"/>
            <a:ext cx="4762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45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自研：8 个组件 crate / 2 层依赖</a:t>
            </a:r>
          </a:p>
          <a:p>
            <a:pPr algn="l">
              <a:lnSpc>
                <a:spcPct val="145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参考：23 个 crate / 4 层依赖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17A1D2E-541D-4A9B-823A-830CF189E7AF}"/>
              </a:ext>
            </a:extLst>
          </p:cNvPr>
          <p:cNvSpPr>
            <a:spLocks noGrp="1"/>
          </p:cNvSpPr>
          <p:nvPr/>
        </p:nvSpPr>
        <p:spPr>
          <a:xfrm>
            <a:off x="6096000" y="2095500"/>
            <a:ext cx="5334000" cy="3333750"/>
          </a:xfrm>
          <a:prstGeom prst="roundRect">
            <a:avLst>
              <a:gd name="adj" fmla="val 3429"/>
            </a:avLst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0FB8EAC7-DBA9-408C-8678-11CC2E92361C}"/>
              </a:ext>
            </a:extLst>
          </p:cNvPr>
          <p:cNvSpPr>
            <a:spLocks noGrp="1"/>
          </p:cNvSpPr>
          <p:nvPr/>
        </p:nvSpPr>
        <p:spPr>
          <a:xfrm>
            <a:off x="6362700" y="2381250"/>
            <a:ext cx="1047750" cy="70485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1AC99CA-34C2-40F8-A530-0D0768F6C542}"/>
              </a:ext>
            </a:extLst>
          </p:cNvPr>
          <p:cNvSpPr>
            <a:spLocks noGrp="1"/>
          </p:cNvSpPr>
          <p:nvPr/>
        </p:nvSpPr>
        <p:spPr>
          <a:xfrm>
            <a:off x="6362700" y="2514600"/>
            <a:ext cx="104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lnSpc>
                <a:spcPct val="125000"/>
              </a:lnSpc>
              <a:buNone/>
              <a:defRPr sz="14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Lab1-2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160DE48-2556-4170-816B-0D2D53E0F7E4}"/>
              </a:ext>
            </a:extLst>
          </p:cNvPr>
          <p:cNvSpPr>
            <a:spLocks noGrp="1"/>
          </p:cNvSpPr>
          <p:nvPr/>
        </p:nvSpPr>
        <p:spPr>
          <a:xfrm>
            <a:off x="6362700" y="2781300"/>
            <a:ext cx="1047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lnSpc>
                <a:spcPct val="125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基础机制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B82A054-C982-4A29-AC4C-F9458FB7BE4E}"/>
              </a:ext>
            </a:extLst>
          </p:cNvPr>
          <p:cNvSpPr>
            <a:spLocks noGrp="1"/>
          </p:cNvSpPr>
          <p:nvPr/>
        </p:nvSpPr>
        <p:spPr>
          <a:xfrm>
            <a:off x="7353300" y="2514600"/>
            <a:ext cx="323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2261AB5-82B6-4FF3-B142-D078F9FE0A9E}"/>
              </a:ext>
            </a:extLst>
          </p:cNvPr>
          <p:cNvSpPr>
            <a:spLocks noGrp="1"/>
          </p:cNvSpPr>
          <p:nvPr/>
        </p:nvSpPr>
        <p:spPr>
          <a:xfrm>
            <a:off x="7620000" y="2381250"/>
            <a:ext cx="1047750" cy="70485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A4818DB-8D3D-41BB-A98D-F6FC38B95275}"/>
              </a:ext>
            </a:extLst>
          </p:cNvPr>
          <p:cNvSpPr>
            <a:spLocks noGrp="1"/>
          </p:cNvSpPr>
          <p:nvPr/>
        </p:nvSpPr>
        <p:spPr>
          <a:xfrm>
            <a:off x="7620000" y="2514600"/>
            <a:ext cx="104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lnSpc>
                <a:spcPct val="125000"/>
              </a:lnSpc>
              <a:buNone/>
              <a:defRPr sz="14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Lab3-4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31DB475-100F-4298-A81F-AE3CE7A43938}"/>
              </a:ext>
            </a:extLst>
          </p:cNvPr>
          <p:cNvSpPr>
            <a:spLocks noGrp="1"/>
          </p:cNvSpPr>
          <p:nvPr/>
        </p:nvSpPr>
        <p:spPr>
          <a:xfrm>
            <a:off x="7620000" y="2781300"/>
            <a:ext cx="1047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lnSpc>
                <a:spcPct val="125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虚拟化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1E1A475-C51F-493C-9E8A-6E8246121D74}"/>
              </a:ext>
            </a:extLst>
          </p:cNvPr>
          <p:cNvSpPr>
            <a:spLocks noGrp="1"/>
          </p:cNvSpPr>
          <p:nvPr/>
        </p:nvSpPr>
        <p:spPr>
          <a:xfrm>
            <a:off x="8610600" y="2514600"/>
            <a:ext cx="323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1918DAC-68C3-4D74-BF20-E02B1A2A4FFF}"/>
              </a:ext>
            </a:extLst>
          </p:cNvPr>
          <p:cNvSpPr>
            <a:spLocks noGrp="1"/>
          </p:cNvSpPr>
          <p:nvPr/>
        </p:nvSpPr>
        <p:spPr>
          <a:xfrm>
            <a:off x="8877300" y="2381250"/>
            <a:ext cx="1047750" cy="70485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CA4BBC8-3CE7-4F62-8143-4D30F4CA5166}"/>
              </a:ext>
            </a:extLst>
          </p:cNvPr>
          <p:cNvSpPr>
            <a:spLocks noGrp="1"/>
          </p:cNvSpPr>
          <p:nvPr/>
        </p:nvSpPr>
        <p:spPr>
          <a:xfrm>
            <a:off x="8877300" y="2514600"/>
            <a:ext cx="104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lnSpc>
                <a:spcPct val="125000"/>
              </a:lnSpc>
              <a:buNone/>
              <a:defRPr sz="14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Lab5-6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E82D9E8-C222-438A-B64E-2A1CDAEAB57F}"/>
              </a:ext>
            </a:extLst>
          </p:cNvPr>
          <p:cNvSpPr>
            <a:spLocks noGrp="1"/>
          </p:cNvSpPr>
          <p:nvPr/>
        </p:nvSpPr>
        <p:spPr>
          <a:xfrm>
            <a:off x="8877300" y="2781300"/>
            <a:ext cx="1047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lnSpc>
                <a:spcPct val="125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持久化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36045BD-A71E-4237-8A5F-B57C8105D787}"/>
              </a:ext>
            </a:extLst>
          </p:cNvPr>
          <p:cNvSpPr>
            <a:spLocks noGrp="1"/>
          </p:cNvSpPr>
          <p:nvPr/>
        </p:nvSpPr>
        <p:spPr>
          <a:xfrm>
            <a:off x="9867900" y="2514600"/>
            <a:ext cx="323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D66C781-0715-4E7D-82C4-7BA6B65C5AD0}"/>
              </a:ext>
            </a:extLst>
          </p:cNvPr>
          <p:cNvSpPr>
            <a:spLocks noGrp="1"/>
          </p:cNvSpPr>
          <p:nvPr/>
        </p:nvSpPr>
        <p:spPr>
          <a:xfrm>
            <a:off x="10134600" y="2381250"/>
            <a:ext cx="1047750" cy="70485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9F60F1E-BF71-402C-B978-E5B013124957}"/>
              </a:ext>
            </a:extLst>
          </p:cNvPr>
          <p:cNvSpPr>
            <a:spLocks noGrp="1"/>
          </p:cNvSpPr>
          <p:nvPr/>
        </p:nvSpPr>
        <p:spPr>
          <a:xfrm>
            <a:off x="10134600" y="2514600"/>
            <a:ext cx="104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lnSpc>
                <a:spcPct val="125000"/>
              </a:lnSpc>
              <a:buNone/>
              <a:defRPr sz="14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Lab7-8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B62A6F9-44FC-42B8-BEE0-01C341342F0D}"/>
              </a:ext>
            </a:extLst>
          </p:cNvPr>
          <p:cNvSpPr>
            <a:spLocks noGrp="1"/>
          </p:cNvSpPr>
          <p:nvPr/>
        </p:nvSpPr>
        <p:spPr>
          <a:xfrm>
            <a:off x="10134600" y="2781300"/>
            <a:ext cx="1047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lnSpc>
                <a:spcPct val="125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并发与 IPC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F1E0E84-5A9A-4517-B56F-1E1336089DA1}"/>
              </a:ext>
            </a:extLst>
          </p:cNvPr>
          <p:cNvSpPr>
            <a:spLocks noGrp="1"/>
          </p:cNvSpPr>
          <p:nvPr/>
        </p:nvSpPr>
        <p:spPr>
          <a:xfrm>
            <a:off x="6362700" y="339090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Cargo feature 依赖链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DB73298D-CD14-4500-9F5B-7C958C53A88F}"/>
              </a:ext>
            </a:extLst>
          </p:cNvPr>
          <p:cNvSpPr>
            <a:spLocks noGrp="1"/>
          </p:cNvSpPr>
          <p:nvPr/>
        </p:nvSpPr>
        <p:spPr>
          <a:xfrm>
            <a:off x="6362700" y="3733800"/>
            <a:ext cx="4800600" cy="12954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F9D2CF3-8ADC-4D03-930B-B918FCB857E1}"/>
              </a:ext>
            </a:extLst>
          </p:cNvPr>
          <p:cNvSpPr>
            <a:spLocks noGrp="1"/>
          </p:cNvSpPr>
          <p:nvPr/>
        </p:nvSpPr>
        <p:spPr>
          <a:xfrm>
            <a:off x="6572250" y="3905250"/>
            <a:ext cx="4381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50000"/>
              </a:lnSpc>
              <a:buNone/>
              <a:defRPr sz="1425" b="0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default = ["lab1"]</a:t>
            </a:r>
          </a:p>
          <a:p>
            <a:pPr algn="l">
              <a:lnSpc>
                <a:spcPct val="150000"/>
              </a:lnSpc>
              <a:buNone/>
              <a:defRPr sz="1425" b="0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lab2 = ["lab1", "dep:os-context"]</a:t>
            </a:r>
          </a:p>
          <a:p>
            <a:pPr algn="l">
              <a:lnSpc>
                <a:spcPct val="150000"/>
              </a:lnSpc>
              <a:buNone/>
              <a:defRPr sz="1425" b="0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lab8 = ["lab7", "dep:os-sync"]</a:t>
            </a:r>
          </a:p>
        </p:txBody>
      </p:sp>
    </p:spTree>
    <p:extLst>
      <p:ext uri="{BB962C8B-B14F-4D97-AF65-F5344CB8AC3E}">
        <p14:creationId xmlns:p14="http://schemas.microsoft.com/office/powerpoint/2010/main" val="16848922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19375619-C178-48AB-B976-3D3B6B539BE1}"/>
              </a:ext>
            </a:extLst>
          </p:cNvPr>
          <p:cNvSpPr>
            <a:spLocks noGrp="1"/>
          </p:cNvSpPr>
          <p:nvPr/>
        </p:nvSpPr>
        <p:spPr>
          <a:xfrm>
            <a:off x="533400" y="476250"/>
            <a:ext cx="57150" cy="11049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92BC22E-97E9-44C6-B2B0-536B8DE11665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762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04 · 自研内核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0597D0F-769E-423A-A36D-1050C6B367F4}"/>
              </a:ext>
            </a:extLst>
          </p:cNvPr>
          <p:cNvSpPr>
            <a:spLocks noGrp="1"/>
          </p:cNvSpPr>
          <p:nvPr/>
        </p:nvSpPr>
        <p:spPr>
          <a:xfrm>
            <a:off x="742950" y="800100"/>
            <a:ext cx="10287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kernel 只做集成，组件可独立测试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44EF444-2B1A-4F85-8E57-87AAB7AC3C2F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10820400" cy="9525"/>
          </a:xfrm>
          <a:prstGeom prst="roundRect">
            <a:avLst>
              <a:gd name="adj" fmla="val 0"/>
            </a:avLst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4B7209C-3B1A-4E7A-8174-230FABB6DBEA}"/>
              </a:ext>
            </a:extLst>
          </p:cNvPr>
          <p:cNvSpPr>
            <a:spLocks noGrp="1"/>
          </p:cNvSpPr>
          <p:nvPr/>
        </p:nvSpPr>
        <p:spPr>
          <a:xfrm>
            <a:off x="685800" y="65151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EVOLVE 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6C7A1AF-D671-48EA-94F1-07A4C756B3E8}"/>
              </a:ext>
            </a:extLst>
          </p:cNvPr>
          <p:cNvSpPr>
            <a:spLocks noGrp="1"/>
          </p:cNvSpPr>
          <p:nvPr/>
        </p:nvSpPr>
        <p:spPr>
          <a:xfrm>
            <a:off x="10287000" y="651510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07 / 22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87CC7B57-893B-4FEA-8012-D4722EEB9E6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3429000" cy="2476500"/>
          </a:xfrm>
          <a:prstGeom prst="roundRect">
            <a:avLst>
              <a:gd name="adj" fmla="val 3846"/>
            </a:avLst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C46E25B-5206-466D-80E8-3DFE1C0E9365}"/>
              </a:ext>
            </a:extLst>
          </p:cNvPr>
          <p:cNvSpPr>
            <a:spLocks noGrp="1"/>
          </p:cNvSpPr>
          <p:nvPr/>
        </p:nvSpPr>
        <p:spPr>
          <a:xfrm>
            <a:off x="952500" y="2324100"/>
            <a:ext cx="285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kernel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3585618-1655-4A07-95BB-C0D90DEECD12}"/>
              </a:ext>
            </a:extLst>
          </p:cNvPr>
          <p:cNvSpPr>
            <a:spLocks noGrp="1"/>
          </p:cNvSpPr>
          <p:nvPr/>
        </p:nvSpPr>
        <p:spPr>
          <a:xfrm>
            <a:off x="952500" y="2857500"/>
            <a:ext cx="29146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45000"/>
              </a:lnSpc>
              <a:buNone/>
              <a:defRPr sz="1500" b="0">
                <a:solidFill>
                  <a:srgbClr val="E2E8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E2E8F0"/>
                </a:solidFill>
                <a:latin typeface="Microsoft YaHei"/>
                <a:ea typeface="Microsoft YaHei"/>
                <a:cs typeface="Microsoft YaHei"/>
              </a:rPr>
              <a:t>集成与策略</a:t>
            </a:r>
          </a:p>
          <a:p>
            <a:pPr algn="l">
              <a:lnSpc>
                <a:spcPct val="145000"/>
              </a:lnSpc>
              <a:buNone/>
              <a:defRPr sz="1500" b="0">
                <a:solidFill>
                  <a:srgbClr val="E2E8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E2E8F0"/>
                </a:solidFill>
                <a:latin typeface="Microsoft YaHei"/>
                <a:ea typeface="Microsoft YaHei"/>
                <a:cs typeface="Microsoft YaHei"/>
              </a:rPr>
              <a:t>feature gate、调度、进程、fd 表、syscall 分发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F8E67DE-F9BA-4DF4-B31C-ECD6B700AF67}"/>
              </a:ext>
            </a:extLst>
          </p:cNvPr>
          <p:cNvSpPr>
            <a:spLocks noGrp="1"/>
          </p:cNvSpPr>
          <p:nvPr/>
        </p:nvSpPr>
        <p:spPr>
          <a:xfrm>
            <a:off x="4381500" y="2057400"/>
            <a:ext cx="2095500" cy="514350"/>
          </a:xfrm>
          <a:prstGeom prst="roundRect">
            <a:avLst>
              <a:gd name="adj" fmla="val 14815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7C9A426-A6A0-4655-8A8B-C6366834CF5D}"/>
              </a:ext>
            </a:extLst>
          </p:cNvPr>
          <p:cNvSpPr>
            <a:spLocks noGrp="1"/>
          </p:cNvSpPr>
          <p:nvPr/>
        </p:nvSpPr>
        <p:spPr>
          <a:xfrm>
            <a:off x="4381500" y="2057400"/>
            <a:ext cx="2095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os-sbi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2B38FB21-23D6-4027-A6D8-1EBB1DA8C92B}"/>
              </a:ext>
            </a:extLst>
          </p:cNvPr>
          <p:cNvSpPr>
            <a:spLocks noGrp="1"/>
          </p:cNvSpPr>
          <p:nvPr/>
        </p:nvSpPr>
        <p:spPr>
          <a:xfrm>
            <a:off x="6629400" y="2057400"/>
            <a:ext cx="2095500" cy="514350"/>
          </a:xfrm>
          <a:prstGeom prst="roundRect">
            <a:avLst>
              <a:gd name="adj" fmla="val 14815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4696080-3182-4B4F-A299-7F1AFA3E11A5}"/>
              </a:ext>
            </a:extLst>
          </p:cNvPr>
          <p:cNvSpPr>
            <a:spLocks noGrp="1"/>
          </p:cNvSpPr>
          <p:nvPr/>
        </p:nvSpPr>
        <p:spPr>
          <a:xfrm>
            <a:off x="6629400" y="2057400"/>
            <a:ext cx="2095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os-context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FBBB7558-FB5D-48C5-9DAF-DAFE57637672}"/>
              </a:ext>
            </a:extLst>
          </p:cNvPr>
          <p:cNvSpPr>
            <a:spLocks noGrp="1"/>
          </p:cNvSpPr>
          <p:nvPr/>
        </p:nvSpPr>
        <p:spPr>
          <a:xfrm>
            <a:off x="4381500" y="2686050"/>
            <a:ext cx="2095500" cy="514350"/>
          </a:xfrm>
          <a:prstGeom prst="roundRect">
            <a:avLst>
              <a:gd name="adj" fmla="val 14815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74E5385-867A-45C7-AADF-992C5B52FBDF}"/>
              </a:ext>
            </a:extLst>
          </p:cNvPr>
          <p:cNvSpPr>
            <a:spLocks noGrp="1"/>
          </p:cNvSpPr>
          <p:nvPr/>
        </p:nvSpPr>
        <p:spPr>
          <a:xfrm>
            <a:off x="4381500" y="2686050"/>
            <a:ext cx="2095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os-syscall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BB512191-7C9A-416B-8AFD-3DF9749EEFF2}"/>
              </a:ext>
            </a:extLst>
          </p:cNvPr>
          <p:cNvSpPr>
            <a:spLocks noGrp="1"/>
          </p:cNvSpPr>
          <p:nvPr/>
        </p:nvSpPr>
        <p:spPr>
          <a:xfrm>
            <a:off x="6629400" y="2686050"/>
            <a:ext cx="2095500" cy="514350"/>
          </a:xfrm>
          <a:prstGeom prst="roundRect">
            <a:avLst>
              <a:gd name="adj" fmla="val 14815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859935A-2026-4868-9D38-E7112176CE76}"/>
              </a:ext>
            </a:extLst>
          </p:cNvPr>
          <p:cNvSpPr>
            <a:spLocks noGrp="1"/>
          </p:cNvSpPr>
          <p:nvPr/>
        </p:nvSpPr>
        <p:spPr>
          <a:xfrm>
            <a:off x="6629400" y="2686050"/>
            <a:ext cx="2095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os-alloc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BD2F2112-3940-4102-956C-9406FC385605}"/>
              </a:ext>
            </a:extLst>
          </p:cNvPr>
          <p:cNvSpPr>
            <a:spLocks noGrp="1"/>
          </p:cNvSpPr>
          <p:nvPr/>
        </p:nvSpPr>
        <p:spPr>
          <a:xfrm>
            <a:off x="4381500" y="3314700"/>
            <a:ext cx="2095500" cy="514350"/>
          </a:xfrm>
          <a:prstGeom prst="roundRect">
            <a:avLst>
              <a:gd name="adj" fmla="val 14815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82F57C4-E95F-4594-AF4D-BBF5BF36A5B2}"/>
              </a:ext>
            </a:extLst>
          </p:cNvPr>
          <p:cNvSpPr>
            <a:spLocks noGrp="1"/>
          </p:cNvSpPr>
          <p:nvPr/>
        </p:nvSpPr>
        <p:spPr>
          <a:xfrm>
            <a:off x="4381500" y="3314700"/>
            <a:ext cx="2095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os-vm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06ED69CF-EAC4-47D2-B6D3-E6FFD513EE2D}"/>
              </a:ext>
            </a:extLst>
          </p:cNvPr>
          <p:cNvSpPr>
            <a:spLocks noGrp="1"/>
          </p:cNvSpPr>
          <p:nvPr/>
        </p:nvSpPr>
        <p:spPr>
          <a:xfrm>
            <a:off x="6629400" y="3314700"/>
            <a:ext cx="2095500" cy="514350"/>
          </a:xfrm>
          <a:prstGeom prst="roundRect">
            <a:avLst>
              <a:gd name="adj" fmla="val 14815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775F745-1454-415C-8961-D6DDF5E44D3F}"/>
              </a:ext>
            </a:extLst>
          </p:cNvPr>
          <p:cNvSpPr>
            <a:spLocks noGrp="1"/>
          </p:cNvSpPr>
          <p:nvPr/>
        </p:nvSpPr>
        <p:spPr>
          <a:xfrm>
            <a:off x="6629400" y="3314700"/>
            <a:ext cx="2095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os-fs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2314C467-240F-4681-AA5D-817C31213ED9}"/>
              </a:ext>
            </a:extLst>
          </p:cNvPr>
          <p:cNvSpPr>
            <a:spLocks noGrp="1"/>
          </p:cNvSpPr>
          <p:nvPr/>
        </p:nvSpPr>
        <p:spPr>
          <a:xfrm>
            <a:off x="4381500" y="3943350"/>
            <a:ext cx="2095500" cy="514350"/>
          </a:xfrm>
          <a:prstGeom prst="roundRect">
            <a:avLst>
              <a:gd name="adj" fmla="val 14815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38B84D6-6443-4EF0-915C-3D7D82A94494}"/>
              </a:ext>
            </a:extLst>
          </p:cNvPr>
          <p:cNvSpPr>
            <a:spLocks noGrp="1"/>
          </p:cNvSpPr>
          <p:nvPr/>
        </p:nvSpPr>
        <p:spPr>
          <a:xfrm>
            <a:off x="4381500" y="3943350"/>
            <a:ext cx="2095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os-signal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8AFC029A-5E7F-4860-BFF3-1185B74E45D3}"/>
              </a:ext>
            </a:extLst>
          </p:cNvPr>
          <p:cNvSpPr>
            <a:spLocks noGrp="1"/>
          </p:cNvSpPr>
          <p:nvPr/>
        </p:nvSpPr>
        <p:spPr>
          <a:xfrm>
            <a:off x="6629400" y="3943350"/>
            <a:ext cx="2095500" cy="514350"/>
          </a:xfrm>
          <a:prstGeom prst="roundRect">
            <a:avLst>
              <a:gd name="adj" fmla="val 14815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CB58D8D-2209-476B-B436-55F0A9067E78}"/>
              </a:ext>
            </a:extLst>
          </p:cNvPr>
          <p:cNvSpPr>
            <a:spLocks noGrp="1"/>
          </p:cNvSpPr>
          <p:nvPr/>
        </p:nvSpPr>
        <p:spPr>
          <a:xfrm>
            <a:off x="6629400" y="3943350"/>
            <a:ext cx="2095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os-sync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BE20A234-79B3-4A35-A1E9-80458398BE57}"/>
              </a:ext>
            </a:extLst>
          </p:cNvPr>
          <p:cNvSpPr>
            <a:spLocks noGrp="1"/>
          </p:cNvSpPr>
          <p:nvPr/>
        </p:nvSpPr>
        <p:spPr>
          <a:xfrm>
            <a:off x="8991600" y="2057400"/>
            <a:ext cx="2514600" cy="2476500"/>
          </a:xfrm>
          <a:prstGeom prst="roundRect">
            <a:avLst>
              <a:gd name="adj" fmla="val 384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A116954-5745-44B8-B48E-C81747A73D84}"/>
              </a:ext>
            </a:extLst>
          </p:cNvPr>
          <p:cNvSpPr>
            <a:spLocks noGrp="1"/>
          </p:cNvSpPr>
          <p:nvPr/>
        </p:nvSpPr>
        <p:spPr>
          <a:xfrm>
            <a:off x="9239250" y="2324100"/>
            <a:ext cx="2019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user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EBFA365-C0F5-435B-BD96-4CB06ED51B0A}"/>
              </a:ext>
            </a:extLst>
          </p:cNvPr>
          <p:cNvSpPr>
            <a:spLocks noGrp="1"/>
          </p:cNvSpPr>
          <p:nvPr/>
        </p:nvSpPr>
        <p:spPr>
          <a:xfrm>
            <a:off x="9239250" y="2857500"/>
            <a:ext cx="2019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4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用户态测试程序</a:t>
            </a:r>
          </a:p>
          <a:p>
            <a:pPr algn="l">
              <a:lnSpc>
                <a:spcPct val="14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反向验证内核行为，形成 QEMU 自证。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F2C0D00-A7AF-460E-8D38-01A59153DFF9}"/>
              </a:ext>
            </a:extLst>
          </p:cNvPr>
          <p:cNvSpPr>
            <a:spLocks noGrp="1"/>
          </p:cNvSpPr>
          <p:nvPr/>
        </p:nvSpPr>
        <p:spPr>
          <a:xfrm>
            <a:off x="685800" y="49149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40000"/>
              </a:lnSpc>
              <a:buNone/>
              <a:defRPr sz="1575" b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组件提供 #[cfg(test)] host 单元测试；内核通过 QEMU 跑用户程序自证；平台再用可信 recipe 与 Trace 提供可审计证据。</a:t>
            </a:r>
          </a:p>
        </p:txBody>
      </p:sp>
    </p:spTree>
    <p:extLst>
      <p:ext uri="{BB962C8B-B14F-4D97-AF65-F5344CB8AC3E}">
        <p14:creationId xmlns:p14="http://schemas.microsoft.com/office/powerpoint/2010/main" val="18736878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: 圆角 8">
            <a:extLst>
              <a:ext uri="{FF2B5EF4-FFF2-40B4-BE49-F238E27FC236}">
                <a16:creationId xmlns:a16="http://schemas.microsoft.com/office/drawing/2014/main" id="{D8C181BC-30A2-4414-85B3-CE3F0D354B03}"/>
              </a:ext>
            </a:extLst>
          </p:cNvPr>
          <p:cNvSpPr>
            <a:spLocks noGrp="1"/>
          </p:cNvSpPr>
          <p:nvPr/>
        </p:nvSpPr>
        <p:spPr>
          <a:xfrm>
            <a:off x="533400" y="476250"/>
            <a:ext cx="57150" cy="11049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64A3025-BF3F-4A17-80B6-08E2C0D01C69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762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04 · 自研内核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8F66E1F-D728-4746-8C21-4DE262355250}"/>
              </a:ext>
            </a:extLst>
          </p:cNvPr>
          <p:cNvSpPr>
            <a:spLocks noGrp="1"/>
          </p:cNvSpPr>
          <p:nvPr/>
        </p:nvSpPr>
        <p:spPr>
          <a:xfrm>
            <a:off x="742950" y="800100"/>
            <a:ext cx="10287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Lab1-8：一条线覆盖 OS 三大主题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56E3057-23A2-4904-B079-92FE2F4726B8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10820400" cy="9525"/>
          </a:xfrm>
          <a:prstGeom prst="roundRect">
            <a:avLst>
              <a:gd name="adj" fmla="val 0"/>
            </a:avLst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0CE4A9D-05F9-4219-BD75-1497246CBCA0}"/>
              </a:ext>
            </a:extLst>
          </p:cNvPr>
          <p:cNvSpPr>
            <a:spLocks noGrp="1"/>
          </p:cNvSpPr>
          <p:nvPr/>
        </p:nvSpPr>
        <p:spPr>
          <a:xfrm>
            <a:off x="685800" y="65151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EVOLVE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69C859-CAD6-4A5E-8472-7DB3B118888F}"/>
              </a:ext>
            </a:extLst>
          </p:cNvPr>
          <p:cNvSpPr>
            <a:spLocks noGrp="1"/>
          </p:cNvSpPr>
          <p:nvPr/>
        </p:nvSpPr>
        <p:spPr>
          <a:xfrm>
            <a:off x="10287000" y="651510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08 / 22</a:t>
            </a:r>
          </a:p>
        </p:txBody>
      </p:sp>
      <p:graphicFrame>
        <p:nvGraphicFramePr>
          <p:cNvPr id="15" name="表格 14"/>
          <p:cNvGraphicFramePr/>
          <p:nvPr/>
        </p:nvGraphicFramePr>
        <p:xfrm>
          <a:off x="685800" y="2038350"/>
          <a:ext cx="10820400" cy="4095747"/>
        </p:xfrm>
        <a:graphic>
          <a:graphicData uri="http://schemas.openxmlformats.org/drawingml/2006/table">
            <a:tbl>
              <a:tblPr/>
              <a:tblGrid>
                <a:gridCol w="1428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34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5083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Lab</a:t>
                      </a:r>
                    </a:p>
                  </a:txBody>
                  <a:tcPr marL="152400" marR="114300" marT="76200" marB="762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主题</a:t>
                      </a:r>
                    </a:p>
                  </a:txBody>
                  <a:tcPr marL="152400" marR="114300" marT="76200" marB="762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核心机制</a:t>
                      </a:r>
                    </a:p>
                  </a:txBody>
                  <a:tcPr marL="152400" marR="114300" marT="76200" marB="76200"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08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Lab1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裸机启动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RISC-V 启动、SBI、链接脚本、no_std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08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Lab2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trap 与多任务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trap 入口、上下文切换、syscall、协作调度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508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Lab3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内存管理与虚存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物理页、Sv39 页表、地址空间、ELF 映射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508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Lab4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进程管理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PCB、fork/exec/wait、进程树、僵尸回收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508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Lab5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文件系统与并发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fd 表、内嵌文件、管道、自旋锁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508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Lab6</a:t>
                      </a:r>
                    </a:p>
                  </a:txBody>
                  <a:tcPr marL="152400" marR="114300" marT="76200" marB="76200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磁盘文件系统</a:t>
                      </a:r>
                    </a:p>
                  </a:txBody>
                  <a:tcPr marL="152400" marR="114300" marT="76200" marB="76200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VirtIO、easy-fs、linkat/unlinkat/fstat、spawn</a:t>
                      </a:r>
                    </a:p>
                  </a:txBody>
                  <a:tcPr marL="152400" marR="114300" marT="76200" marB="76200" anchor="ctr"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508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Lab7</a:t>
                      </a:r>
                    </a:p>
                  </a:txBody>
                  <a:tcPr marL="152400" marR="114300" marT="76200" marB="76200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IPC 与信号</a:t>
                      </a:r>
                    </a:p>
                  </a:txBody>
                  <a:tcPr marL="152400" marR="114300" marT="76200" marB="76200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统一 fd、dup、kill/sigaction/sigprocmask/sigreturn</a:t>
                      </a:r>
                    </a:p>
                  </a:txBody>
                  <a:tcPr marL="152400" marR="114300" marT="76200" marB="76200" anchor="ctr"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508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Lab8</a:t>
                      </a:r>
                    </a:p>
                  </a:txBody>
                  <a:tcPr marL="152400" marR="114300" marT="76200" marB="76200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线程与同步</a:t>
                      </a:r>
                    </a:p>
                  </a:txBody>
                  <a:tcPr marL="152400" marR="114300" marT="76200" marB="76200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线程、阻塞 mutex/semaphore/condvar、死锁检测</a:t>
                      </a:r>
                    </a:p>
                  </a:txBody>
                  <a:tcPr marL="152400" marR="114300" marT="76200" marB="76200" anchor="ctr"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矩形 7">
            <a:extLst>
              <a:ext uri="{FF2B5EF4-FFF2-40B4-BE49-F238E27FC236}">
                <a16:creationId xmlns:a16="http://schemas.microsoft.com/office/drawing/2014/main" id="{DF3582AA-8916-4CE5-B26A-6A5519C70E65}"/>
              </a:ext>
            </a:extLst>
          </p:cNvPr>
          <p:cNvSpPr>
            <a:spLocks noGrp="1"/>
          </p:cNvSpPr>
          <p:nvPr/>
        </p:nvSpPr>
        <p:spPr>
          <a:xfrm>
            <a:off x="685800" y="6229350"/>
            <a:ext cx="10820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lnSpc>
                <a:spcPct val="125000"/>
              </a:lnSpc>
              <a:buNone/>
              <a:def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基础机制 Lab1-2 · 虚拟化 Lab3-4 · 并发 Lab5/8 · 持久化 Lab5/6 · IPC Lab7</a:t>
            </a:r>
          </a:p>
        </p:txBody>
      </p:sp>
    </p:spTree>
    <p:extLst>
      <p:ext uri="{BB962C8B-B14F-4D97-AF65-F5344CB8AC3E}">
        <p14:creationId xmlns:p14="http://schemas.microsoft.com/office/powerpoint/2010/main" val="1221273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E9548E96-5C89-43F9-8BB8-BA896B389C33}"/>
              </a:ext>
            </a:extLst>
          </p:cNvPr>
          <p:cNvSpPr>
            <a:spLocks noGrp="1"/>
          </p:cNvSpPr>
          <p:nvPr/>
        </p:nvSpPr>
        <p:spPr>
          <a:xfrm>
            <a:off x="533400" y="476250"/>
            <a:ext cx="57150" cy="11049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AEEF198-E6B2-4209-81D2-1DDADBAF58A1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762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04 · 二期扩展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761D342-67E6-4B1C-B069-99D2FD60A082}"/>
              </a:ext>
            </a:extLst>
          </p:cNvPr>
          <p:cNvSpPr>
            <a:spLocks noGrp="1"/>
          </p:cNvSpPr>
          <p:nvPr/>
        </p:nvSpPr>
        <p:spPr>
          <a:xfrm>
            <a:off x="742950" y="800100"/>
            <a:ext cx="10287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补齐磁盘 FS、IPC 与线程同步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5DC3B4BD-5416-4A02-B049-465A7B18C59C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10820400" cy="9525"/>
          </a:xfrm>
          <a:prstGeom prst="roundRect">
            <a:avLst>
              <a:gd name="adj" fmla="val 0"/>
            </a:avLst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39D3606-9310-458C-8C10-8B3FAC2BF531}"/>
              </a:ext>
            </a:extLst>
          </p:cNvPr>
          <p:cNvSpPr>
            <a:spLocks noGrp="1"/>
          </p:cNvSpPr>
          <p:nvPr/>
        </p:nvSpPr>
        <p:spPr>
          <a:xfrm>
            <a:off x="685800" y="65151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EVOLVE 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1795C0E-7471-4C1F-A42F-D806E8309EEA}"/>
              </a:ext>
            </a:extLst>
          </p:cNvPr>
          <p:cNvSpPr>
            <a:spLocks noGrp="1"/>
          </p:cNvSpPr>
          <p:nvPr/>
        </p:nvSpPr>
        <p:spPr>
          <a:xfrm>
            <a:off x="10287000" y="651510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09 / 22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7BB7ADD0-0416-4517-8E08-1D2E3DA7E43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3333750" cy="2857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1D1DA682-D0B8-4648-A35C-F5091A48370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3333750" cy="57150"/>
          </a:xfrm>
          <a:prstGeom prst="roundRect">
            <a:avLst>
              <a:gd name="adj" fmla="val 0"/>
            </a:avLst>
          </a:prstGeom>
          <a:solidFill>
            <a:srgbClr val="05966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7FF3F07-A7F3-4091-B26F-E9AB7D1CA6B1}"/>
              </a:ext>
            </a:extLst>
          </p:cNvPr>
          <p:cNvSpPr>
            <a:spLocks noGrp="1"/>
          </p:cNvSpPr>
          <p:nvPr/>
        </p:nvSpPr>
        <p:spPr>
          <a:xfrm>
            <a:off x="933450" y="2381250"/>
            <a:ext cx="285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8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Lab6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7581E20-EDD1-40B8-B140-E64B14C48874}"/>
              </a:ext>
            </a:extLst>
          </p:cNvPr>
          <p:cNvSpPr>
            <a:spLocks noGrp="1"/>
          </p:cNvSpPr>
          <p:nvPr/>
        </p:nvSpPr>
        <p:spPr>
          <a:xfrm>
            <a:off x="933450" y="2762250"/>
            <a:ext cx="2857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磁盘文件系统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7B5B36F-C4CF-4BF0-AB63-93B6A064403E}"/>
              </a:ext>
            </a:extLst>
          </p:cNvPr>
          <p:cNvSpPr>
            <a:spLocks noGrp="1"/>
          </p:cNvSpPr>
          <p:nvPr/>
        </p:nvSpPr>
        <p:spPr>
          <a:xfrm>
            <a:off x="933450" y="3276600"/>
            <a:ext cx="285750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4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VirtIO 块设备、easy-fs</a:t>
            </a:r>
          </a:p>
          <a:p>
            <a:pPr algn="l">
              <a:lnSpc>
                <a:spcPct val="14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硬链接、fstat</a:t>
            </a:r>
          </a:p>
          <a:p>
            <a:pPr algn="l">
              <a:lnSpc>
                <a:spcPct val="14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从磁盘加载 spawn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51A255F-D3CD-449E-ACA5-BCB880545957}"/>
              </a:ext>
            </a:extLst>
          </p:cNvPr>
          <p:cNvSpPr>
            <a:spLocks noGrp="1"/>
          </p:cNvSpPr>
          <p:nvPr/>
        </p:nvSpPr>
        <p:spPr>
          <a:xfrm>
            <a:off x="4305300" y="2057400"/>
            <a:ext cx="3333750" cy="2857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F71F168-C59F-4559-8D77-29ECCDF6B209}"/>
              </a:ext>
            </a:extLst>
          </p:cNvPr>
          <p:cNvSpPr>
            <a:spLocks noGrp="1"/>
          </p:cNvSpPr>
          <p:nvPr/>
        </p:nvSpPr>
        <p:spPr>
          <a:xfrm>
            <a:off x="4305300" y="2057400"/>
            <a:ext cx="3333750" cy="57150"/>
          </a:xfrm>
          <a:prstGeom prst="roundRect">
            <a:avLst>
              <a:gd name="adj" fmla="val 0"/>
            </a:avLst>
          </a:prstGeom>
          <a:solidFill>
            <a:srgbClr val="0284C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F947FDF-5A7D-4519-9F06-6AA801332E7F}"/>
              </a:ext>
            </a:extLst>
          </p:cNvPr>
          <p:cNvSpPr>
            <a:spLocks noGrp="1"/>
          </p:cNvSpPr>
          <p:nvPr/>
        </p:nvSpPr>
        <p:spPr>
          <a:xfrm>
            <a:off x="4552950" y="2381250"/>
            <a:ext cx="285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8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Lab7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697518E-0C29-4B5A-8D69-949793A843AB}"/>
              </a:ext>
            </a:extLst>
          </p:cNvPr>
          <p:cNvSpPr>
            <a:spLocks noGrp="1"/>
          </p:cNvSpPr>
          <p:nvPr/>
        </p:nvSpPr>
        <p:spPr>
          <a:xfrm>
            <a:off x="4552950" y="2762250"/>
            <a:ext cx="2857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IPC 与信号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CE933D7-47CA-49CA-A885-4A470CA5AE06}"/>
              </a:ext>
            </a:extLst>
          </p:cNvPr>
          <p:cNvSpPr>
            <a:spLocks noGrp="1"/>
          </p:cNvSpPr>
          <p:nvPr/>
        </p:nvSpPr>
        <p:spPr>
          <a:xfrm>
            <a:off x="4552950" y="3276600"/>
            <a:ext cx="285750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4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统一 fd、dup</a:t>
            </a:r>
          </a:p>
          <a:p>
            <a:pPr algn="l">
              <a:lnSpc>
                <a:spcPct val="14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kill / sigaction</a:t>
            </a:r>
          </a:p>
          <a:p>
            <a:pPr algn="l">
              <a:lnSpc>
                <a:spcPct val="14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sigprocmask / sigreturn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5BDA27F-D813-4A96-B116-B061791258C2}"/>
              </a:ext>
            </a:extLst>
          </p:cNvPr>
          <p:cNvSpPr>
            <a:spLocks noGrp="1"/>
          </p:cNvSpPr>
          <p:nvPr/>
        </p:nvSpPr>
        <p:spPr>
          <a:xfrm>
            <a:off x="7924800" y="2057400"/>
            <a:ext cx="3333750" cy="2857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C5B802C-023B-40C7-B956-7F76EE591D62}"/>
              </a:ext>
            </a:extLst>
          </p:cNvPr>
          <p:cNvSpPr>
            <a:spLocks noGrp="1"/>
          </p:cNvSpPr>
          <p:nvPr/>
        </p:nvSpPr>
        <p:spPr>
          <a:xfrm>
            <a:off x="7924800" y="2057400"/>
            <a:ext cx="3333750" cy="57150"/>
          </a:xfrm>
          <a:prstGeom prst="roundRect">
            <a:avLst>
              <a:gd name="adj" fmla="val 0"/>
            </a:avLst>
          </a:prstGeom>
          <a:solidFill>
            <a:srgbClr val="0D948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50DCF38-1DED-4A4B-BFE6-80774558B8BA}"/>
              </a:ext>
            </a:extLst>
          </p:cNvPr>
          <p:cNvSpPr>
            <a:spLocks noGrp="1"/>
          </p:cNvSpPr>
          <p:nvPr/>
        </p:nvSpPr>
        <p:spPr>
          <a:xfrm>
            <a:off x="8172450" y="2381250"/>
            <a:ext cx="285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8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Lab8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59BAC27-4F7C-4389-A64C-F7C0621CAA42}"/>
              </a:ext>
            </a:extLst>
          </p:cNvPr>
          <p:cNvSpPr>
            <a:spLocks noGrp="1"/>
          </p:cNvSpPr>
          <p:nvPr/>
        </p:nvSpPr>
        <p:spPr>
          <a:xfrm>
            <a:off x="8172450" y="2762250"/>
            <a:ext cx="2857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线程与同步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96B2EBC-2F43-4312-82F5-79FFECCD1E70}"/>
              </a:ext>
            </a:extLst>
          </p:cNvPr>
          <p:cNvSpPr>
            <a:spLocks noGrp="1"/>
          </p:cNvSpPr>
          <p:nvPr/>
        </p:nvSpPr>
        <p:spPr>
          <a:xfrm>
            <a:off x="8172450" y="3276600"/>
            <a:ext cx="285750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4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进程内线程</a:t>
            </a:r>
          </a:p>
          <a:p>
            <a:pPr algn="l">
              <a:lnSpc>
                <a:spcPct val="14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阻塞 mutex / semaphore / condvar</a:t>
            </a:r>
          </a:p>
          <a:p>
            <a:pPr algn="l">
              <a:lnSpc>
                <a:spcPct val="14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银行家式死锁检测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51D3E26-FF76-444E-B952-3D53CFB1AE5A}"/>
              </a:ext>
            </a:extLst>
          </p:cNvPr>
          <p:cNvSpPr>
            <a:spLocks noGrp="1"/>
          </p:cNvSpPr>
          <p:nvPr/>
        </p:nvSpPr>
        <p:spPr>
          <a:xfrm>
            <a:off x="685800" y="5238750"/>
            <a:ext cx="10820400" cy="838200"/>
          </a:xfrm>
          <a:prstGeom prst="roundRect">
            <a:avLst>
              <a:gd name="adj" fmla="val 1136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7853E4D-0E8A-4F3A-B914-39C63F202926}"/>
              </a:ext>
            </a:extLst>
          </p:cNvPr>
          <p:cNvSpPr>
            <a:spLocks noGrp="1"/>
          </p:cNvSpPr>
          <p:nvPr/>
        </p:nvSpPr>
        <p:spPr>
          <a:xfrm>
            <a:off x="952500" y="5238750"/>
            <a:ext cx="102870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验证：make test-lab6 / test-lab7 / test-lab8 全链回归；Lab8 的 8 条 expected 全部通过。</a:t>
            </a:r>
          </a:p>
        </p:txBody>
      </p:sp>
    </p:spTree>
    <p:extLst>
      <p:ext uri="{BB962C8B-B14F-4D97-AF65-F5344CB8AC3E}">
        <p14:creationId xmlns:p14="http://schemas.microsoft.com/office/powerpoint/2010/main" val="21150214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3DB6E489-67AA-43F0-9B03-EA3EE36454DE}"/>
              </a:ext>
            </a:extLst>
          </p:cNvPr>
          <p:cNvSpPr>
            <a:spLocks noGrp="1"/>
          </p:cNvSpPr>
          <p:nvPr/>
        </p:nvSpPr>
        <p:spPr>
          <a:xfrm>
            <a:off x="533400" y="476250"/>
            <a:ext cx="57150" cy="11049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E3D889E-AA7E-49EF-BDBB-D9E5980EF7BC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762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05 · 学习平台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D07498B-BAAB-44F5-B887-23A6DADC47B4}"/>
              </a:ext>
            </a:extLst>
          </p:cNvPr>
          <p:cNvSpPr>
            <a:spLocks noGrp="1"/>
          </p:cNvSpPr>
          <p:nvPr/>
        </p:nvSpPr>
        <p:spPr>
          <a:xfrm>
            <a:off x="742950" y="800100"/>
            <a:ext cx="10287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从 Markdown 手册到学习工作台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666BA45-2A0B-42A8-BD7A-53AADA88FF2E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10820400" cy="9525"/>
          </a:xfrm>
          <a:prstGeom prst="roundRect">
            <a:avLst>
              <a:gd name="adj" fmla="val 0"/>
            </a:avLst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21CD934-E428-4E36-9D38-4DA6C05532D4}"/>
              </a:ext>
            </a:extLst>
          </p:cNvPr>
          <p:cNvSpPr>
            <a:spLocks noGrp="1"/>
          </p:cNvSpPr>
          <p:nvPr/>
        </p:nvSpPr>
        <p:spPr>
          <a:xfrm>
            <a:off x="685800" y="65151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EVOLVE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96E3691-F561-40C1-B71F-D84A80D2AF76}"/>
              </a:ext>
            </a:extLst>
          </p:cNvPr>
          <p:cNvSpPr>
            <a:spLocks noGrp="1"/>
          </p:cNvSpPr>
          <p:nvPr/>
        </p:nvSpPr>
        <p:spPr>
          <a:xfrm>
            <a:off x="10287000" y="651510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10 / 22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A13997D2-F1B9-41B4-A041-2D97E52DC6A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BFB7CBB-FA9B-462A-8643-3A0380C85B1D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C080742-83AD-4682-93A2-827A82320E37}"/>
              </a:ext>
            </a:extLst>
          </p:cNvPr>
          <p:cNvSpPr>
            <a:spLocks noGrp="1"/>
          </p:cNvSpPr>
          <p:nvPr/>
        </p:nvSpPr>
        <p:spPr>
          <a:xfrm>
            <a:off x="1238250" y="2000250"/>
            <a:ext cx="4591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VitePress 站点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6B1A759-5532-46FF-931A-B236005BD9AF}"/>
              </a:ext>
            </a:extLst>
          </p:cNvPr>
          <p:cNvSpPr>
            <a:spLocks noGrp="1"/>
          </p:cNvSpPr>
          <p:nvPr/>
        </p:nvSpPr>
        <p:spPr>
          <a:xfrm>
            <a:off x="1238250" y="2343150"/>
            <a:ext cx="4591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统一承载实验手册、答案与设计文档。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C8C22ACF-6503-4B77-81EA-C60C9254D61B}"/>
              </a:ext>
            </a:extLst>
          </p:cNvPr>
          <p:cNvSpPr>
            <a:spLocks noGrp="1"/>
          </p:cNvSpPr>
          <p:nvPr/>
        </p:nvSpPr>
        <p:spPr>
          <a:xfrm>
            <a:off x="685800" y="283845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7F03975-C20F-4766-BB3C-B74E6901DF63}"/>
              </a:ext>
            </a:extLst>
          </p:cNvPr>
          <p:cNvSpPr>
            <a:spLocks noGrp="1"/>
          </p:cNvSpPr>
          <p:nvPr/>
        </p:nvSpPr>
        <p:spPr>
          <a:xfrm>
            <a:off x="685800" y="287655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EEF2D61-02B8-4381-A4AD-63C49D0B802A}"/>
              </a:ext>
            </a:extLst>
          </p:cNvPr>
          <p:cNvSpPr>
            <a:spLocks noGrp="1"/>
          </p:cNvSpPr>
          <p:nvPr/>
        </p:nvSpPr>
        <p:spPr>
          <a:xfrm>
            <a:off x="1238250" y="2781300"/>
            <a:ext cx="4591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四区工作台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9D75608-60FF-4D97-A223-25F1583510A0}"/>
              </a:ext>
            </a:extLst>
          </p:cNvPr>
          <p:cNvSpPr>
            <a:spLocks noGrp="1"/>
          </p:cNvSpPr>
          <p:nvPr/>
        </p:nvSpPr>
        <p:spPr>
          <a:xfrm>
            <a:off x="1238250" y="3124200"/>
            <a:ext cx="4591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左手册、右代码、下方终端 / Problems / 测试结果 / Trace。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3426566F-BE9D-4113-A787-CE340BB882AC}"/>
              </a:ext>
            </a:extLst>
          </p:cNvPr>
          <p:cNvSpPr>
            <a:spLocks noGrp="1"/>
          </p:cNvSpPr>
          <p:nvPr/>
        </p:nvSpPr>
        <p:spPr>
          <a:xfrm>
            <a:off x="685800" y="3850405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6C2CFD3-A682-457F-8AC3-7E08C33D130A}"/>
              </a:ext>
            </a:extLst>
          </p:cNvPr>
          <p:cNvSpPr>
            <a:spLocks noGrp="1"/>
          </p:cNvSpPr>
          <p:nvPr/>
        </p:nvSpPr>
        <p:spPr>
          <a:xfrm>
            <a:off x="685800" y="3888505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ACD70A2-0DE8-4D9C-9549-33FDF0515EBE}"/>
              </a:ext>
            </a:extLst>
          </p:cNvPr>
          <p:cNvSpPr>
            <a:spLocks noGrp="1"/>
          </p:cNvSpPr>
          <p:nvPr/>
        </p:nvSpPr>
        <p:spPr>
          <a:xfrm>
            <a:off x="1238250" y="3793255"/>
            <a:ext cx="4591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报告提交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1A6D542-F18E-4F24-A8C1-289909F525DE}"/>
              </a:ext>
            </a:extLst>
          </p:cNvPr>
          <p:cNvSpPr>
            <a:spLocks noGrp="1"/>
          </p:cNvSpPr>
          <p:nvPr/>
        </p:nvSpPr>
        <p:spPr>
          <a:xfrm>
            <a:off x="1238250" y="4136155"/>
            <a:ext cx="4591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过程、证据与思考题绑定，一键提交。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7B16E838-CA40-4C23-A1C7-5F0C663378B3}"/>
              </a:ext>
            </a:extLst>
          </p:cNvPr>
          <p:cNvSpPr>
            <a:spLocks noGrp="1"/>
          </p:cNvSpPr>
          <p:nvPr/>
        </p:nvSpPr>
        <p:spPr>
          <a:xfrm>
            <a:off x="685800" y="4631455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4EEFC22-7681-43D1-998F-7649EF45AC14}"/>
              </a:ext>
            </a:extLst>
          </p:cNvPr>
          <p:cNvSpPr>
            <a:spLocks noGrp="1"/>
          </p:cNvSpPr>
          <p:nvPr/>
        </p:nvSpPr>
        <p:spPr>
          <a:xfrm>
            <a:off x="685800" y="4669555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EC6B093-26EB-4231-A0D6-FA6370722FF0}"/>
              </a:ext>
            </a:extLst>
          </p:cNvPr>
          <p:cNvSpPr>
            <a:spLocks noGrp="1"/>
          </p:cNvSpPr>
          <p:nvPr/>
        </p:nvSpPr>
        <p:spPr>
          <a:xfrm>
            <a:off x="1238250" y="4574305"/>
            <a:ext cx="4591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解锁规则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4C46FAD-2FDE-4185-AF5D-38E4FFCCA5D8}"/>
              </a:ext>
            </a:extLst>
          </p:cNvPr>
          <p:cNvSpPr>
            <a:spLocks noGrp="1"/>
          </p:cNvSpPr>
          <p:nvPr/>
        </p:nvSpPr>
        <p:spPr>
          <a:xfrm>
            <a:off x="1238250" y="4917205"/>
            <a:ext cx="4591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可信成功运行 + 带反思报告 + 教师开放进度。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EDC8AE8F-F186-4A73-9196-2C212BFF78C8}"/>
              </a:ext>
            </a:extLst>
          </p:cNvPr>
          <p:cNvSpPr>
            <a:spLocks noGrp="1"/>
          </p:cNvSpPr>
          <p:nvPr/>
        </p:nvSpPr>
        <p:spPr>
          <a:xfrm>
            <a:off x="6286500" y="2057400"/>
            <a:ext cx="5219700" cy="314325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FB3ADDF2-144F-44C0-A5B5-DE69AE811231}"/>
              </a:ext>
            </a:extLst>
          </p:cNvPr>
          <p:cNvSpPr>
            <a:spLocks noGrp="1"/>
          </p:cNvSpPr>
          <p:nvPr/>
        </p:nvSpPr>
        <p:spPr>
          <a:xfrm>
            <a:off x="6286500" y="2057400"/>
            <a:ext cx="5219700" cy="400050"/>
          </a:xfrm>
          <a:prstGeom prst="roundRect">
            <a:avLst>
              <a:gd name="adj" fmla="val 23810"/>
            </a:avLst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31C37EBD-F252-4756-AC62-832F940931C5}"/>
              </a:ext>
            </a:extLst>
          </p:cNvPr>
          <p:cNvSpPr>
            <a:spLocks noGrp="1"/>
          </p:cNvSpPr>
          <p:nvPr/>
        </p:nvSpPr>
        <p:spPr>
          <a:xfrm>
            <a:off x="6286500" y="2362200"/>
            <a:ext cx="5219700" cy="95250"/>
          </a:xfrm>
          <a:prstGeom prst="roundRect">
            <a:avLst>
              <a:gd name="adj" fmla="val 0"/>
            </a:avLst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B899C28-F939-4A74-A964-4F57E54F80D5}"/>
              </a:ext>
            </a:extLst>
          </p:cNvPr>
          <p:cNvSpPr>
            <a:spLocks noGrp="1"/>
          </p:cNvSpPr>
          <p:nvPr/>
        </p:nvSpPr>
        <p:spPr>
          <a:xfrm>
            <a:off x="6515100" y="211455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学习工作台（结构示意）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FDCC9B52-373B-45D7-8B24-6DE6DC90F9B7}"/>
              </a:ext>
            </a:extLst>
          </p:cNvPr>
          <p:cNvSpPr>
            <a:spLocks noGrp="1"/>
          </p:cNvSpPr>
          <p:nvPr/>
        </p:nvSpPr>
        <p:spPr>
          <a:xfrm>
            <a:off x="6515100" y="2667000"/>
            <a:ext cx="1676400" cy="1276350"/>
          </a:xfrm>
          <a:prstGeom prst="roundRect">
            <a:avLst>
              <a:gd name="adj" fmla="val 5970"/>
            </a:avLst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3C36BD9-677F-4DFF-841B-545FE294BFA0}"/>
              </a:ext>
            </a:extLst>
          </p:cNvPr>
          <p:cNvSpPr>
            <a:spLocks noGrp="1"/>
          </p:cNvSpPr>
          <p:nvPr/>
        </p:nvSpPr>
        <p:spPr>
          <a:xfrm>
            <a:off x="6705600" y="2876550"/>
            <a:ext cx="12954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50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实验手册</a:t>
            </a:r>
          </a:p>
          <a:p>
            <a:pPr algn="l">
              <a:lnSpc>
                <a:spcPct val="150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知识点</a:t>
            </a:r>
          </a:p>
          <a:p>
            <a:pPr algn="l">
              <a:lnSpc>
                <a:spcPct val="150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检查点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EDA4807-5301-4F22-9EDF-538755AD720F}"/>
              </a:ext>
            </a:extLst>
          </p:cNvPr>
          <p:cNvSpPr>
            <a:spLocks noGrp="1"/>
          </p:cNvSpPr>
          <p:nvPr/>
        </p:nvSpPr>
        <p:spPr>
          <a:xfrm>
            <a:off x="8382000" y="2667000"/>
            <a:ext cx="2895600" cy="1276350"/>
          </a:xfrm>
          <a:prstGeom prst="roundRect">
            <a:avLst>
              <a:gd name="adj" fmla="val 5970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E3F9D7B-6314-42D7-87C7-1B7B1D20339A}"/>
              </a:ext>
            </a:extLst>
          </p:cNvPr>
          <p:cNvSpPr>
            <a:spLocks noGrp="1"/>
          </p:cNvSpPr>
          <p:nvPr/>
        </p:nvSpPr>
        <p:spPr>
          <a:xfrm>
            <a:off x="8572500" y="2876550"/>
            <a:ext cx="25146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50000"/>
              </a:lnSpc>
              <a:buNone/>
              <a:defRPr sz="135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代码编辑器</a:t>
            </a:r>
          </a:p>
          <a:p>
            <a:pPr algn="l">
              <a:lnSpc>
                <a:spcPct val="150000"/>
              </a:lnSpc>
              <a:buNone/>
              <a:defRPr sz="135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带语法高亮与源码跳转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85B99D59-15F7-4849-8ABC-9D056D807550}"/>
              </a:ext>
            </a:extLst>
          </p:cNvPr>
          <p:cNvSpPr>
            <a:spLocks noGrp="1"/>
          </p:cNvSpPr>
          <p:nvPr/>
        </p:nvSpPr>
        <p:spPr>
          <a:xfrm>
            <a:off x="6515100" y="4114800"/>
            <a:ext cx="4762500" cy="83820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9D811E0-24A7-461E-9960-5BEDC65DF369}"/>
              </a:ext>
            </a:extLst>
          </p:cNvPr>
          <p:cNvSpPr>
            <a:spLocks noGrp="1"/>
          </p:cNvSpPr>
          <p:nvPr/>
        </p:nvSpPr>
        <p:spPr>
          <a:xfrm>
            <a:off x="6705600" y="4305300"/>
            <a:ext cx="438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lnSpc>
                <a:spcPct val="125000"/>
              </a:lnSpc>
              <a:buNone/>
              <a:defRPr sz="135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终端  ·  Problems  ·  测试结果  ·  Trace</a:t>
            </a:r>
          </a:p>
        </p:txBody>
      </p:sp>
    </p:spTree>
    <p:extLst>
      <p:ext uri="{BB962C8B-B14F-4D97-AF65-F5344CB8AC3E}">
        <p14:creationId xmlns:p14="http://schemas.microsoft.com/office/powerpoint/2010/main" val="15607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41D6E58E-7998-4A94-A0F9-D96DE6DE04AE}"/>
              </a:ext>
            </a:extLst>
          </p:cNvPr>
          <p:cNvSpPr>
            <a:spLocks noGrp="1"/>
          </p:cNvSpPr>
          <p:nvPr/>
        </p:nvSpPr>
        <p:spPr>
          <a:xfrm>
            <a:off x="533400" y="476250"/>
            <a:ext cx="57150" cy="11049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384576D-09FF-48B2-8354-658E07CFA841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762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05 · 学习平台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6551108-6456-48C2-A9BD-56ED8DA4996F}"/>
              </a:ext>
            </a:extLst>
          </p:cNvPr>
          <p:cNvSpPr>
            <a:spLocks noGrp="1"/>
          </p:cNvSpPr>
          <p:nvPr/>
        </p:nvSpPr>
        <p:spPr>
          <a:xfrm>
            <a:off x="742950" y="800100"/>
            <a:ext cx="10287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教师端：让平台</a:t>
            </a:r>
            <a:r>
              <a:rPr lang="zh-CN" altLang="en-US"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走</a:t>
            </a: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进课堂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58F38EC3-7C0F-4E0B-B244-669F6A390792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10820400" cy="9525"/>
          </a:xfrm>
          <a:prstGeom prst="roundRect">
            <a:avLst>
              <a:gd name="adj" fmla="val 0"/>
            </a:avLst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5EF81E5-3098-465D-B956-9D24201DBC2A}"/>
              </a:ext>
            </a:extLst>
          </p:cNvPr>
          <p:cNvSpPr>
            <a:spLocks noGrp="1"/>
          </p:cNvSpPr>
          <p:nvPr/>
        </p:nvSpPr>
        <p:spPr>
          <a:xfrm>
            <a:off x="685800" y="65151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EVOLVE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E1C446A-602F-48DC-B279-9D8D177100B5}"/>
              </a:ext>
            </a:extLst>
          </p:cNvPr>
          <p:cNvSpPr>
            <a:spLocks noGrp="1"/>
          </p:cNvSpPr>
          <p:nvPr/>
        </p:nvSpPr>
        <p:spPr>
          <a:xfrm>
            <a:off x="10287000" y="651510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11 / 22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08D1597-11C4-441C-BF6A-C2A94717D44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3333750" cy="281940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B8133F6-9AC4-4454-B652-B32FF7D2CC39}"/>
              </a:ext>
            </a:extLst>
          </p:cNvPr>
          <p:cNvSpPr>
            <a:spLocks noGrp="1"/>
          </p:cNvSpPr>
          <p:nvPr/>
        </p:nvSpPr>
        <p:spPr>
          <a:xfrm>
            <a:off x="933450" y="2324100"/>
            <a:ext cx="285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发布与权限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81A1ABC-4CE5-4B00-A566-EFBCBA1117EF}"/>
              </a:ext>
            </a:extLst>
          </p:cNvPr>
          <p:cNvSpPr>
            <a:spLocks noGrp="1"/>
          </p:cNvSpPr>
          <p:nvPr/>
        </p:nvSpPr>
        <p:spPr>
          <a:xfrm>
            <a:off x="933450" y="2857500"/>
            <a:ext cx="2857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5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全局 / 班级 / 学生三级对象</a:t>
            </a:r>
          </a:p>
          <a:p>
            <a:pPr algn="l">
              <a:lnSpc>
                <a:spcPct val="15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学生覆盖优先</a:t>
            </a:r>
          </a:p>
          <a:p>
            <a:pPr algn="l">
              <a:lnSpc>
                <a:spcPct val="15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控制 Lab 开放进度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EDB10DE-B39D-47A7-8706-4E7EFF7E969B}"/>
              </a:ext>
            </a:extLst>
          </p:cNvPr>
          <p:cNvSpPr>
            <a:spLocks noGrp="1"/>
          </p:cNvSpPr>
          <p:nvPr/>
        </p:nvSpPr>
        <p:spPr>
          <a:xfrm>
            <a:off x="4305300" y="2057400"/>
            <a:ext cx="3333750" cy="281940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DFC0159-4908-4549-B9D0-BF8CBAD41BD8}"/>
              </a:ext>
            </a:extLst>
          </p:cNvPr>
          <p:cNvSpPr>
            <a:spLocks noGrp="1"/>
          </p:cNvSpPr>
          <p:nvPr/>
        </p:nvSpPr>
        <p:spPr>
          <a:xfrm>
            <a:off x="4552950" y="2324100"/>
            <a:ext cx="285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任务与 AI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D5E4362-F1A6-40AB-BA1B-8F1A0C24ADE5}"/>
              </a:ext>
            </a:extLst>
          </p:cNvPr>
          <p:cNvSpPr>
            <a:spLocks noGrp="1"/>
          </p:cNvSpPr>
          <p:nvPr/>
        </p:nvSpPr>
        <p:spPr>
          <a:xfrm>
            <a:off x="4552950" y="2857500"/>
            <a:ext cx="2857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5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fill 补全 / debug 排错 / random 变体</a:t>
            </a:r>
          </a:p>
          <a:p>
            <a:pPr algn="l">
              <a:lnSpc>
                <a:spcPct val="15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统一模型或学生自配</a:t>
            </a:r>
          </a:p>
          <a:p>
            <a:pPr algn="l">
              <a:lnSpc>
                <a:spcPct val="15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支持个别调整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60DA5709-AD2A-4596-B807-566B3BE0859C}"/>
              </a:ext>
            </a:extLst>
          </p:cNvPr>
          <p:cNvSpPr>
            <a:spLocks noGrp="1"/>
          </p:cNvSpPr>
          <p:nvPr/>
        </p:nvSpPr>
        <p:spPr>
          <a:xfrm>
            <a:off x="7924800" y="2057400"/>
            <a:ext cx="3333750" cy="281940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6989469-FB8B-43C6-8294-6CE96F5B6871}"/>
              </a:ext>
            </a:extLst>
          </p:cNvPr>
          <p:cNvSpPr>
            <a:spLocks noGrp="1"/>
          </p:cNvSpPr>
          <p:nvPr/>
        </p:nvSpPr>
        <p:spPr>
          <a:xfrm>
            <a:off x="8172450" y="2324100"/>
            <a:ext cx="285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课堂管理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46B27EF-3A76-49BF-AE52-54E9046AB73B}"/>
              </a:ext>
            </a:extLst>
          </p:cNvPr>
          <p:cNvSpPr>
            <a:spLocks noGrp="1"/>
          </p:cNvSpPr>
          <p:nvPr/>
        </p:nvSpPr>
        <p:spPr>
          <a:xfrm>
            <a:off x="8172450" y="2857500"/>
            <a:ext cx="2857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5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在线查看实验报告</a:t>
            </a:r>
          </a:p>
          <a:p>
            <a:pPr algn="l">
              <a:lnSpc>
                <a:spcPct val="15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班级名单与导出</a:t>
            </a:r>
          </a:p>
          <a:p>
            <a:pPr algn="l">
              <a:lnSpc>
                <a:spcPct val="15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教师复核队列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B03E78C-B8F7-4D9B-9946-5020A754A2F2}"/>
              </a:ext>
            </a:extLst>
          </p:cNvPr>
          <p:cNvSpPr>
            <a:spLocks noGrp="1"/>
          </p:cNvSpPr>
          <p:nvPr/>
        </p:nvSpPr>
        <p:spPr>
          <a:xfrm>
            <a:off x="685800" y="5219700"/>
            <a:ext cx="10820400" cy="838200"/>
          </a:xfrm>
          <a:prstGeom prst="roundRect">
            <a:avLst>
              <a:gd name="adj" fmla="val 11364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4859BAA-A446-457B-B342-CA73025E75D8}"/>
              </a:ext>
            </a:extLst>
          </p:cNvPr>
          <p:cNvSpPr>
            <a:spLocks noGrp="1"/>
          </p:cNvSpPr>
          <p:nvPr/>
        </p:nvSpPr>
        <p:spPr>
          <a:xfrm>
            <a:off x="952500" y="5219700"/>
            <a:ext cx="102870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65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学生覆盖 </a:t>
            </a:r>
            <a:r>
              <a:rPr lang="en-US" sz="165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-</a:t>
            </a:r>
            <a:r>
              <a:rPr sz="165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 班级覆盖 </a:t>
            </a:r>
            <a:r>
              <a:rPr lang="en-US" sz="165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-</a:t>
            </a:r>
            <a:r>
              <a:rPr sz="165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 全局覆盖；AI 只给建议，最终成绩由教师决定。</a:t>
            </a:r>
          </a:p>
        </p:txBody>
      </p:sp>
    </p:spTree>
    <p:extLst>
      <p:ext uri="{BB962C8B-B14F-4D97-AF65-F5344CB8AC3E}">
        <p14:creationId xmlns:p14="http://schemas.microsoft.com/office/powerpoint/2010/main" val="8181935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C619BD0A-4DBA-4969-BEBA-689BF6039640}"/>
              </a:ext>
            </a:extLst>
          </p:cNvPr>
          <p:cNvSpPr>
            <a:spLocks noGrp="1"/>
          </p:cNvSpPr>
          <p:nvPr/>
        </p:nvSpPr>
        <p:spPr>
          <a:xfrm>
            <a:off x="533400" y="476250"/>
            <a:ext cx="57150" cy="11049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C67F8C7-70A4-4EFB-ABFB-732602BCC393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762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06 · 可信证据链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5DF7F8A-2D02-4927-9FD3-ABBE5B12EA2D}"/>
              </a:ext>
            </a:extLst>
          </p:cNvPr>
          <p:cNvSpPr>
            <a:spLocks noGrp="1"/>
          </p:cNvSpPr>
          <p:nvPr/>
        </p:nvSpPr>
        <p:spPr>
          <a:xfrm>
            <a:off x="742950" y="800100"/>
            <a:ext cx="10287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退出码 0 不等于通过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0BDF6FB-8DB0-49FA-8D92-24EF8B6767DA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10820400" cy="9525"/>
          </a:xfrm>
          <a:prstGeom prst="roundRect">
            <a:avLst>
              <a:gd name="adj" fmla="val 0"/>
            </a:avLst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B9F2C67-55A7-4FBA-AF0A-8375EFDC7A7B}"/>
              </a:ext>
            </a:extLst>
          </p:cNvPr>
          <p:cNvSpPr>
            <a:spLocks noGrp="1"/>
          </p:cNvSpPr>
          <p:nvPr/>
        </p:nvSpPr>
        <p:spPr>
          <a:xfrm>
            <a:off x="685800" y="65151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EVOLVE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8AA4C39-0DEE-4CB2-ABA5-2C380A36F986}"/>
              </a:ext>
            </a:extLst>
          </p:cNvPr>
          <p:cNvSpPr>
            <a:spLocks noGrp="1"/>
          </p:cNvSpPr>
          <p:nvPr/>
        </p:nvSpPr>
        <p:spPr>
          <a:xfrm>
            <a:off x="10287000" y="651510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12 / 22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6AC2781-D452-406E-997F-F066AF5D0819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1504950" cy="83820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F4E68D8-CB46-4B5D-B534-75B69A983AAD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15049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实验任务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4C71B89-ABCA-4CC7-A026-E2E9D8409FF1}"/>
              </a:ext>
            </a:extLst>
          </p:cNvPr>
          <p:cNvSpPr>
            <a:spLocks noGrp="1"/>
          </p:cNvSpPr>
          <p:nvPr/>
        </p:nvSpPr>
        <p:spPr>
          <a:xfrm>
            <a:off x="2133600" y="2305050"/>
            <a:ext cx="323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E97107E2-25BA-4AEF-85D7-C02FCA2177A9}"/>
              </a:ext>
            </a:extLst>
          </p:cNvPr>
          <p:cNvSpPr>
            <a:spLocks noGrp="1"/>
          </p:cNvSpPr>
          <p:nvPr/>
        </p:nvSpPr>
        <p:spPr>
          <a:xfrm>
            <a:off x="2400300" y="2095500"/>
            <a:ext cx="1504950" cy="83820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68BA389-E943-4914-841E-1871483D9696}"/>
              </a:ext>
            </a:extLst>
          </p:cNvPr>
          <p:cNvSpPr>
            <a:spLocks noGrp="1"/>
          </p:cNvSpPr>
          <p:nvPr/>
        </p:nvSpPr>
        <p:spPr>
          <a:xfrm>
            <a:off x="2400300" y="2095500"/>
            <a:ext cx="15049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学生修改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7DCA03C-A233-437C-A341-9081A304DF0F}"/>
              </a:ext>
            </a:extLst>
          </p:cNvPr>
          <p:cNvSpPr>
            <a:spLocks noGrp="1"/>
          </p:cNvSpPr>
          <p:nvPr/>
        </p:nvSpPr>
        <p:spPr>
          <a:xfrm>
            <a:off x="3848100" y="2305050"/>
            <a:ext cx="323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EAFCB80A-4233-4C35-BF34-7504612387BD}"/>
              </a:ext>
            </a:extLst>
          </p:cNvPr>
          <p:cNvSpPr>
            <a:spLocks noGrp="1"/>
          </p:cNvSpPr>
          <p:nvPr/>
        </p:nvSpPr>
        <p:spPr>
          <a:xfrm>
            <a:off x="4114800" y="2095500"/>
            <a:ext cx="1504950" cy="838200"/>
          </a:xfrm>
          <a:prstGeom prst="roundRect">
            <a:avLst>
              <a:gd name="adj" fmla="val 9091"/>
            </a:avLst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3E4FE47-7F1A-4A61-9CEB-407867B272B2}"/>
              </a:ext>
            </a:extLst>
          </p:cNvPr>
          <p:cNvSpPr>
            <a:spLocks noGrp="1"/>
          </p:cNvSpPr>
          <p:nvPr/>
        </p:nvSpPr>
        <p:spPr>
          <a:xfrm>
            <a:off x="4114800" y="2095500"/>
            <a:ext cx="15049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可信 recipe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45E98F0-378B-4466-A662-C11D98D5FF9B}"/>
              </a:ext>
            </a:extLst>
          </p:cNvPr>
          <p:cNvSpPr>
            <a:spLocks noGrp="1"/>
          </p:cNvSpPr>
          <p:nvPr/>
        </p:nvSpPr>
        <p:spPr>
          <a:xfrm>
            <a:off x="5562600" y="2305050"/>
            <a:ext cx="323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D338C921-4BA7-4DE2-B43D-9580A0D3CDD5}"/>
              </a:ext>
            </a:extLst>
          </p:cNvPr>
          <p:cNvSpPr>
            <a:spLocks noGrp="1"/>
          </p:cNvSpPr>
          <p:nvPr/>
        </p:nvSpPr>
        <p:spPr>
          <a:xfrm>
            <a:off x="5829300" y="2095500"/>
            <a:ext cx="1504950" cy="838200"/>
          </a:xfrm>
          <a:prstGeom prst="roundRect">
            <a:avLst>
              <a:gd name="adj" fmla="val 9091"/>
            </a:avLst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3156EC6-8B68-49B6-A61A-D8F8DC1938A3}"/>
              </a:ext>
            </a:extLst>
          </p:cNvPr>
          <p:cNvSpPr>
            <a:spLocks noGrp="1"/>
          </p:cNvSpPr>
          <p:nvPr/>
        </p:nvSpPr>
        <p:spPr>
          <a:xfrm>
            <a:off x="5829300" y="2095500"/>
            <a:ext cx="15049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断言 + Trace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57C4C11-1645-4FB2-A9E3-88D2C6F020F6}"/>
              </a:ext>
            </a:extLst>
          </p:cNvPr>
          <p:cNvSpPr>
            <a:spLocks noGrp="1"/>
          </p:cNvSpPr>
          <p:nvPr/>
        </p:nvSpPr>
        <p:spPr>
          <a:xfrm>
            <a:off x="7277100" y="2305050"/>
            <a:ext cx="323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E9BCF24-59F0-46BC-B287-7840378CEDF3}"/>
              </a:ext>
            </a:extLst>
          </p:cNvPr>
          <p:cNvSpPr>
            <a:spLocks noGrp="1"/>
          </p:cNvSpPr>
          <p:nvPr/>
        </p:nvSpPr>
        <p:spPr>
          <a:xfrm>
            <a:off x="7543800" y="2095500"/>
            <a:ext cx="1504950" cy="83820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648B61A-50E9-4C65-968B-186DA9AF2340}"/>
              </a:ext>
            </a:extLst>
          </p:cNvPr>
          <p:cNvSpPr>
            <a:spLocks noGrp="1"/>
          </p:cNvSpPr>
          <p:nvPr/>
        </p:nvSpPr>
        <p:spPr>
          <a:xfrm>
            <a:off x="7543800" y="2095500"/>
            <a:ext cx="15049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SQLite 证据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2A7B08D-9627-4ADB-B629-051F0C41D561}"/>
              </a:ext>
            </a:extLst>
          </p:cNvPr>
          <p:cNvSpPr>
            <a:spLocks noGrp="1"/>
          </p:cNvSpPr>
          <p:nvPr/>
        </p:nvSpPr>
        <p:spPr>
          <a:xfrm>
            <a:off x="8991600" y="2305050"/>
            <a:ext cx="323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A1506A3-9B0D-4F2E-9B4D-4DF4DF68C81B}"/>
              </a:ext>
            </a:extLst>
          </p:cNvPr>
          <p:cNvSpPr>
            <a:spLocks noGrp="1"/>
          </p:cNvSpPr>
          <p:nvPr/>
        </p:nvSpPr>
        <p:spPr>
          <a:xfrm>
            <a:off x="9258300" y="2095500"/>
            <a:ext cx="1504950" cy="83820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10FBA0D-913B-43FA-BF2B-E43C72D531AC}"/>
              </a:ext>
            </a:extLst>
          </p:cNvPr>
          <p:cNvSpPr>
            <a:spLocks noGrp="1"/>
          </p:cNvSpPr>
          <p:nvPr/>
        </p:nvSpPr>
        <p:spPr>
          <a:xfrm>
            <a:off x="9258300" y="2095500"/>
            <a:ext cx="15049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AI / 评分引用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D2552A0A-C5E9-4E5B-8048-E593137B7097}"/>
              </a:ext>
            </a:extLst>
          </p:cNvPr>
          <p:cNvSpPr>
            <a:spLocks noGrp="1"/>
          </p:cNvSpPr>
          <p:nvPr/>
        </p:nvSpPr>
        <p:spPr>
          <a:xfrm>
            <a:off x="685800" y="3352800"/>
            <a:ext cx="2438400" cy="1257300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0C87F56-8A81-42A1-BF70-4EE16BE06E85}"/>
              </a:ext>
            </a:extLst>
          </p:cNvPr>
          <p:cNvSpPr>
            <a:spLocks noGrp="1"/>
          </p:cNvSpPr>
          <p:nvPr/>
        </p:nvSpPr>
        <p:spPr>
          <a:xfrm>
            <a:off x="876300" y="3581400"/>
            <a:ext cx="2057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自定义命令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C193954-8B60-4B6D-89F4-63E3BCF7FDD5}"/>
              </a:ext>
            </a:extLst>
          </p:cNvPr>
          <p:cNvSpPr>
            <a:spLocks noGrp="1"/>
          </p:cNvSpPr>
          <p:nvPr/>
        </p:nvSpPr>
        <p:spPr>
          <a:xfrm>
            <a:off x="876300" y="3962400"/>
            <a:ext cx="2057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30000"/>
              </a:lnSpc>
              <a:buNone/>
              <a:def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即使退出码为 0，也不产生 verified=true。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DDE4EB36-5A8B-4F39-BE33-BA89D03523D5}"/>
              </a:ext>
            </a:extLst>
          </p:cNvPr>
          <p:cNvSpPr>
            <a:spLocks noGrp="1"/>
          </p:cNvSpPr>
          <p:nvPr/>
        </p:nvSpPr>
        <p:spPr>
          <a:xfrm>
            <a:off x="3390900" y="3352800"/>
            <a:ext cx="2438400" cy="1257300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C752850-2F34-4AD4-9313-1F1279CD8ED5}"/>
              </a:ext>
            </a:extLst>
          </p:cNvPr>
          <p:cNvSpPr>
            <a:spLocks noGrp="1"/>
          </p:cNvSpPr>
          <p:nvPr/>
        </p:nvSpPr>
        <p:spPr>
          <a:xfrm>
            <a:off x="3581400" y="3581400"/>
            <a:ext cx="2057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无真实 Trace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91B7206-9D75-4407-918B-F7686634E510}"/>
              </a:ext>
            </a:extLst>
          </p:cNvPr>
          <p:cNvSpPr>
            <a:spLocks noGrp="1"/>
          </p:cNvSpPr>
          <p:nvPr/>
        </p:nvSpPr>
        <p:spPr>
          <a:xfrm>
            <a:off x="3581400" y="3962400"/>
            <a:ext cx="2057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30000"/>
              </a:lnSpc>
              <a:buNone/>
              <a:def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界面保持空态，不展示 mock 数据。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D17DEA-0579-4792-B2E7-2C1700A3480D}"/>
              </a:ext>
            </a:extLst>
          </p:cNvPr>
          <p:cNvSpPr>
            <a:spLocks noGrp="1"/>
          </p:cNvSpPr>
          <p:nvPr/>
        </p:nvSpPr>
        <p:spPr>
          <a:xfrm>
            <a:off x="6096000" y="3352800"/>
            <a:ext cx="2438400" cy="1257300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672B538-65EB-4FA8-91C3-A55195647ACE}"/>
              </a:ext>
            </a:extLst>
          </p:cNvPr>
          <p:cNvSpPr>
            <a:spLocks noGrp="1"/>
          </p:cNvSpPr>
          <p:nvPr/>
        </p:nvSpPr>
        <p:spPr>
          <a:xfrm>
            <a:off x="6286500" y="3581400"/>
            <a:ext cx="2057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查询时重校验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788AA83-B05D-42AE-A8BD-A0989228C82D}"/>
              </a:ext>
            </a:extLst>
          </p:cNvPr>
          <p:cNvSpPr>
            <a:spLocks noGrp="1"/>
          </p:cNvSpPr>
          <p:nvPr/>
        </p:nvSpPr>
        <p:spPr>
          <a:xfrm>
            <a:off x="6286500" y="3962400"/>
            <a:ext cx="2057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30000"/>
              </a:lnSpc>
              <a:buNone/>
              <a:def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runId、版本、哈希、事件数与顺序。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5B0CFDFA-09F3-4615-AEBA-D56CC523FA1A}"/>
              </a:ext>
            </a:extLst>
          </p:cNvPr>
          <p:cNvSpPr>
            <a:spLocks noGrp="1"/>
          </p:cNvSpPr>
          <p:nvPr/>
        </p:nvSpPr>
        <p:spPr>
          <a:xfrm>
            <a:off x="8801100" y="3352800"/>
            <a:ext cx="2438400" cy="1257300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5099AC73-EDB1-42E8-9C4B-5C16BA3032A8}"/>
              </a:ext>
            </a:extLst>
          </p:cNvPr>
          <p:cNvSpPr>
            <a:spLocks noGrp="1"/>
          </p:cNvSpPr>
          <p:nvPr/>
        </p:nvSpPr>
        <p:spPr>
          <a:xfrm>
            <a:off x="8991600" y="3581400"/>
            <a:ext cx="2057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跨账号访问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5504B5D6-2A75-41FC-B188-572F4906E190}"/>
              </a:ext>
            </a:extLst>
          </p:cNvPr>
          <p:cNvSpPr>
            <a:spLocks noGrp="1"/>
          </p:cNvSpPr>
          <p:nvPr/>
        </p:nvSpPr>
        <p:spPr>
          <a:xfrm>
            <a:off x="8991600" y="3962400"/>
            <a:ext cx="2057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30000"/>
              </a:lnSpc>
              <a:buNone/>
              <a:def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run 返回 404，证据不可串用。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5F592F38-CB61-4960-ABA5-824F8DEDC27D}"/>
              </a:ext>
            </a:extLst>
          </p:cNvPr>
          <p:cNvSpPr>
            <a:spLocks noGrp="1"/>
          </p:cNvSpPr>
          <p:nvPr/>
        </p:nvSpPr>
        <p:spPr>
          <a:xfrm>
            <a:off x="685800" y="4953000"/>
            <a:ext cx="10820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40000"/>
              </a:lnSpc>
              <a:buNone/>
              <a:defRPr sz="15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AI 只能引用本轮白名单内的 run: / trace: / diag: / event: / kb: 证据；报告引用 run 与 Trace，教师复核后形成成绩。</a:t>
            </a:r>
          </a:p>
        </p:txBody>
      </p:sp>
    </p:spTree>
    <p:extLst>
      <p:ext uri="{BB962C8B-B14F-4D97-AF65-F5344CB8AC3E}">
        <p14:creationId xmlns:p14="http://schemas.microsoft.com/office/powerpoint/2010/main" val="7158459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088419-DB0D-4986-B394-B902AE4EB2EE}"/>
              </a:ext>
            </a:extLst>
          </p:cNvPr>
          <p:cNvSpPr>
            <a:spLocks noGrp="1"/>
          </p:cNvSpPr>
          <p:nvPr/>
        </p:nvSpPr>
        <p:spPr>
          <a:xfrm>
            <a:off x="533400" y="476250"/>
            <a:ext cx="57150" cy="11049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854BBC4-B703-448A-8709-F56D222F5530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762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06 · 可信证据链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F378710-E0B5-4626-9343-C5B28D622873}"/>
              </a:ext>
            </a:extLst>
          </p:cNvPr>
          <p:cNvSpPr>
            <a:spLocks noGrp="1"/>
          </p:cNvSpPr>
          <p:nvPr/>
        </p:nvSpPr>
        <p:spPr>
          <a:xfrm>
            <a:off x="742950" y="800100"/>
            <a:ext cx="10287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失败到通过，每一步都有 Trace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884253-2A43-4CF4-9D46-C93FD0F38B58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10820400" cy="9525"/>
          </a:xfrm>
          <a:prstGeom prst="roundRect">
            <a:avLst>
              <a:gd name="adj" fmla="val 0"/>
            </a:avLst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58CC3EC-A22F-4734-90F3-4CF8CF9ED4EA}"/>
              </a:ext>
            </a:extLst>
          </p:cNvPr>
          <p:cNvSpPr>
            <a:spLocks noGrp="1"/>
          </p:cNvSpPr>
          <p:nvPr/>
        </p:nvSpPr>
        <p:spPr>
          <a:xfrm>
            <a:off x="685800" y="65151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EVOLVE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BA4F77F-194F-49EB-BAD5-40C37EE47DB2}"/>
              </a:ext>
            </a:extLst>
          </p:cNvPr>
          <p:cNvSpPr>
            <a:spLocks noGrp="1"/>
          </p:cNvSpPr>
          <p:nvPr/>
        </p:nvSpPr>
        <p:spPr>
          <a:xfrm>
            <a:off x="10287000" y="651510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13 / 22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7DE2C7F-C226-4340-8C98-5B6B2BD69DC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3D00843-1609-4AFF-BB59-6FC3A0B5AE46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33F104-5469-4B6F-9C37-079AA3550221}"/>
              </a:ext>
            </a:extLst>
          </p:cNvPr>
          <p:cNvSpPr>
            <a:spLocks noGrp="1"/>
          </p:cNvSpPr>
          <p:nvPr/>
        </p:nvSpPr>
        <p:spPr>
          <a:xfrm>
            <a:off x="1238250" y="2000250"/>
            <a:ext cx="4591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结构化 Trace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166CE5F-2D29-4D3C-AF22-7CF0E75BF21A}"/>
              </a:ext>
            </a:extLst>
          </p:cNvPr>
          <p:cNvSpPr>
            <a:spLocks noGrp="1"/>
          </p:cNvSpPr>
          <p:nvPr/>
        </p:nvSpPr>
        <p:spPr>
          <a:xfrm>
            <a:off x="1238250" y="2343150"/>
            <a:ext cx="4591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可信运行生成 trap_enter、task_switch 等事件。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CAEFF601-603C-47C3-B50D-2CDD41AB4D88}"/>
              </a:ext>
            </a:extLst>
          </p:cNvPr>
          <p:cNvSpPr>
            <a:spLocks noGrp="1"/>
          </p:cNvSpPr>
          <p:nvPr/>
        </p:nvSpPr>
        <p:spPr>
          <a:xfrm>
            <a:off x="685800" y="297180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3B77332-CAF6-4BFF-827C-6D8F3386C7EB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E8FBC51-475F-424A-9143-63D92D5D017F}"/>
              </a:ext>
            </a:extLst>
          </p:cNvPr>
          <p:cNvSpPr>
            <a:spLocks noGrp="1"/>
          </p:cNvSpPr>
          <p:nvPr/>
        </p:nvSpPr>
        <p:spPr>
          <a:xfrm>
            <a:off x="1238250" y="2914650"/>
            <a:ext cx="4591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绑定 runId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C732B80-5343-4B7B-8DEA-56EED10766AD}"/>
              </a:ext>
            </a:extLst>
          </p:cNvPr>
          <p:cNvSpPr>
            <a:spLocks noGrp="1"/>
          </p:cNvSpPr>
          <p:nvPr/>
        </p:nvSpPr>
        <p:spPr>
          <a:xfrm>
            <a:off x="1238250" y="3257550"/>
            <a:ext cx="4591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可逐条定位 from / to / reason，跨账号不可访问。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F40AF2F0-F799-470A-AF0F-F2AFC4627B33}"/>
              </a:ext>
            </a:extLst>
          </p:cNvPr>
          <p:cNvSpPr>
            <a:spLocks noGrp="1"/>
          </p:cNvSpPr>
          <p:nvPr/>
        </p:nvSpPr>
        <p:spPr>
          <a:xfrm>
            <a:off x="685800" y="388620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35B9947-DA06-4DA2-BD3F-2247D0EF18C8}"/>
              </a:ext>
            </a:extLst>
          </p:cNvPr>
          <p:cNvSpPr>
            <a:spLocks noGrp="1"/>
          </p:cNvSpPr>
          <p:nvPr/>
        </p:nvSpPr>
        <p:spPr>
          <a:xfrm>
            <a:off x="685800" y="392430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58DCAB4-22C1-42E8-B831-48DB29A07349}"/>
              </a:ext>
            </a:extLst>
          </p:cNvPr>
          <p:cNvSpPr>
            <a:spLocks noGrp="1"/>
          </p:cNvSpPr>
          <p:nvPr/>
        </p:nvSpPr>
        <p:spPr>
          <a:xfrm>
            <a:off x="1238250" y="3829050"/>
            <a:ext cx="4591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Problems 跳转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D421319-F2F7-4B05-923D-C9714C9972A6}"/>
              </a:ext>
            </a:extLst>
          </p:cNvPr>
          <p:cNvSpPr>
            <a:spLocks noGrp="1"/>
          </p:cNvSpPr>
          <p:nvPr/>
        </p:nvSpPr>
        <p:spPr>
          <a:xfrm>
            <a:off x="1238250" y="4171950"/>
            <a:ext cx="4591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编译诊断可直接跳回源码行。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C9F110C-F7EE-4D94-B3B5-3CCFDF728E1C}"/>
              </a:ext>
            </a:extLst>
          </p:cNvPr>
          <p:cNvSpPr>
            <a:spLocks noGrp="1"/>
          </p:cNvSpPr>
          <p:nvPr/>
        </p:nvSpPr>
        <p:spPr>
          <a:xfrm>
            <a:off x="685800" y="480060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F336A8F-F6CA-4C24-AF2D-5C5431E3F934}"/>
              </a:ext>
            </a:extLst>
          </p:cNvPr>
          <p:cNvSpPr>
            <a:spLocks noGrp="1"/>
          </p:cNvSpPr>
          <p:nvPr/>
        </p:nvSpPr>
        <p:spPr>
          <a:xfrm>
            <a:off x="685800" y="483870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14D5B72-363C-4EE1-8FE7-F751857977DF}"/>
              </a:ext>
            </a:extLst>
          </p:cNvPr>
          <p:cNvSpPr>
            <a:spLocks noGrp="1"/>
          </p:cNvSpPr>
          <p:nvPr/>
        </p:nvSpPr>
        <p:spPr>
          <a:xfrm>
            <a:off x="1238250" y="4743450"/>
            <a:ext cx="4591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学习事件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1975CA1-6259-4D80-921D-C7A8A053B8AE}"/>
              </a:ext>
            </a:extLst>
          </p:cNvPr>
          <p:cNvSpPr>
            <a:spLocks noGrp="1"/>
          </p:cNvSpPr>
          <p:nvPr/>
        </p:nvSpPr>
        <p:spPr>
          <a:xfrm>
            <a:off x="1238250" y="5086350"/>
            <a:ext cx="4591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查看 Trace 记录为 trace_inspected。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F56EB831-AB74-4BF3-8135-81B44D9AF793}"/>
              </a:ext>
            </a:extLst>
          </p:cNvPr>
          <p:cNvSpPr>
            <a:spLocks noGrp="1"/>
          </p:cNvSpPr>
          <p:nvPr/>
        </p:nvSpPr>
        <p:spPr>
          <a:xfrm>
            <a:off x="6286500" y="2057400"/>
            <a:ext cx="5219700" cy="3143250"/>
          </a:xfrm>
          <a:prstGeom prst="roundRect">
            <a:avLst>
              <a:gd name="adj" fmla="val 303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6093F8E-5C74-494F-B8BA-EBE01722841B}"/>
              </a:ext>
            </a:extLst>
          </p:cNvPr>
          <p:cNvSpPr>
            <a:spLocks noGrp="1"/>
          </p:cNvSpPr>
          <p:nvPr/>
        </p:nvSpPr>
        <p:spPr>
          <a:xfrm>
            <a:off x="6572250" y="2324100"/>
            <a:ext cx="4667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调试闭环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C1EE0209-DC63-4532-864D-39AE266B27F8}"/>
              </a:ext>
            </a:extLst>
          </p:cNvPr>
          <p:cNvSpPr>
            <a:spLocks noGrp="1"/>
          </p:cNvSpPr>
          <p:nvPr/>
        </p:nvSpPr>
        <p:spPr>
          <a:xfrm>
            <a:off x="6572250" y="2914650"/>
            <a:ext cx="952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ABE01B5-E614-45CC-8F07-32554362038B}"/>
              </a:ext>
            </a:extLst>
          </p:cNvPr>
          <p:cNvSpPr>
            <a:spLocks noGrp="1"/>
          </p:cNvSpPr>
          <p:nvPr/>
        </p:nvSpPr>
        <p:spPr>
          <a:xfrm>
            <a:off x="6572250" y="2914650"/>
            <a:ext cx="952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2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运行失败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D23D911-E984-460C-A608-2179F9B2DAD0}"/>
              </a:ext>
            </a:extLst>
          </p:cNvPr>
          <p:cNvSpPr>
            <a:spLocks noGrp="1"/>
          </p:cNvSpPr>
          <p:nvPr/>
        </p:nvSpPr>
        <p:spPr>
          <a:xfrm>
            <a:off x="7467600" y="2990850"/>
            <a:ext cx="323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7B7A4836-046A-4F84-BD5E-90805996F627}"/>
              </a:ext>
            </a:extLst>
          </p:cNvPr>
          <p:cNvSpPr>
            <a:spLocks noGrp="1"/>
          </p:cNvSpPr>
          <p:nvPr/>
        </p:nvSpPr>
        <p:spPr>
          <a:xfrm>
            <a:off x="7696200" y="2914650"/>
            <a:ext cx="952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826C6A4-F1E4-4B29-A260-E8D9E12C9179}"/>
              </a:ext>
            </a:extLst>
          </p:cNvPr>
          <p:cNvSpPr>
            <a:spLocks noGrp="1"/>
          </p:cNvSpPr>
          <p:nvPr/>
        </p:nvSpPr>
        <p:spPr>
          <a:xfrm>
            <a:off x="7696200" y="2914650"/>
            <a:ext cx="952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2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Problems 诊断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E72B740-E005-452A-BA0D-F83CCE950192}"/>
              </a:ext>
            </a:extLst>
          </p:cNvPr>
          <p:cNvSpPr>
            <a:spLocks noGrp="1"/>
          </p:cNvSpPr>
          <p:nvPr/>
        </p:nvSpPr>
        <p:spPr>
          <a:xfrm>
            <a:off x="8591550" y="2990850"/>
            <a:ext cx="323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221A084-847C-4A33-A226-577DF97404AA}"/>
              </a:ext>
            </a:extLst>
          </p:cNvPr>
          <p:cNvSpPr>
            <a:spLocks noGrp="1"/>
          </p:cNvSpPr>
          <p:nvPr/>
        </p:nvSpPr>
        <p:spPr>
          <a:xfrm>
            <a:off x="8820150" y="2914650"/>
            <a:ext cx="952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10F8018-B948-45AE-963C-9DD116989126}"/>
              </a:ext>
            </a:extLst>
          </p:cNvPr>
          <p:cNvSpPr>
            <a:spLocks noGrp="1"/>
          </p:cNvSpPr>
          <p:nvPr/>
        </p:nvSpPr>
        <p:spPr>
          <a:xfrm>
            <a:off x="8820150" y="2914650"/>
            <a:ext cx="952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2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修复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DD6A7B1E-8A4A-4296-86FE-440877A50D93}"/>
              </a:ext>
            </a:extLst>
          </p:cNvPr>
          <p:cNvSpPr>
            <a:spLocks noGrp="1"/>
          </p:cNvSpPr>
          <p:nvPr/>
        </p:nvSpPr>
        <p:spPr>
          <a:xfrm>
            <a:off x="9715500" y="2990850"/>
            <a:ext cx="323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4A2F0E10-FC34-49E3-A7F5-525F834D3163}"/>
              </a:ext>
            </a:extLst>
          </p:cNvPr>
          <p:cNvSpPr>
            <a:spLocks noGrp="1"/>
          </p:cNvSpPr>
          <p:nvPr/>
        </p:nvSpPr>
        <p:spPr>
          <a:xfrm>
            <a:off x="9944100" y="2914650"/>
            <a:ext cx="952500" cy="590550"/>
          </a:xfrm>
          <a:prstGeom prst="roundRect">
            <a:avLst>
              <a:gd name="adj" fmla="val 12903"/>
            </a:avLst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FCD028DF-C0CE-4E09-BA29-317ED240E540}"/>
              </a:ext>
            </a:extLst>
          </p:cNvPr>
          <p:cNvSpPr>
            <a:spLocks noGrp="1"/>
          </p:cNvSpPr>
          <p:nvPr/>
        </p:nvSpPr>
        <p:spPr>
          <a:xfrm>
            <a:off x="9944100" y="2914650"/>
            <a:ext cx="952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可信通过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3A60F670-5D66-4161-8CF6-ACB12477774E}"/>
              </a:ext>
            </a:extLst>
          </p:cNvPr>
          <p:cNvSpPr>
            <a:spLocks noGrp="1"/>
          </p:cNvSpPr>
          <p:nvPr/>
        </p:nvSpPr>
        <p:spPr>
          <a:xfrm>
            <a:off x="6572250" y="3810000"/>
            <a:ext cx="46672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40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示例：task_switch 记录 from、to、reason；Yield 必须观察到五轮，死锁测试必须返回 -0xDEAD。</a:t>
            </a:r>
          </a:p>
        </p:txBody>
      </p:sp>
    </p:spTree>
    <p:extLst>
      <p:ext uri="{BB962C8B-B14F-4D97-AF65-F5344CB8AC3E}">
        <p14:creationId xmlns:p14="http://schemas.microsoft.com/office/powerpoint/2010/main" val="7715224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DC994D0-2306-4B4D-8260-D0FF8FA32146}"/>
              </a:ext>
            </a:extLst>
          </p:cNvPr>
          <p:cNvSpPr>
            <a:spLocks noGrp="1"/>
          </p:cNvSpPr>
          <p:nvPr/>
        </p:nvSpPr>
        <p:spPr>
          <a:xfrm>
            <a:off x="533400" y="476250"/>
            <a:ext cx="57150" cy="11049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E27ED5C-71AF-43AD-B8CE-05AD41A45E8D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762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07 · AI 双 Agent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D6290FD-E969-4B00-A415-45191D565046}"/>
              </a:ext>
            </a:extLst>
          </p:cNvPr>
          <p:cNvSpPr>
            <a:spLocks noGrp="1"/>
          </p:cNvSpPr>
          <p:nvPr/>
        </p:nvSpPr>
        <p:spPr>
          <a:xfrm>
            <a:off x="742950" y="800100"/>
            <a:ext cx="10287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AI 导师：引导</a:t>
            </a:r>
            <a:r>
              <a:rPr lang="zh-CN" altLang="en-US"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学生思考</a:t>
            </a:r>
            <a:endParaRPr sz="3450" b="1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D05B0CF-0B25-4EB0-A35D-294E9B6C5D2B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10820400" cy="9525"/>
          </a:xfrm>
          <a:prstGeom prst="roundRect">
            <a:avLst>
              <a:gd name="adj" fmla="val 0"/>
            </a:avLst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668A6F5-33F7-4D7A-B7AD-084C9D905C4D}"/>
              </a:ext>
            </a:extLst>
          </p:cNvPr>
          <p:cNvSpPr>
            <a:spLocks noGrp="1"/>
          </p:cNvSpPr>
          <p:nvPr/>
        </p:nvSpPr>
        <p:spPr>
          <a:xfrm>
            <a:off x="685800" y="65151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EVOLVE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2D3157E-A798-4318-95BB-6A41DDB62E23}"/>
              </a:ext>
            </a:extLst>
          </p:cNvPr>
          <p:cNvSpPr>
            <a:spLocks noGrp="1"/>
          </p:cNvSpPr>
          <p:nvPr/>
        </p:nvSpPr>
        <p:spPr>
          <a:xfrm>
            <a:off x="10287000" y="651510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14 / 22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1C89007-00C3-4F4E-9EFF-38B82EB4AD9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8AAD406-250B-4701-A5A3-BA60EF22D856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4CB9D92-95B1-4618-9E42-6B009A3D4899}"/>
              </a:ext>
            </a:extLst>
          </p:cNvPr>
          <p:cNvSpPr>
            <a:spLocks noGrp="1"/>
          </p:cNvSpPr>
          <p:nvPr/>
        </p:nvSpPr>
        <p:spPr>
          <a:xfrm>
            <a:off x="1238250" y="2000250"/>
            <a:ext cx="4591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七类问题意图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A6B5791-2324-4163-A877-BB63F4AF4354}"/>
              </a:ext>
            </a:extLst>
          </p:cNvPr>
          <p:cNvSpPr>
            <a:spLocks noGrp="1"/>
          </p:cNvSpPr>
          <p:nvPr/>
        </p:nvSpPr>
        <p:spPr>
          <a:xfrm>
            <a:off x="1238250" y="2343150"/>
            <a:ext cx="4591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concept、code-reading、debug、verification、reflection、transfer、direct-answer。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072BF04-9F00-49AA-B014-4937C867D0D4}"/>
              </a:ext>
            </a:extLst>
          </p:cNvPr>
          <p:cNvSpPr>
            <a:spLocks noGrp="1"/>
          </p:cNvSpPr>
          <p:nvPr/>
        </p:nvSpPr>
        <p:spPr>
          <a:xfrm>
            <a:off x="685800" y="297180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BD798E8-07FB-4ED1-8842-5D21EA570963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D7CDE64-FFF3-4CB8-B095-0B9BBC80FBB2}"/>
              </a:ext>
            </a:extLst>
          </p:cNvPr>
          <p:cNvSpPr>
            <a:spLocks noGrp="1"/>
          </p:cNvSpPr>
          <p:nvPr/>
        </p:nvSpPr>
        <p:spPr>
          <a:xfrm>
            <a:off x="1238250" y="2914650"/>
            <a:ext cx="4591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答案护栏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2D607BD-1D3A-4637-B0F9-E8E2C67BAEE5}"/>
              </a:ext>
            </a:extLst>
          </p:cNvPr>
          <p:cNvSpPr>
            <a:spLocks noGrp="1"/>
          </p:cNvSpPr>
          <p:nvPr/>
        </p:nvSpPr>
        <p:spPr>
          <a:xfrm>
            <a:off x="1238250" y="3257550"/>
            <a:ext cx="4591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直接索要完整代码时拒绝交付完整实现。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F22233B-571C-4749-A439-7E6A039AD02B}"/>
              </a:ext>
            </a:extLst>
          </p:cNvPr>
          <p:cNvSpPr>
            <a:spLocks noGrp="1"/>
          </p:cNvSpPr>
          <p:nvPr/>
        </p:nvSpPr>
        <p:spPr>
          <a:xfrm>
            <a:off x="685800" y="388620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E927125-B1AF-4B2F-8787-435ADC13A6D5}"/>
              </a:ext>
            </a:extLst>
          </p:cNvPr>
          <p:cNvSpPr>
            <a:spLocks noGrp="1"/>
          </p:cNvSpPr>
          <p:nvPr/>
        </p:nvSpPr>
        <p:spPr>
          <a:xfrm>
            <a:off x="685800" y="392430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2A102CF-5066-49A5-8DEF-8D863F86CDD1}"/>
              </a:ext>
            </a:extLst>
          </p:cNvPr>
          <p:cNvSpPr>
            <a:spLocks noGrp="1"/>
          </p:cNvSpPr>
          <p:nvPr/>
        </p:nvSpPr>
        <p:spPr>
          <a:xfrm>
            <a:off x="1238250" y="3829050"/>
            <a:ext cx="4591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提示等级 L0-L4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E10337C-6D43-4E49-A0D4-4B3967E7A7F1}"/>
              </a:ext>
            </a:extLst>
          </p:cNvPr>
          <p:cNvSpPr>
            <a:spLocks noGrp="1"/>
          </p:cNvSpPr>
          <p:nvPr/>
        </p:nvSpPr>
        <p:spPr>
          <a:xfrm>
            <a:off x="1238250" y="4171950"/>
            <a:ext cx="4591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按当前问题线程累计，换题、换文件、换诊断后归零。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AD3F379F-1381-4872-8777-6CC9347145E4}"/>
              </a:ext>
            </a:extLst>
          </p:cNvPr>
          <p:cNvSpPr>
            <a:spLocks noGrp="1"/>
          </p:cNvSpPr>
          <p:nvPr/>
        </p:nvSpPr>
        <p:spPr>
          <a:xfrm>
            <a:off x="685800" y="480060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BEEF71B-B5EB-47D4-8049-5785AE15FA4F}"/>
              </a:ext>
            </a:extLst>
          </p:cNvPr>
          <p:cNvSpPr>
            <a:spLocks noGrp="1"/>
          </p:cNvSpPr>
          <p:nvPr/>
        </p:nvSpPr>
        <p:spPr>
          <a:xfrm>
            <a:off x="685800" y="483870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8E0E06D-3540-4AD4-ADC4-AABA152616CA}"/>
              </a:ext>
            </a:extLst>
          </p:cNvPr>
          <p:cNvSpPr>
            <a:spLocks noGrp="1"/>
          </p:cNvSpPr>
          <p:nvPr/>
        </p:nvSpPr>
        <p:spPr>
          <a:xfrm>
            <a:off x="1238250" y="4743450"/>
            <a:ext cx="4591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证据门控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F3D09B2-ABF8-411D-81DA-1246C0608AA7}"/>
              </a:ext>
            </a:extLst>
          </p:cNvPr>
          <p:cNvSpPr>
            <a:spLocks noGrp="1"/>
          </p:cNvSpPr>
          <p:nvPr/>
        </p:nvSpPr>
        <p:spPr>
          <a:xfrm>
            <a:off x="1238250" y="5086350"/>
            <a:ext cx="4591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只能引用本轮白名单证据，无可信 run 不声称通过。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5268C2F4-EB91-4380-97EA-8689E86E0AC9}"/>
              </a:ext>
            </a:extLst>
          </p:cNvPr>
          <p:cNvSpPr>
            <a:spLocks noGrp="1"/>
          </p:cNvSpPr>
          <p:nvPr/>
        </p:nvSpPr>
        <p:spPr>
          <a:xfrm>
            <a:off x="6286500" y="2057400"/>
            <a:ext cx="5219700" cy="3143250"/>
          </a:xfrm>
          <a:prstGeom prst="roundRect">
            <a:avLst>
              <a:gd name="adj" fmla="val 3030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5F138E0-D2AD-4E2A-A682-CB4ADD70ADA9}"/>
              </a:ext>
            </a:extLst>
          </p:cNvPr>
          <p:cNvSpPr>
            <a:spLocks noGrp="1"/>
          </p:cNvSpPr>
          <p:nvPr/>
        </p:nvSpPr>
        <p:spPr>
          <a:xfrm>
            <a:off x="6572250" y="2324100"/>
            <a:ext cx="4667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95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同一个问题，两种回应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F78B3C8-E074-4144-9BEE-27D90F3CB4B6}"/>
              </a:ext>
            </a:extLst>
          </p:cNvPr>
          <p:cNvSpPr>
            <a:spLocks noGrp="1"/>
          </p:cNvSpPr>
          <p:nvPr/>
        </p:nvSpPr>
        <p:spPr>
          <a:xfrm>
            <a:off x="6572250" y="2819400"/>
            <a:ext cx="40005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BAE6F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2CE6DE6-8350-4D48-B045-07BFD4CB6881}"/>
              </a:ext>
            </a:extLst>
          </p:cNvPr>
          <p:cNvSpPr>
            <a:spLocks noGrp="1"/>
          </p:cNvSpPr>
          <p:nvPr/>
        </p:nvSpPr>
        <p:spPr>
          <a:xfrm>
            <a:off x="6762750" y="2914650"/>
            <a:ext cx="3619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学生：直接给我完整代码。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9F6B3CD1-8874-4D7A-9827-BD42AE1E3229}"/>
              </a:ext>
            </a:extLst>
          </p:cNvPr>
          <p:cNvSpPr>
            <a:spLocks noGrp="1"/>
          </p:cNvSpPr>
          <p:nvPr/>
        </p:nvSpPr>
        <p:spPr>
          <a:xfrm>
            <a:off x="6819900" y="3619500"/>
            <a:ext cx="41910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99F6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835431C-A7EA-4CCF-8452-263F2A19355D}"/>
              </a:ext>
            </a:extLst>
          </p:cNvPr>
          <p:cNvSpPr>
            <a:spLocks noGrp="1"/>
          </p:cNvSpPr>
          <p:nvPr/>
        </p:nvSpPr>
        <p:spPr>
          <a:xfrm>
            <a:off x="7010400" y="3714750"/>
            <a:ext cx="3810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答案护栏：先观察 task_switch 的 from / to，再定位原因。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C3D297E4-7F8E-41FD-9741-BC44DADC89BB}"/>
              </a:ext>
            </a:extLst>
          </p:cNvPr>
          <p:cNvSpPr>
            <a:spLocks noGrp="1"/>
          </p:cNvSpPr>
          <p:nvPr/>
        </p:nvSpPr>
        <p:spPr>
          <a:xfrm>
            <a:off x="6819900" y="4400550"/>
            <a:ext cx="41910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99F6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ECF64D0-9E31-4DE6-A734-2DEE9A844FB2}"/>
              </a:ext>
            </a:extLst>
          </p:cNvPr>
          <p:cNvSpPr>
            <a:spLocks noGrp="1"/>
          </p:cNvSpPr>
          <p:nvPr/>
        </p:nvSpPr>
        <p:spPr>
          <a:xfrm>
            <a:off x="7010400" y="4495800"/>
            <a:ext cx="3810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附上 Trace 后：引导判断切换原因，并给出下一步检查路径。</a:t>
            </a:r>
          </a:p>
        </p:txBody>
      </p:sp>
    </p:spTree>
    <p:extLst>
      <p:ext uri="{BB962C8B-B14F-4D97-AF65-F5344CB8AC3E}">
        <p14:creationId xmlns:p14="http://schemas.microsoft.com/office/powerpoint/2010/main" val="1558180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0E9854FB-3381-4773-A152-8366316A2D85}"/>
              </a:ext>
            </a:extLst>
          </p:cNvPr>
          <p:cNvSpPr>
            <a:spLocks noGrp="1"/>
          </p:cNvSpPr>
          <p:nvPr/>
        </p:nvSpPr>
        <p:spPr>
          <a:xfrm>
            <a:off x="533400" y="476250"/>
            <a:ext cx="57150" cy="11049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64DD17D-56DD-47E6-9D97-764C6EF5EAFE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762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07 · AI 双 Agent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9A160CA-3AC6-4E2E-B299-2883BE88E384}"/>
              </a:ext>
            </a:extLst>
          </p:cNvPr>
          <p:cNvSpPr>
            <a:spLocks noGrp="1"/>
          </p:cNvSpPr>
          <p:nvPr/>
        </p:nvSpPr>
        <p:spPr>
          <a:xfrm>
            <a:off x="742950" y="800100"/>
            <a:ext cx="10287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双</a:t>
            </a:r>
            <a:r>
              <a:rPr lang="en-US" altLang="zh-CN"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Agent</a:t>
            </a:r>
            <a:r>
              <a:rPr lang="zh-CN" altLang="en-US"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并行辅助</a:t>
            </a:r>
            <a:endParaRPr sz="3450" b="1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4EB7636-F5DB-4EDF-B5C5-7ED139019939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10820400" cy="9525"/>
          </a:xfrm>
          <a:prstGeom prst="roundRect">
            <a:avLst>
              <a:gd name="adj" fmla="val 0"/>
            </a:avLst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A9CEB0C-2119-4AF1-9D46-E4FD2011EC82}"/>
              </a:ext>
            </a:extLst>
          </p:cNvPr>
          <p:cNvSpPr>
            <a:spLocks noGrp="1"/>
          </p:cNvSpPr>
          <p:nvPr/>
        </p:nvSpPr>
        <p:spPr>
          <a:xfrm>
            <a:off x="685800" y="65151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EVOLVE 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54B3D80-495E-4300-9D76-CCB2BB348633}"/>
              </a:ext>
            </a:extLst>
          </p:cNvPr>
          <p:cNvSpPr>
            <a:spLocks noGrp="1"/>
          </p:cNvSpPr>
          <p:nvPr/>
        </p:nvSpPr>
        <p:spPr>
          <a:xfrm>
            <a:off x="10287000" y="651510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15 / 22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DD8C8BD-6E89-4227-A698-C000CB9C658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5143500" cy="2857500"/>
          </a:xfrm>
          <a:prstGeom prst="roundRect">
            <a:avLst>
              <a:gd name="adj" fmla="val 3333"/>
            </a:avLst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7F1E91A-8A50-4AE7-A2DB-5387700D4B78}"/>
              </a:ext>
            </a:extLst>
          </p:cNvPr>
          <p:cNvSpPr>
            <a:spLocks noGrp="1"/>
          </p:cNvSpPr>
          <p:nvPr/>
        </p:nvSpPr>
        <p:spPr>
          <a:xfrm>
            <a:off x="971550" y="2324100"/>
            <a:ext cx="4572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1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AI Tutor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DB06AF9-47B5-4585-9F59-06AA0987273C}"/>
              </a:ext>
            </a:extLst>
          </p:cNvPr>
          <p:cNvSpPr>
            <a:spLocks noGrp="1"/>
          </p:cNvSpPr>
          <p:nvPr/>
        </p:nvSpPr>
        <p:spPr>
          <a:xfrm>
            <a:off x="971550" y="2819400"/>
            <a:ext cx="4572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55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容错，鼓励试错</a:t>
            </a:r>
          </a:p>
          <a:p>
            <a:pPr algn="l">
              <a:lnSpc>
                <a:spcPct val="155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促成判断、观察、假设、验证、迁移</a:t>
            </a:r>
          </a:p>
          <a:p>
            <a:pPr algn="l">
              <a:lnSpc>
                <a:spcPct val="155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不输出完整答案，不拥有最终裁决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B303C59A-D9FE-4158-9BC7-D33EAFA31BE1}"/>
              </a:ext>
            </a:extLst>
          </p:cNvPr>
          <p:cNvSpPr>
            <a:spLocks noGrp="1"/>
          </p:cNvSpPr>
          <p:nvPr/>
        </p:nvSpPr>
        <p:spPr>
          <a:xfrm>
            <a:off x="6096000" y="2057400"/>
            <a:ext cx="5410200" cy="2857500"/>
          </a:xfrm>
          <a:prstGeom prst="roundRect">
            <a:avLst>
              <a:gd name="adj" fmla="val 3333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D5BE411-46DD-4AAB-B323-8650F24D98FE}"/>
              </a:ext>
            </a:extLst>
          </p:cNvPr>
          <p:cNvSpPr>
            <a:spLocks noGrp="1"/>
          </p:cNvSpPr>
          <p:nvPr/>
        </p:nvSpPr>
        <p:spPr>
          <a:xfrm>
            <a:off x="6381750" y="2324100"/>
            <a:ext cx="48387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1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AI Assessment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7F90ED5-B704-4FEB-A9D4-410CD3E9CE03}"/>
              </a:ext>
            </a:extLst>
          </p:cNvPr>
          <p:cNvSpPr>
            <a:spLocks noGrp="1"/>
          </p:cNvSpPr>
          <p:nvPr/>
        </p:nvSpPr>
        <p:spPr>
          <a:xfrm>
            <a:off x="6381750" y="2819400"/>
            <a:ext cx="48387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55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稳定、可复现地评价学习过程</a:t>
            </a:r>
          </a:p>
          <a:p>
            <a:pPr algn="l">
              <a:lnSpc>
                <a:spcPct val="155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输入学习事件、可信 run、报告与 Tutor 对话</a:t>
            </a:r>
          </a:p>
          <a:p>
            <a:pPr algn="l">
              <a:lnSpc>
                <a:spcPct val="155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无证据项显示“未观察到”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BFC1ED8-1D20-4904-B8E2-AA9A5ED3B950}"/>
              </a:ext>
            </a:extLst>
          </p:cNvPr>
          <p:cNvSpPr>
            <a:spLocks noGrp="1"/>
          </p:cNvSpPr>
          <p:nvPr/>
        </p:nvSpPr>
        <p:spPr>
          <a:xfrm>
            <a:off x="685800" y="5219700"/>
            <a:ext cx="10820400" cy="838200"/>
          </a:xfrm>
          <a:prstGeom prst="roundRect">
            <a:avLst>
              <a:gd name="adj" fmla="val 11364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A8D9653-A383-44A5-8EF2-552EEB5829CD}"/>
              </a:ext>
            </a:extLst>
          </p:cNvPr>
          <p:cNvSpPr>
            <a:spLocks noGrp="1"/>
          </p:cNvSpPr>
          <p:nvPr/>
        </p:nvSpPr>
        <p:spPr>
          <a:xfrm>
            <a:off x="952500" y="5219700"/>
            <a:ext cx="102870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650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rPr>
              <a:t>同一个模型又引导又打分 → 自我评价污染；教学对话可创造，成绩必须可审计、可申诉、可复算。</a:t>
            </a:r>
          </a:p>
        </p:txBody>
      </p:sp>
    </p:spTree>
    <p:extLst>
      <p:ext uri="{BB962C8B-B14F-4D97-AF65-F5344CB8AC3E}">
        <p14:creationId xmlns:p14="http://schemas.microsoft.com/office/powerpoint/2010/main" val="16986777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3FA45F0-2A46-4CAD-BE4F-E8A0F8A1093F}"/>
              </a:ext>
            </a:extLst>
          </p:cNvPr>
          <p:cNvSpPr>
            <a:spLocks noGrp="1"/>
          </p:cNvSpPr>
          <p:nvPr/>
        </p:nvSpPr>
        <p:spPr>
          <a:xfrm>
            <a:off x="533400" y="476250"/>
            <a:ext cx="57150" cy="11049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D20ABA8-0222-4441-B030-8F1905D59324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762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08 · AI 评价与复核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DCF50AE-697B-48DE-84C4-9E5EDE8B42A3}"/>
              </a:ext>
            </a:extLst>
          </p:cNvPr>
          <p:cNvSpPr>
            <a:spLocks noGrp="1"/>
          </p:cNvSpPr>
          <p:nvPr/>
        </p:nvSpPr>
        <p:spPr>
          <a:xfrm>
            <a:off x="742950" y="800100"/>
            <a:ext cx="10287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如何评价学生的学习效果</a:t>
            </a:r>
            <a:endParaRPr sz="3450" b="1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456058D4-00EF-4F0D-BE30-5EBFEDC5438B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10820400" cy="9525"/>
          </a:xfrm>
          <a:prstGeom prst="roundRect">
            <a:avLst>
              <a:gd name="adj" fmla="val 0"/>
            </a:avLst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EADDA1F-91F4-40CD-8A48-9DE5B38D007A}"/>
              </a:ext>
            </a:extLst>
          </p:cNvPr>
          <p:cNvSpPr>
            <a:spLocks noGrp="1"/>
          </p:cNvSpPr>
          <p:nvPr/>
        </p:nvSpPr>
        <p:spPr>
          <a:xfrm>
            <a:off x="685800" y="65151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EVOLVE 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38EEB07-BA6F-4087-9988-0A6911FADCF6}"/>
              </a:ext>
            </a:extLst>
          </p:cNvPr>
          <p:cNvSpPr>
            <a:spLocks noGrp="1"/>
          </p:cNvSpPr>
          <p:nvPr/>
        </p:nvSpPr>
        <p:spPr>
          <a:xfrm>
            <a:off x="10287000" y="651510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16 / 22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E6236AFE-1EAA-405C-8BE9-581DEFE065A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4953000" cy="3143250"/>
          </a:xfrm>
          <a:prstGeom prst="roundRect">
            <a:avLst>
              <a:gd name="adj" fmla="val 303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504BAFB-9AA3-4973-A79E-E76C2AB6B5E6}"/>
              </a:ext>
            </a:extLst>
          </p:cNvPr>
          <p:cNvSpPr>
            <a:spLocks noGrp="1"/>
          </p:cNvSpPr>
          <p:nvPr/>
        </p:nvSpPr>
        <p:spPr>
          <a:xfrm>
            <a:off x="971550" y="2324100"/>
            <a:ext cx="4381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total =</a:t>
            </a:r>
          </a:p>
          <a:p>
            <a:pPr algn="l">
              <a:lnSpc>
                <a:spcPct val="125000"/>
              </a:lnSpc>
              <a:buNone/>
              <a:defRPr sz="2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0.45 过程 + 0.35 结果 + 0.20 反思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31BD824-B48E-4081-96B6-79059F62EA4C}"/>
              </a:ext>
            </a:extLst>
          </p:cNvPr>
          <p:cNvSpPr>
            <a:spLocks noGrp="1"/>
          </p:cNvSpPr>
          <p:nvPr/>
        </p:nvSpPr>
        <p:spPr>
          <a:xfrm>
            <a:off x="971550" y="3501499"/>
            <a:ext cx="4381500" cy="43232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35000"/>
              </a:lnSpc>
              <a:buNone/>
              <a:def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14 个细项，每一项必须带证据引用。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34F1473-FD5E-4CF8-9218-158410BFEB86}"/>
              </a:ext>
            </a:extLst>
          </p:cNvPr>
          <p:cNvSpPr>
            <a:spLocks noGrp="1"/>
          </p:cNvSpPr>
          <p:nvPr/>
        </p:nvSpPr>
        <p:spPr>
          <a:xfrm>
            <a:off x="971550" y="3886200"/>
            <a:ext cx="4381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40000"/>
              </a:lnSpc>
              <a:buNone/>
              <a:defRPr sz="15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无证据项显示“未观察到”，禁止凭空给满分；重点看判断、假设、验证、迭代、反思与迁移。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7A004D4-7E4C-4483-885C-DC35EA4F4D04}"/>
              </a:ext>
            </a:extLst>
          </p:cNvPr>
          <p:cNvSpPr>
            <a:spLocks noGrp="1"/>
          </p:cNvSpPr>
          <p:nvPr/>
        </p:nvSpPr>
        <p:spPr>
          <a:xfrm>
            <a:off x="6096000" y="2057400"/>
            <a:ext cx="5410200" cy="70485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4ECCDA1-995B-451E-9779-8A5D34CD63C3}"/>
              </a:ext>
            </a:extLst>
          </p:cNvPr>
          <p:cNvSpPr>
            <a:spLocks noGrp="1"/>
          </p:cNvSpPr>
          <p:nvPr/>
        </p:nvSpPr>
        <p:spPr>
          <a:xfrm>
            <a:off x="6362700" y="215265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H1-H6 门控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136DF8C-FF0E-457C-90AF-73EB7678FAB1}"/>
              </a:ext>
            </a:extLst>
          </p:cNvPr>
          <p:cNvSpPr>
            <a:spLocks noGrp="1"/>
          </p:cNvSpPr>
          <p:nvPr/>
        </p:nvSpPr>
        <p:spPr>
          <a:xfrm>
            <a:off x="6362700" y="2438400"/>
            <a:ext cx="4876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2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结果满分但过程极低、Yield 断言存疑等风险自动进入复核。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A26E23F2-5019-48EC-9474-E56D32D2A39E}"/>
              </a:ext>
            </a:extLst>
          </p:cNvPr>
          <p:cNvSpPr>
            <a:spLocks noGrp="1"/>
          </p:cNvSpPr>
          <p:nvPr/>
        </p:nvSpPr>
        <p:spPr>
          <a:xfrm>
            <a:off x="6096000" y="2876550"/>
            <a:ext cx="5410200" cy="70485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12A99E3-15C5-4F25-9851-6072F41E7753}"/>
              </a:ext>
            </a:extLst>
          </p:cNvPr>
          <p:cNvSpPr>
            <a:spLocks noGrp="1"/>
          </p:cNvSpPr>
          <p:nvPr/>
        </p:nvSpPr>
        <p:spPr>
          <a:xfrm>
            <a:off x="6362700" y="297180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教师改分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8D741AB-2AE2-4572-93EE-EE08799EA102}"/>
              </a:ext>
            </a:extLst>
          </p:cNvPr>
          <p:cNvSpPr>
            <a:spLocks noGrp="1"/>
          </p:cNvSpPr>
          <p:nvPr/>
        </p:nvSpPr>
        <p:spPr>
          <a:xfrm>
            <a:off x="6362700" y="3257550"/>
            <a:ext cx="4876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2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保留原自动分、教师决定、理由与证据引用。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166B26D7-373B-4A99-A1D5-65EE9E7E47D4}"/>
              </a:ext>
            </a:extLst>
          </p:cNvPr>
          <p:cNvSpPr>
            <a:spLocks noGrp="1"/>
          </p:cNvSpPr>
          <p:nvPr/>
        </p:nvSpPr>
        <p:spPr>
          <a:xfrm>
            <a:off x="6096000" y="3695700"/>
            <a:ext cx="5410200" cy="70485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0A848A1-62D7-4BAA-894A-DB4E2157E0D7}"/>
              </a:ext>
            </a:extLst>
          </p:cNvPr>
          <p:cNvSpPr>
            <a:spLocks noGrp="1"/>
          </p:cNvSpPr>
          <p:nvPr/>
        </p:nvSpPr>
        <p:spPr>
          <a:xfrm>
            <a:off x="6362700" y="379095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申诉机制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F6F76F2-F1C9-4117-B296-B90915847462}"/>
              </a:ext>
            </a:extLst>
          </p:cNvPr>
          <p:cNvSpPr>
            <a:spLocks noGrp="1"/>
          </p:cNvSpPr>
          <p:nvPr/>
        </p:nvSpPr>
        <p:spPr>
          <a:xfrm>
            <a:off x="6362700" y="4076700"/>
            <a:ext cx="4876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2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学生申诉进入复核队列，教师拥有最终成绩裁决权。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F9F4B29D-6234-488D-91A8-5653DCC4157C}"/>
              </a:ext>
            </a:extLst>
          </p:cNvPr>
          <p:cNvSpPr>
            <a:spLocks noGrp="1"/>
          </p:cNvSpPr>
          <p:nvPr/>
        </p:nvSpPr>
        <p:spPr>
          <a:xfrm>
            <a:off x="6096000" y="4514850"/>
            <a:ext cx="5410200" cy="70485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9B0016C-0780-45DC-8F2A-96796FA8E74E}"/>
              </a:ext>
            </a:extLst>
          </p:cNvPr>
          <p:cNvSpPr>
            <a:spLocks noGrp="1"/>
          </p:cNvSpPr>
          <p:nvPr/>
        </p:nvSpPr>
        <p:spPr>
          <a:xfrm>
            <a:off x="6362700" y="461010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AI 定位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2358F7D-2766-420D-A29A-B9D048A13A5D}"/>
              </a:ext>
            </a:extLst>
          </p:cNvPr>
          <p:cNvSpPr>
            <a:spLocks noGrp="1"/>
          </p:cNvSpPr>
          <p:nvPr/>
        </p:nvSpPr>
        <p:spPr>
          <a:xfrm>
            <a:off x="6362700" y="4895850"/>
            <a:ext cx="4876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2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只提供带证据的量规建议，不直接给出最终成绩。</a:t>
            </a:r>
          </a:p>
        </p:txBody>
      </p:sp>
    </p:spTree>
    <p:extLst>
      <p:ext uri="{BB962C8B-B14F-4D97-AF65-F5344CB8AC3E}">
        <p14:creationId xmlns:p14="http://schemas.microsoft.com/office/powerpoint/2010/main" val="1908769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7088EE29-77D3-482A-8821-C0C4AAF57D65}"/>
              </a:ext>
            </a:extLst>
          </p:cNvPr>
          <p:cNvSpPr>
            <a:spLocks noGrp="1"/>
          </p:cNvSpPr>
          <p:nvPr/>
        </p:nvSpPr>
        <p:spPr>
          <a:xfrm>
            <a:off x="533400" y="476250"/>
            <a:ext cx="57150" cy="11049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99B46C1-34D2-467B-822A-C0B179DF5E9D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762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08 · 支撑系统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C6A2BD5-0A0C-4690-B6ED-703A17AC2DE0}"/>
              </a:ext>
            </a:extLst>
          </p:cNvPr>
          <p:cNvSpPr>
            <a:spLocks noGrp="1"/>
          </p:cNvSpPr>
          <p:nvPr/>
        </p:nvSpPr>
        <p:spPr>
          <a:xfrm>
            <a:off x="742950" y="800100"/>
            <a:ext cx="10287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受控知识库与可扩展的 Lab Factory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4C677A9-8016-4361-9B35-2FC52D411245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10820400" cy="9525"/>
          </a:xfrm>
          <a:prstGeom prst="roundRect">
            <a:avLst>
              <a:gd name="adj" fmla="val 0"/>
            </a:avLst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EBAB0C3-D6F4-466D-B82F-179E41740ADF}"/>
              </a:ext>
            </a:extLst>
          </p:cNvPr>
          <p:cNvSpPr>
            <a:spLocks noGrp="1"/>
          </p:cNvSpPr>
          <p:nvPr/>
        </p:nvSpPr>
        <p:spPr>
          <a:xfrm>
            <a:off x="685800" y="65151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EVOLVE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A8124CE-E2AF-40A1-BFE5-352D3BCB83AE}"/>
              </a:ext>
            </a:extLst>
          </p:cNvPr>
          <p:cNvSpPr>
            <a:spLocks noGrp="1"/>
          </p:cNvSpPr>
          <p:nvPr/>
        </p:nvSpPr>
        <p:spPr>
          <a:xfrm>
            <a:off x="10287000" y="651510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17 / 22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23349252-6BB8-4491-952A-5DCA58FB08A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5143500" cy="3143250"/>
          </a:xfrm>
          <a:prstGeom prst="roundRect">
            <a:avLst>
              <a:gd name="adj" fmla="val 3030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2FAFCCE-AD76-4294-8CEB-53326E5291E0}"/>
              </a:ext>
            </a:extLst>
          </p:cNvPr>
          <p:cNvSpPr>
            <a:spLocks noGrp="1"/>
          </p:cNvSpPr>
          <p:nvPr/>
        </p:nvSpPr>
        <p:spPr>
          <a:xfrm>
            <a:off x="971550" y="2324100"/>
            <a:ext cx="4572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知识库与 RAG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41289CB-EDD9-4689-B38C-4A812C567D1D}"/>
              </a:ext>
            </a:extLst>
          </p:cNvPr>
          <p:cNvSpPr>
            <a:spLocks noGrp="1"/>
          </p:cNvSpPr>
          <p:nvPr/>
        </p:nvSpPr>
        <p:spPr>
          <a:xfrm>
            <a:off x="971550" y="2857500"/>
            <a:ext cx="4572000" cy="2095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5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8 个 Source：Lab 手册、OSTEP、RISC-V Reader 等</a:t>
            </a:r>
          </a:p>
          <a:p>
            <a:pPr algn="l">
              <a:lnSpc>
                <a:spcPct val="15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多格式规范化 + 章节感知分块 + locator</a:t>
            </a:r>
          </a:p>
          <a:p>
            <a:pPr algn="l">
              <a:lnSpc>
                <a:spcPct val="15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FTS5 + 向量 + RRF 混合检索</a:t>
            </a:r>
          </a:p>
          <a:p>
            <a:pPr algn="l">
              <a:lnSpc>
                <a:spcPct val="15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Tutor 最多 5 chunk，公共层最多 2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EDF1BD5-019F-48D6-8467-A3CC0CE4CF34}"/>
              </a:ext>
            </a:extLst>
          </p:cNvPr>
          <p:cNvSpPr>
            <a:spLocks noGrp="1"/>
          </p:cNvSpPr>
          <p:nvPr/>
        </p:nvSpPr>
        <p:spPr>
          <a:xfrm>
            <a:off x="6096000" y="2057400"/>
            <a:ext cx="5410200" cy="3143250"/>
          </a:xfrm>
          <a:prstGeom prst="roundRect">
            <a:avLst>
              <a:gd name="adj" fmla="val 3030"/>
            </a:avLst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762ADEB-9C80-4568-80A6-3A2E010E1605}"/>
              </a:ext>
            </a:extLst>
          </p:cNvPr>
          <p:cNvSpPr>
            <a:spLocks noGrp="1"/>
          </p:cNvSpPr>
          <p:nvPr/>
        </p:nvSpPr>
        <p:spPr>
          <a:xfrm>
            <a:off x="6381750" y="2324100"/>
            <a:ext cx="48387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rPr>
              <a:t>Lab Factory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BFC0EBB-3AD2-476C-8BDF-C259381274C7}"/>
              </a:ext>
            </a:extLst>
          </p:cNvPr>
          <p:cNvSpPr>
            <a:spLocks noGrp="1"/>
          </p:cNvSpPr>
          <p:nvPr/>
        </p:nvSpPr>
        <p:spPr>
          <a:xfrm>
            <a:off x="6381750" y="2857500"/>
            <a:ext cx="990600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05966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558BEA9-CAB5-42AA-B45D-515646FF1688}"/>
              </a:ext>
            </a:extLst>
          </p:cNvPr>
          <p:cNvSpPr>
            <a:spLocks noGrp="1"/>
          </p:cNvSpPr>
          <p:nvPr/>
        </p:nvSpPr>
        <p:spPr>
          <a:xfrm>
            <a:off x="6381750" y="2857500"/>
            <a:ext cx="990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350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rPr>
              <a:t>lint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9B79960-2EE7-4FB7-90AF-E5C3A0335A2B}"/>
              </a:ext>
            </a:extLst>
          </p:cNvPr>
          <p:cNvSpPr>
            <a:spLocks noGrp="1"/>
          </p:cNvSpPr>
          <p:nvPr/>
        </p:nvSpPr>
        <p:spPr>
          <a:xfrm>
            <a:off x="7315200" y="2857500"/>
            <a:ext cx="323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D402746B-66B1-4CDD-8D61-37309FB2332F}"/>
              </a:ext>
            </a:extLst>
          </p:cNvPr>
          <p:cNvSpPr>
            <a:spLocks noGrp="1"/>
          </p:cNvSpPr>
          <p:nvPr/>
        </p:nvSpPr>
        <p:spPr>
          <a:xfrm>
            <a:off x="7543800" y="2857500"/>
            <a:ext cx="990600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05966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828B35F-CD27-45DD-938F-47B8E2484811}"/>
              </a:ext>
            </a:extLst>
          </p:cNvPr>
          <p:cNvSpPr>
            <a:spLocks noGrp="1"/>
          </p:cNvSpPr>
          <p:nvPr/>
        </p:nvSpPr>
        <p:spPr>
          <a:xfrm>
            <a:off x="7543800" y="2857500"/>
            <a:ext cx="990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350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rPr>
              <a:t>dry-run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2D4BB96-4F53-4676-ABA8-56B76D159B21}"/>
              </a:ext>
            </a:extLst>
          </p:cNvPr>
          <p:cNvSpPr>
            <a:spLocks noGrp="1"/>
          </p:cNvSpPr>
          <p:nvPr/>
        </p:nvSpPr>
        <p:spPr>
          <a:xfrm>
            <a:off x="8477250" y="2857500"/>
            <a:ext cx="323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516330E0-2136-4466-9EF1-F7282FF66F51}"/>
              </a:ext>
            </a:extLst>
          </p:cNvPr>
          <p:cNvSpPr>
            <a:spLocks noGrp="1"/>
          </p:cNvSpPr>
          <p:nvPr/>
        </p:nvSpPr>
        <p:spPr>
          <a:xfrm>
            <a:off x="8705850" y="2857500"/>
            <a:ext cx="990600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05966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58F0221-C9C6-4AE2-AA12-3E5D6320B73E}"/>
              </a:ext>
            </a:extLst>
          </p:cNvPr>
          <p:cNvSpPr>
            <a:spLocks noGrp="1"/>
          </p:cNvSpPr>
          <p:nvPr/>
        </p:nvSpPr>
        <p:spPr>
          <a:xfrm>
            <a:off x="8705850" y="2857500"/>
            <a:ext cx="990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350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rPr>
              <a:t>test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ACAE054-4753-443F-9965-A95D7CF193C8}"/>
              </a:ext>
            </a:extLst>
          </p:cNvPr>
          <p:cNvSpPr>
            <a:spLocks noGrp="1"/>
          </p:cNvSpPr>
          <p:nvPr/>
        </p:nvSpPr>
        <p:spPr>
          <a:xfrm>
            <a:off x="9639300" y="2857500"/>
            <a:ext cx="323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5D7A995-0EA5-4256-8AB6-CDDEE8547F3E}"/>
              </a:ext>
            </a:extLst>
          </p:cNvPr>
          <p:cNvSpPr>
            <a:spLocks noGrp="1"/>
          </p:cNvSpPr>
          <p:nvPr/>
        </p:nvSpPr>
        <p:spPr>
          <a:xfrm>
            <a:off x="9867900" y="2857500"/>
            <a:ext cx="990600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05966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D8FDF99-8911-48F8-A9EA-AABF96284B96}"/>
              </a:ext>
            </a:extLst>
          </p:cNvPr>
          <p:cNvSpPr>
            <a:spLocks noGrp="1"/>
          </p:cNvSpPr>
          <p:nvPr/>
        </p:nvSpPr>
        <p:spPr>
          <a:xfrm>
            <a:off x="9867900" y="2857500"/>
            <a:ext cx="990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350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rPr>
              <a:t>publish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01F59F7-A575-492C-AB2D-93FEB105908A}"/>
              </a:ext>
            </a:extLst>
          </p:cNvPr>
          <p:cNvSpPr>
            <a:spLocks noGrp="1"/>
          </p:cNvSpPr>
          <p:nvPr/>
        </p:nvSpPr>
        <p:spPr>
          <a:xfrm>
            <a:off x="6381750" y="3486150"/>
            <a:ext cx="483870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50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dry-run 在临时目录生成脚手架，不污染学生工作区</a:t>
            </a:r>
          </a:p>
          <a:p>
            <a:pPr algn="l">
              <a:lnSpc>
                <a:spcPct val="150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publish 必须引用成功测试并经教师显式批准</a:t>
            </a:r>
          </a:p>
          <a:p>
            <a:pPr algn="l">
              <a:lnSpc>
                <a:spcPct val="150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发布生成不可变 release 目录</a:t>
            </a:r>
          </a:p>
        </p:txBody>
      </p:sp>
    </p:spTree>
    <p:extLst>
      <p:ext uri="{BB962C8B-B14F-4D97-AF65-F5344CB8AC3E}">
        <p14:creationId xmlns:p14="http://schemas.microsoft.com/office/powerpoint/2010/main" val="18874182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55CB2C8D-827F-4D2F-9E65-FBB6DE82D8C4}"/>
              </a:ext>
            </a:extLst>
          </p:cNvPr>
          <p:cNvSpPr>
            <a:spLocks noGrp="1"/>
          </p:cNvSpPr>
          <p:nvPr/>
        </p:nvSpPr>
        <p:spPr>
          <a:xfrm>
            <a:off x="533400" y="476250"/>
            <a:ext cx="57150" cy="11049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913DF8D-B952-4EF6-9251-64635865EDD9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762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09 · 验证结果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1755DB4-0AED-42DC-B11C-EE910AC6076E}"/>
              </a:ext>
            </a:extLst>
          </p:cNvPr>
          <p:cNvSpPr>
            <a:spLocks noGrp="1"/>
          </p:cNvSpPr>
          <p:nvPr/>
        </p:nvSpPr>
        <p:spPr>
          <a:xfrm>
            <a:off x="742950" y="800100"/>
            <a:ext cx="10287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所有关键结论可复现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EACEC5A1-3552-4C7C-AD3C-21F3B85DAF9D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10820400" cy="9525"/>
          </a:xfrm>
          <a:prstGeom prst="roundRect">
            <a:avLst>
              <a:gd name="adj" fmla="val 0"/>
            </a:avLst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F3675E2-ADE4-4EEF-8941-B3FAC1C18978}"/>
              </a:ext>
            </a:extLst>
          </p:cNvPr>
          <p:cNvSpPr>
            <a:spLocks noGrp="1"/>
          </p:cNvSpPr>
          <p:nvPr/>
        </p:nvSpPr>
        <p:spPr>
          <a:xfrm>
            <a:off x="685800" y="65151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EVOLVE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8C8192B-6F44-40B7-BBAB-C781172BFB2D}"/>
              </a:ext>
            </a:extLst>
          </p:cNvPr>
          <p:cNvSpPr>
            <a:spLocks noGrp="1"/>
          </p:cNvSpPr>
          <p:nvPr/>
        </p:nvSpPr>
        <p:spPr>
          <a:xfrm>
            <a:off x="10287000" y="651510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18 / 22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D220179-CBA2-405E-93CE-A5709611C19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3333750" cy="1295400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4118505-4D11-401A-8B8A-597929C4FBB6}"/>
              </a:ext>
            </a:extLst>
          </p:cNvPr>
          <p:cNvSpPr>
            <a:spLocks noGrp="1"/>
          </p:cNvSpPr>
          <p:nvPr/>
        </p:nvSpPr>
        <p:spPr>
          <a:xfrm>
            <a:off x="914400" y="2247900"/>
            <a:ext cx="2876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98/98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F23C77C-D06B-4934-B76C-9B06AC1D2DA5}"/>
              </a:ext>
            </a:extLst>
          </p:cNvPr>
          <p:cNvSpPr>
            <a:spLocks noGrp="1"/>
          </p:cNvSpPr>
          <p:nvPr/>
        </p:nvSpPr>
        <p:spPr>
          <a:xfrm>
            <a:off x="914400" y="2762250"/>
            <a:ext cx="2876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参考练习 exercise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097AA17-6226-4330-9E57-94538116CA51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2876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base 61/61 同步通过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3E6BD155-5255-4920-B1E4-4E181E87D2E8}"/>
              </a:ext>
            </a:extLst>
          </p:cNvPr>
          <p:cNvSpPr>
            <a:spLocks noGrp="1"/>
          </p:cNvSpPr>
          <p:nvPr/>
        </p:nvSpPr>
        <p:spPr>
          <a:xfrm>
            <a:off x="4305300" y="2057400"/>
            <a:ext cx="3333750" cy="1295400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9C650FC-6387-4813-B381-88A63EF39ECC}"/>
              </a:ext>
            </a:extLst>
          </p:cNvPr>
          <p:cNvSpPr>
            <a:spLocks noGrp="1"/>
          </p:cNvSpPr>
          <p:nvPr/>
        </p:nvSpPr>
        <p:spPr>
          <a:xfrm>
            <a:off x="4533900" y="2247900"/>
            <a:ext cx="2876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Lab1-8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DF2CCF6-048D-42CB-AE08-492C757259E6}"/>
              </a:ext>
            </a:extLst>
          </p:cNvPr>
          <p:cNvSpPr>
            <a:spLocks noGrp="1"/>
          </p:cNvSpPr>
          <p:nvPr/>
        </p:nvSpPr>
        <p:spPr>
          <a:xfrm>
            <a:off x="4533900" y="2762250"/>
            <a:ext cx="2876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QEMU 全链回归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9E78E7E-7CAC-4ECF-B704-B55237FA290D}"/>
              </a:ext>
            </a:extLst>
          </p:cNvPr>
          <p:cNvSpPr>
            <a:spLocks noGrp="1"/>
          </p:cNvSpPr>
          <p:nvPr/>
        </p:nvSpPr>
        <p:spPr>
          <a:xfrm>
            <a:off x="4533900" y="3028950"/>
            <a:ext cx="2876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make test-labN 全通过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177426FF-A0CD-42EE-9D9E-628AC28B2E93}"/>
              </a:ext>
            </a:extLst>
          </p:cNvPr>
          <p:cNvSpPr>
            <a:spLocks noGrp="1"/>
          </p:cNvSpPr>
          <p:nvPr/>
        </p:nvSpPr>
        <p:spPr>
          <a:xfrm>
            <a:off x="7924800" y="2057400"/>
            <a:ext cx="3333750" cy="1295400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4C34F35-9BA7-465E-816B-085910FCBF76}"/>
              </a:ext>
            </a:extLst>
          </p:cNvPr>
          <p:cNvSpPr>
            <a:spLocks noGrp="1"/>
          </p:cNvSpPr>
          <p:nvPr/>
        </p:nvSpPr>
        <p:spPr>
          <a:xfrm>
            <a:off x="8153400" y="2247900"/>
            <a:ext cx="2876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40+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6A9F06A-B2C9-44D6-9D1E-ACA7FAE21769}"/>
              </a:ext>
            </a:extLst>
          </p:cNvPr>
          <p:cNvSpPr>
            <a:spLocks noGrp="1"/>
          </p:cNvSpPr>
          <p:nvPr/>
        </p:nvSpPr>
        <p:spPr>
          <a:xfrm>
            <a:off x="8153400" y="2762250"/>
            <a:ext cx="2876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host 单元测试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FDB27C8-C170-42E7-BED3-CE0E8E8A6C27}"/>
              </a:ext>
            </a:extLst>
          </p:cNvPr>
          <p:cNvSpPr>
            <a:spLocks noGrp="1"/>
          </p:cNvSpPr>
          <p:nvPr/>
        </p:nvSpPr>
        <p:spPr>
          <a:xfrm>
            <a:off x="8153400" y="3028950"/>
            <a:ext cx="2876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一期 24 项扩到 40+ 项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1A5AA44-168E-4321-8FFD-F8D34B5987EB}"/>
              </a:ext>
            </a:extLst>
          </p:cNvPr>
          <p:cNvSpPr>
            <a:spLocks noGrp="1"/>
          </p:cNvSpPr>
          <p:nvPr/>
        </p:nvSpPr>
        <p:spPr>
          <a:xfrm>
            <a:off x="685800" y="3543300"/>
            <a:ext cx="3333750" cy="1295400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92C5842-C867-4CE8-92F9-11EC25B06D3D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2876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97/97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2E9E62E-143A-42D6-B2C7-A3A18C3977A9}"/>
              </a:ext>
            </a:extLst>
          </p:cNvPr>
          <p:cNvSpPr>
            <a:spLocks noGrp="1"/>
          </p:cNvSpPr>
          <p:nvPr/>
        </p:nvSpPr>
        <p:spPr>
          <a:xfrm>
            <a:off x="914400" y="4248150"/>
            <a:ext cx="2876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npm test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ED82F0B-2CE9-40B7-891B-4A187584797C}"/>
              </a:ext>
            </a:extLst>
          </p:cNvPr>
          <p:cNvSpPr>
            <a:spLocks noGrp="1"/>
          </p:cNvSpPr>
          <p:nvPr/>
        </p:nvSpPr>
        <p:spPr>
          <a:xfrm>
            <a:off x="914400" y="4514850"/>
            <a:ext cx="2876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全部通过，含 Lab Factory 发布链路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A448C708-F507-405E-83EE-E3703DA7521D}"/>
              </a:ext>
            </a:extLst>
          </p:cNvPr>
          <p:cNvSpPr>
            <a:spLocks noGrp="1"/>
          </p:cNvSpPr>
          <p:nvPr/>
        </p:nvSpPr>
        <p:spPr>
          <a:xfrm>
            <a:off x="4305300" y="3543300"/>
            <a:ext cx="3333750" cy="1295400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754A0B3-0C4D-4C89-A39B-838BB9AB3D6F}"/>
              </a:ext>
            </a:extLst>
          </p:cNvPr>
          <p:cNvSpPr>
            <a:spLocks noGrp="1"/>
          </p:cNvSpPr>
          <p:nvPr/>
        </p:nvSpPr>
        <p:spPr>
          <a:xfrm>
            <a:off x="4533900" y="3733800"/>
            <a:ext cx="2876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34/34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79E6486-E38A-4360-A4A5-129328DF2664}"/>
              </a:ext>
            </a:extLst>
          </p:cNvPr>
          <p:cNvSpPr>
            <a:spLocks noGrp="1"/>
          </p:cNvSpPr>
          <p:nvPr/>
        </p:nvSpPr>
        <p:spPr>
          <a:xfrm>
            <a:off x="4533900" y="4248150"/>
            <a:ext cx="2876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Tutor Harness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501A09F-FFF8-4325-9E86-2BB24998AA6D}"/>
              </a:ext>
            </a:extLst>
          </p:cNvPr>
          <p:cNvSpPr>
            <a:spLocks noGrp="1"/>
          </p:cNvSpPr>
          <p:nvPr/>
        </p:nvSpPr>
        <p:spPr>
          <a:xfrm>
            <a:off x="4533900" y="4514850"/>
            <a:ext cx="2876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答案泄漏率 0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BD7FAE51-5736-4B44-BD33-09102F07955F}"/>
              </a:ext>
            </a:extLst>
          </p:cNvPr>
          <p:cNvSpPr>
            <a:spLocks noGrp="1"/>
          </p:cNvSpPr>
          <p:nvPr/>
        </p:nvSpPr>
        <p:spPr>
          <a:xfrm>
            <a:off x="7924800" y="3543300"/>
            <a:ext cx="3333750" cy="1295400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64692C7-0CF3-454A-87DB-747AF178D773}"/>
              </a:ext>
            </a:extLst>
          </p:cNvPr>
          <p:cNvSpPr>
            <a:spLocks noGrp="1"/>
          </p:cNvSpPr>
          <p:nvPr/>
        </p:nvSpPr>
        <p:spPr>
          <a:xfrm>
            <a:off x="8153400" y="3733800"/>
            <a:ext cx="2876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94 / 96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1794E5D-BFDA-467D-9538-4132028D6AEC}"/>
              </a:ext>
            </a:extLst>
          </p:cNvPr>
          <p:cNvSpPr>
            <a:spLocks noGrp="1"/>
          </p:cNvSpPr>
          <p:nvPr/>
        </p:nvSpPr>
        <p:spPr>
          <a:xfrm>
            <a:off x="8153400" y="4248150"/>
            <a:ext cx="2876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离线 / 真实模型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9CFF8E0-B1ED-4C05-9883-477358C57736}"/>
              </a:ext>
            </a:extLst>
          </p:cNvPr>
          <p:cNvSpPr>
            <a:spLocks noGrp="1"/>
          </p:cNvSpPr>
          <p:nvPr/>
        </p:nvSpPr>
        <p:spPr>
          <a:xfrm>
            <a:off x="8153400" y="4514850"/>
            <a:ext cx="2876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口径不同，不可直接比较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4F9D0A0-130B-46D2-9B5A-B0FBBB40B43E}"/>
              </a:ext>
            </a:extLst>
          </p:cNvPr>
          <p:cNvSpPr>
            <a:spLocks noGrp="1"/>
          </p:cNvSpPr>
          <p:nvPr/>
        </p:nvSpPr>
        <p:spPr>
          <a:xfrm>
            <a:off x="685800" y="5219700"/>
            <a:ext cx="10820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35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离线全链路综合 94 与真实模型一轮综合 96 使用不同语料/评分代次；结果全部绑定命令、fixture 与版本记录，可重新运行验证。</a:t>
            </a:r>
          </a:p>
        </p:txBody>
      </p:sp>
    </p:spTree>
    <p:extLst>
      <p:ext uri="{BB962C8B-B14F-4D97-AF65-F5344CB8AC3E}">
        <p14:creationId xmlns:p14="http://schemas.microsoft.com/office/powerpoint/2010/main" val="15355830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: 圆角 8">
            <a:extLst>
              <a:ext uri="{FF2B5EF4-FFF2-40B4-BE49-F238E27FC236}">
                <a16:creationId xmlns:a16="http://schemas.microsoft.com/office/drawing/2014/main" id="{4E910EBD-39E5-4D90-8D85-6116D22A949B}"/>
              </a:ext>
            </a:extLst>
          </p:cNvPr>
          <p:cNvSpPr>
            <a:spLocks noGrp="1"/>
          </p:cNvSpPr>
          <p:nvPr/>
        </p:nvSpPr>
        <p:spPr>
          <a:xfrm>
            <a:off x="533400" y="476250"/>
            <a:ext cx="57150" cy="11049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BF61C3B-5A31-48D6-94A8-13D1DB45ED64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762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10 · 对比与定位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F532349-0D2C-41F2-8A46-0FFBFD57D8A5}"/>
              </a:ext>
            </a:extLst>
          </p:cNvPr>
          <p:cNvSpPr>
            <a:spLocks noGrp="1"/>
          </p:cNvSpPr>
          <p:nvPr/>
        </p:nvSpPr>
        <p:spPr>
          <a:xfrm>
            <a:off x="742950" y="800100"/>
            <a:ext cx="10287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差异化互补，不是替代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D497772-64D4-4AB2-B5A7-768CA607FEAD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10820400" cy="9525"/>
          </a:xfrm>
          <a:prstGeom prst="roundRect">
            <a:avLst>
              <a:gd name="adj" fmla="val 0"/>
            </a:avLst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5FC58FF-B79E-4EB4-BF1B-4F0807986AE9}"/>
              </a:ext>
            </a:extLst>
          </p:cNvPr>
          <p:cNvSpPr>
            <a:spLocks noGrp="1"/>
          </p:cNvSpPr>
          <p:nvPr/>
        </p:nvSpPr>
        <p:spPr>
          <a:xfrm>
            <a:off x="685800" y="65151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EVOLVE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9DB5222-18FA-4496-B11A-56762BC2B3E8}"/>
              </a:ext>
            </a:extLst>
          </p:cNvPr>
          <p:cNvSpPr>
            <a:spLocks noGrp="1"/>
          </p:cNvSpPr>
          <p:nvPr/>
        </p:nvSpPr>
        <p:spPr>
          <a:xfrm>
            <a:off x="10287000" y="651510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19 / 22</a:t>
            </a:r>
          </a:p>
        </p:txBody>
      </p:sp>
      <p:graphicFrame>
        <p:nvGraphicFramePr>
          <p:cNvPr id="15" name="表格 14"/>
          <p:cNvGraphicFramePr/>
          <p:nvPr>
            <p:extLst>
              <p:ext uri="{D42A27DB-BD31-4B8C-83A1-F6EECF244321}">
                <p14:modId xmlns:p14="http://schemas.microsoft.com/office/powerpoint/2010/main" val="987300932"/>
              </p:ext>
            </p:extLst>
          </p:nvPr>
        </p:nvGraphicFramePr>
        <p:xfrm>
          <a:off x="685800" y="2057400"/>
          <a:ext cx="10820400" cy="3143250"/>
        </p:xfrm>
        <a:graphic>
          <a:graphicData uri="http://schemas.openxmlformats.org/drawingml/2006/table">
            <a:tbl>
              <a:tblPr/>
              <a:tblGrid>
                <a:gridCol w="209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05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</a:p>
                  </a:txBody>
                  <a:tcPr marL="152400" marR="114300" marT="76200" marB="762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EVOLVE</a:t>
                      </a:r>
                      <a:endParaRPr sz="1500" b="1">
                        <a:solidFill>
                          <a:srgbClr val="FFFFFF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marL="152400" marR="114300" marT="76200" marB="76200" anchor="ctr"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tg-rcore-tutorial</a:t>
                      </a:r>
                    </a:p>
                  </a:txBody>
                  <a:tcPr marL="152400" marR="114300" marT="76200" marB="762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xv6-riscv</a:t>
                      </a:r>
                    </a:p>
                  </a:txBody>
                  <a:tcPr marL="152400" marR="114300" marT="76200" marB="76200"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语言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Rust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Rust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架构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单内核 + feature gate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个独立内核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单一源码树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组件化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crate / 2 层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 crate / 4 层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 crate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代码量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8353 行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36455 行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内核 6000-8000 行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定位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低门槛教学闭环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赛题参照物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经典成熟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3409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BFD159E1-0F86-4677-A530-E8F69127633B}"/>
              </a:ext>
            </a:extLst>
          </p:cNvPr>
          <p:cNvSpPr>
            <a:spLocks noGrp="1"/>
          </p:cNvSpPr>
          <p:nvPr/>
        </p:nvSpPr>
        <p:spPr>
          <a:xfrm>
            <a:off x="533400" y="476250"/>
            <a:ext cx="57150" cy="11049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217C93A-69CA-4104-B511-2F4A0710A879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762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11 · 创新点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18D0CC4-5497-4B89-973F-AB1AF02DE746}"/>
              </a:ext>
            </a:extLst>
          </p:cNvPr>
          <p:cNvSpPr>
            <a:spLocks noGrp="1"/>
          </p:cNvSpPr>
          <p:nvPr/>
        </p:nvSpPr>
        <p:spPr>
          <a:xfrm>
            <a:off x="742950" y="800100"/>
            <a:ext cx="10287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八个创新点，三类价值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1FE04DB-944D-4F1C-9122-F0881E2EFC2F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10820400" cy="9525"/>
          </a:xfrm>
          <a:prstGeom prst="roundRect">
            <a:avLst>
              <a:gd name="adj" fmla="val 0"/>
            </a:avLst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D669547-2BB5-4AB6-9988-9DD4CE96671C}"/>
              </a:ext>
            </a:extLst>
          </p:cNvPr>
          <p:cNvSpPr>
            <a:spLocks noGrp="1"/>
          </p:cNvSpPr>
          <p:nvPr/>
        </p:nvSpPr>
        <p:spPr>
          <a:xfrm>
            <a:off x="685800" y="65151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EVOLVE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06FD1F2-C452-42D2-99AE-9667CBE32FF1}"/>
              </a:ext>
            </a:extLst>
          </p:cNvPr>
          <p:cNvSpPr>
            <a:spLocks noGrp="1"/>
          </p:cNvSpPr>
          <p:nvPr/>
        </p:nvSpPr>
        <p:spPr>
          <a:xfrm>
            <a:off x="10287000" y="651510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20 / 22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EA01EAA4-DDD2-4114-8725-03D58D228576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1768508-5B3D-4C8F-B28A-25CFE7B73A1D}"/>
              </a:ext>
            </a:extLst>
          </p:cNvPr>
          <p:cNvSpPr>
            <a:spLocks noGrp="1"/>
          </p:cNvSpPr>
          <p:nvPr/>
        </p:nvSpPr>
        <p:spPr>
          <a:xfrm>
            <a:off x="685800" y="213360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FF1E3C9-B7C6-4681-AC19-58BD3D9D9682}"/>
              </a:ext>
            </a:extLst>
          </p:cNvPr>
          <p:cNvSpPr>
            <a:spLocks noGrp="1"/>
          </p:cNvSpPr>
          <p:nvPr/>
        </p:nvSpPr>
        <p:spPr>
          <a:xfrm>
            <a:off x="1238250" y="2152650"/>
            <a:ext cx="438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渐进式单内核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A171ACA2-3E17-4C86-AE64-A69B173D2B57}"/>
              </a:ext>
            </a:extLst>
          </p:cNvPr>
          <p:cNvSpPr>
            <a:spLocks noGrp="1"/>
          </p:cNvSpPr>
          <p:nvPr/>
        </p:nvSpPr>
        <p:spPr>
          <a:xfrm>
            <a:off x="685800" y="283845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6FA0AA5-3176-45F5-B721-5A5C604ABBCD}"/>
              </a:ext>
            </a:extLst>
          </p:cNvPr>
          <p:cNvSpPr>
            <a:spLocks noGrp="1"/>
          </p:cNvSpPr>
          <p:nvPr/>
        </p:nvSpPr>
        <p:spPr>
          <a:xfrm>
            <a:off x="685800" y="287655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8C2EF3F-2BB3-4C38-B570-77A1072DBEE5}"/>
              </a:ext>
            </a:extLst>
          </p:cNvPr>
          <p:cNvSpPr>
            <a:spLocks noGrp="1"/>
          </p:cNvSpPr>
          <p:nvPr/>
        </p:nvSpPr>
        <p:spPr>
          <a:xfrm>
            <a:off x="1238250" y="2895600"/>
            <a:ext cx="438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精简组件化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B15152B0-0915-4E85-A6D0-9E51C07DC1E3}"/>
              </a:ext>
            </a:extLst>
          </p:cNvPr>
          <p:cNvSpPr>
            <a:spLocks noGrp="1"/>
          </p:cNvSpPr>
          <p:nvPr/>
        </p:nvSpPr>
        <p:spPr>
          <a:xfrm>
            <a:off x="685800" y="358140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3D93AB9-27E6-40B9-AE39-4C230B41EC2E}"/>
              </a:ext>
            </a:extLst>
          </p:cNvPr>
          <p:cNvSpPr>
            <a:spLocks noGrp="1"/>
          </p:cNvSpPr>
          <p:nvPr/>
        </p:nvSpPr>
        <p:spPr>
          <a:xfrm>
            <a:off x="685800" y="361950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0C6A63D-FC90-4959-B79F-B58043D7CCDF}"/>
              </a:ext>
            </a:extLst>
          </p:cNvPr>
          <p:cNvSpPr>
            <a:spLocks noGrp="1"/>
          </p:cNvSpPr>
          <p:nvPr/>
        </p:nvSpPr>
        <p:spPr>
          <a:xfrm>
            <a:off x="1238250" y="3638550"/>
            <a:ext cx="438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内嵌测试与可信证据链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3068BD1E-7DB2-4D89-9228-C93B6E60E2BB}"/>
              </a:ext>
            </a:extLst>
          </p:cNvPr>
          <p:cNvSpPr>
            <a:spLocks noGrp="1"/>
          </p:cNvSpPr>
          <p:nvPr/>
        </p:nvSpPr>
        <p:spPr>
          <a:xfrm>
            <a:off x="685800" y="432435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6E8797D-7FA6-486B-909C-EA8EFA3E9017}"/>
              </a:ext>
            </a:extLst>
          </p:cNvPr>
          <p:cNvSpPr>
            <a:spLocks noGrp="1"/>
          </p:cNvSpPr>
          <p:nvPr/>
        </p:nvSpPr>
        <p:spPr>
          <a:xfrm>
            <a:off x="685800" y="436245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1AF44C2-99A1-4F67-8C89-E48BB17DE65C}"/>
              </a:ext>
            </a:extLst>
          </p:cNvPr>
          <p:cNvSpPr>
            <a:spLocks noGrp="1"/>
          </p:cNvSpPr>
          <p:nvPr/>
        </p:nvSpPr>
        <p:spPr>
          <a:xfrm>
            <a:off x="1238250" y="4381500"/>
            <a:ext cx="438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问题驱动文档 + AI 协作模板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A094AE3-2E7D-4029-A13D-F75DF5DAA36A}"/>
              </a:ext>
            </a:extLst>
          </p:cNvPr>
          <p:cNvSpPr>
            <a:spLocks noGrp="1"/>
          </p:cNvSpPr>
          <p:nvPr/>
        </p:nvSpPr>
        <p:spPr>
          <a:xfrm>
            <a:off x="6019800" y="209550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DEBCA8A-5CD8-4374-8B47-0D31C682B794}"/>
              </a:ext>
            </a:extLst>
          </p:cNvPr>
          <p:cNvSpPr>
            <a:spLocks noGrp="1"/>
          </p:cNvSpPr>
          <p:nvPr/>
        </p:nvSpPr>
        <p:spPr>
          <a:xfrm>
            <a:off x="6019800" y="213360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ECF8422-7098-4870-AC26-2A2030DDE4DF}"/>
              </a:ext>
            </a:extLst>
          </p:cNvPr>
          <p:cNvSpPr>
            <a:spLocks noGrp="1"/>
          </p:cNvSpPr>
          <p:nvPr/>
        </p:nvSpPr>
        <p:spPr>
          <a:xfrm>
            <a:off x="6572250" y="2152650"/>
            <a:ext cx="438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AI 双 Agent 评价闭环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2E5D7A5-6E7B-4AC6-94A0-A8537E90F004}"/>
              </a:ext>
            </a:extLst>
          </p:cNvPr>
          <p:cNvSpPr>
            <a:spLocks noGrp="1"/>
          </p:cNvSpPr>
          <p:nvPr/>
        </p:nvSpPr>
        <p:spPr>
          <a:xfrm>
            <a:off x="6019800" y="283845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2966571-4F70-49EA-BDA5-0FD41234F5B4}"/>
              </a:ext>
            </a:extLst>
          </p:cNvPr>
          <p:cNvSpPr>
            <a:spLocks noGrp="1"/>
          </p:cNvSpPr>
          <p:nvPr/>
        </p:nvSpPr>
        <p:spPr>
          <a:xfrm>
            <a:off x="6019800" y="287655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159C97B-0604-4ECD-A19B-AE0944698BCA}"/>
              </a:ext>
            </a:extLst>
          </p:cNvPr>
          <p:cNvSpPr>
            <a:spLocks noGrp="1"/>
          </p:cNvSpPr>
          <p:nvPr/>
        </p:nvSpPr>
        <p:spPr>
          <a:xfrm>
            <a:off x="6572250" y="2895600"/>
            <a:ext cx="438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可进课堂的教学管理系统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F051D1B5-C6AD-4A5E-9D35-318620F81F11}"/>
              </a:ext>
            </a:extLst>
          </p:cNvPr>
          <p:cNvSpPr>
            <a:spLocks noGrp="1"/>
          </p:cNvSpPr>
          <p:nvPr/>
        </p:nvSpPr>
        <p:spPr>
          <a:xfrm>
            <a:off x="6019800" y="358140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F886DD0-2B1A-4BCB-8B79-251DBE4FD16A}"/>
              </a:ext>
            </a:extLst>
          </p:cNvPr>
          <p:cNvSpPr>
            <a:spLocks noGrp="1"/>
          </p:cNvSpPr>
          <p:nvPr/>
        </p:nvSpPr>
        <p:spPr>
          <a:xfrm>
            <a:off x="6019800" y="361950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8449667-AD03-450C-A721-3CFF4CC61F7F}"/>
              </a:ext>
            </a:extLst>
          </p:cNvPr>
          <p:cNvSpPr>
            <a:spLocks noGrp="1"/>
          </p:cNvSpPr>
          <p:nvPr/>
        </p:nvSpPr>
        <p:spPr>
          <a:xfrm>
            <a:off x="6572250" y="3638550"/>
            <a:ext cx="438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RAG 受控知识检索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EC4B7CE4-D929-4DE3-A2C7-061612E215ED}"/>
              </a:ext>
            </a:extLst>
          </p:cNvPr>
          <p:cNvSpPr>
            <a:spLocks noGrp="1"/>
          </p:cNvSpPr>
          <p:nvPr/>
        </p:nvSpPr>
        <p:spPr>
          <a:xfrm>
            <a:off x="6019800" y="432435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0B90AC2-4C26-4754-9ED3-08AE518B2042}"/>
              </a:ext>
            </a:extLst>
          </p:cNvPr>
          <p:cNvSpPr>
            <a:spLocks noGrp="1"/>
          </p:cNvSpPr>
          <p:nvPr/>
        </p:nvSpPr>
        <p:spPr>
          <a:xfrm>
            <a:off x="6019800" y="436245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F98E6BD-77D8-483F-8883-32A6A1209CD6}"/>
              </a:ext>
            </a:extLst>
          </p:cNvPr>
          <p:cNvSpPr>
            <a:spLocks noGrp="1"/>
          </p:cNvSpPr>
          <p:nvPr/>
        </p:nvSpPr>
        <p:spPr>
          <a:xfrm>
            <a:off x="6572250" y="4381500"/>
            <a:ext cx="438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Lab Factory 教师自建实验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FA028D3F-0326-4AA4-B155-B18294031FED}"/>
              </a:ext>
            </a:extLst>
          </p:cNvPr>
          <p:cNvSpPr>
            <a:spLocks noGrp="1"/>
          </p:cNvSpPr>
          <p:nvPr/>
        </p:nvSpPr>
        <p:spPr>
          <a:xfrm>
            <a:off x="685800" y="5181600"/>
            <a:ext cx="10820400" cy="838200"/>
          </a:xfrm>
          <a:prstGeom prst="roundRect">
            <a:avLst>
              <a:gd name="adj" fmla="val 1136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1405486-C11F-43D2-B282-2D99FE893F0C}"/>
              </a:ext>
            </a:extLst>
          </p:cNvPr>
          <p:cNvSpPr>
            <a:spLocks noGrp="1"/>
          </p:cNvSpPr>
          <p:nvPr/>
        </p:nvSpPr>
        <p:spPr>
          <a:xfrm>
            <a:off x="952500" y="5181600"/>
            <a:ext cx="102870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学生价值：低门槛、清晰脉络、学会与 AI 协作；教师价值：可管理、可复核；评委价值：可复现、可审计。</a:t>
            </a:r>
          </a:p>
        </p:txBody>
      </p:sp>
    </p:spTree>
    <p:extLst>
      <p:ext uri="{BB962C8B-B14F-4D97-AF65-F5344CB8AC3E}">
        <p14:creationId xmlns:p14="http://schemas.microsoft.com/office/powerpoint/2010/main" val="15346564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560EC431-2BBE-4D17-8A3F-2631E1BCCC3E}"/>
              </a:ext>
            </a:extLst>
          </p:cNvPr>
          <p:cNvSpPr>
            <a:spLocks noGrp="1"/>
          </p:cNvSpPr>
          <p:nvPr/>
        </p:nvSpPr>
        <p:spPr>
          <a:xfrm>
            <a:off x="533400" y="476250"/>
            <a:ext cx="57150" cy="11049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4AA3E32-1F7F-4F84-BC47-3CCF6D3428C1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762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12 · 边界与下一步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E834079-D8EF-40A8-A28B-B8BE946743B1}"/>
              </a:ext>
            </a:extLst>
          </p:cNvPr>
          <p:cNvSpPr>
            <a:spLocks noGrp="1"/>
          </p:cNvSpPr>
          <p:nvPr/>
        </p:nvSpPr>
        <p:spPr>
          <a:xfrm>
            <a:off x="742950" y="800100"/>
            <a:ext cx="10287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当前局限</a:t>
            </a: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与</a:t>
            </a:r>
            <a:r>
              <a:rPr lang="zh-CN" altLang="en-US"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优化计划</a:t>
            </a:r>
            <a:endParaRPr sz="3450" b="1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D220F13-3761-47D4-AFCF-B18B4DA324D0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10820400" cy="9525"/>
          </a:xfrm>
          <a:prstGeom prst="roundRect">
            <a:avLst>
              <a:gd name="adj" fmla="val 0"/>
            </a:avLst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4827165-4C4D-4331-BF9E-F9EDA1C51CBA}"/>
              </a:ext>
            </a:extLst>
          </p:cNvPr>
          <p:cNvSpPr>
            <a:spLocks noGrp="1"/>
          </p:cNvSpPr>
          <p:nvPr/>
        </p:nvSpPr>
        <p:spPr>
          <a:xfrm>
            <a:off x="685800" y="65151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EVOLVE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F17A4D7-6060-4AFB-B275-3E26AE3785C6}"/>
              </a:ext>
            </a:extLst>
          </p:cNvPr>
          <p:cNvSpPr>
            <a:spLocks noGrp="1"/>
          </p:cNvSpPr>
          <p:nvPr/>
        </p:nvSpPr>
        <p:spPr>
          <a:xfrm>
            <a:off x="10287000" y="651510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21 / 22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2045B15-4C6F-4DD8-92D8-03930DD21A3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5143500" cy="3143250"/>
          </a:xfrm>
          <a:prstGeom prst="roundRect">
            <a:avLst>
              <a:gd name="adj" fmla="val 3030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C1EEEB3-83CE-4149-AB8E-2F4912A32082}"/>
              </a:ext>
            </a:extLst>
          </p:cNvPr>
          <p:cNvSpPr>
            <a:spLocks noGrp="1"/>
          </p:cNvSpPr>
          <p:nvPr/>
        </p:nvSpPr>
        <p:spPr>
          <a:xfrm>
            <a:off x="971550" y="2324100"/>
            <a:ext cx="4572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025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rPr>
              <a:t>当前局限</a:t>
            </a:r>
            <a:endParaRPr sz="2025" b="1">
              <a:solidFill>
                <a:srgbClr val="92400E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428290A-E9E9-4946-970E-36B2A305FD5A}"/>
              </a:ext>
            </a:extLst>
          </p:cNvPr>
          <p:cNvSpPr>
            <a:spLocks noGrp="1"/>
          </p:cNvSpPr>
          <p:nvPr/>
        </p:nvSpPr>
        <p:spPr>
          <a:xfrm>
            <a:off x="971550" y="2857500"/>
            <a:ext cx="4572000" cy="2095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50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尚未大规模真实课堂验证，学习效果不写成已证实</a:t>
            </a:r>
          </a:p>
          <a:p>
            <a:pPr algn="l">
              <a:lnSpc>
                <a:spcPct val="150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保留教学简化：内嵌文件、无完整抢占式多核</a:t>
            </a:r>
          </a:p>
          <a:p>
            <a:pPr algn="l">
              <a:lnSpc>
                <a:spcPct val="150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真实模型 A/B 仅一轮，需多轮采样</a:t>
            </a:r>
            <a:endParaRPr lang="en-US" sz="1425" b="0">
              <a:solidFill>
                <a:srgbClr val="334155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lnSpc>
                <a:spcPct val="150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endParaRPr sz="1425" b="0">
              <a:solidFill>
                <a:srgbClr val="33415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CD16C10-27BE-4550-BB1B-970D409CA682}"/>
              </a:ext>
            </a:extLst>
          </p:cNvPr>
          <p:cNvSpPr>
            <a:spLocks noGrp="1"/>
          </p:cNvSpPr>
          <p:nvPr/>
        </p:nvSpPr>
        <p:spPr>
          <a:xfrm>
            <a:off x="6096000" y="2057400"/>
            <a:ext cx="5410200" cy="3143250"/>
          </a:xfrm>
          <a:prstGeom prst="roundRect">
            <a:avLst>
              <a:gd name="adj" fmla="val 3030"/>
            </a:avLst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E6705CD-00EE-4381-B71D-64F199DEE310}"/>
              </a:ext>
            </a:extLst>
          </p:cNvPr>
          <p:cNvSpPr>
            <a:spLocks noGrp="1"/>
          </p:cNvSpPr>
          <p:nvPr/>
        </p:nvSpPr>
        <p:spPr>
          <a:xfrm>
            <a:off x="6381750" y="2324100"/>
            <a:ext cx="48387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下一步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7468C49-666E-4A79-9C01-0F20555F8DE7}"/>
              </a:ext>
            </a:extLst>
          </p:cNvPr>
          <p:cNvSpPr>
            <a:spLocks noGrp="1"/>
          </p:cNvSpPr>
          <p:nvPr/>
        </p:nvSpPr>
        <p:spPr>
          <a:xfrm>
            <a:off x="6381750" y="2857500"/>
            <a:ext cx="4838700" cy="2095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50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执行 M5 试用：5-30 名学生，记录首次 verified 时间</a:t>
            </a:r>
          </a:p>
          <a:p>
            <a:pPr algn="l">
              <a:lnSpc>
                <a:spcPct val="150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基于真实数据校准评分阈值与导师策略</a:t>
            </a:r>
          </a:p>
          <a:p>
            <a:pPr algn="l">
              <a:lnSpc>
                <a:spcPct val="150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扩展抢占调度、COW、网络、mmap 文件映射</a:t>
            </a:r>
          </a:p>
          <a:p>
            <a:pPr algn="l">
              <a:lnSpc>
                <a:spcPct val="150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探索 Docker / 一体化部署，降低环境门槛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084C659-D3B4-437F-9328-3B4DDE57E4F8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lnSpc>
                <a:spcPct val="125000"/>
              </a:lnSpc>
              <a:buNone/>
              <a:def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M5 试用 → 真实数据校准 → 内核扩展 → 一体化部署</a:t>
            </a:r>
          </a:p>
        </p:txBody>
      </p:sp>
    </p:spTree>
    <p:extLst>
      <p:ext uri="{BB962C8B-B14F-4D97-AF65-F5344CB8AC3E}">
        <p14:creationId xmlns:p14="http://schemas.microsoft.com/office/powerpoint/2010/main" val="21053373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E45DF050-3215-4B1D-9811-99FFC739A739}"/>
              </a:ext>
            </a:extLst>
          </p:cNvPr>
          <p:cNvSpPr>
            <a:spLocks noGrp="1"/>
          </p:cNvSpPr>
          <p:nvPr/>
        </p:nvSpPr>
        <p:spPr>
          <a:xfrm>
            <a:off x="533400" y="476250"/>
            <a:ext cx="57150" cy="11049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1807548-B47C-46BD-ABAE-54306FBDA8BC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762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总结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BF7435F-9CC2-4635-A155-FF5A64511DCE}"/>
              </a:ext>
            </a:extLst>
          </p:cNvPr>
          <p:cNvSpPr>
            <a:spLocks noGrp="1"/>
          </p:cNvSpPr>
          <p:nvPr/>
        </p:nvSpPr>
        <p:spPr>
          <a:xfrm>
            <a:off x="742950" y="800100"/>
            <a:ext cx="10287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>
              <a:lnSpc>
                <a:spcPct val="108000"/>
              </a:lnSpc>
              <a:defRPr sz="5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36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EVOLVE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CA9B1DF-C09D-4EF8-80A6-053730D0FF28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10820400" cy="9525"/>
          </a:xfrm>
          <a:prstGeom prst="roundRect">
            <a:avLst>
              <a:gd name="adj" fmla="val 0"/>
            </a:avLst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B6E183D-6E10-4F0F-B26B-0914B901C9DD}"/>
              </a:ext>
            </a:extLst>
          </p:cNvPr>
          <p:cNvSpPr>
            <a:spLocks noGrp="1"/>
          </p:cNvSpPr>
          <p:nvPr/>
        </p:nvSpPr>
        <p:spPr>
          <a:xfrm>
            <a:off x="685800" y="65151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EVOLVE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D65F3DF-0AA0-4BA3-8B6E-4FD60576981C}"/>
              </a:ext>
            </a:extLst>
          </p:cNvPr>
          <p:cNvSpPr>
            <a:spLocks noGrp="1"/>
          </p:cNvSpPr>
          <p:nvPr/>
        </p:nvSpPr>
        <p:spPr>
          <a:xfrm>
            <a:off x="10287000" y="651510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22 / 22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C6FEC55-D9A4-422A-80E4-A7AFFBB2852A}"/>
              </a:ext>
            </a:extLst>
          </p:cNvPr>
          <p:cNvSpPr>
            <a:spLocks noGrp="1"/>
          </p:cNvSpPr>
          <p:nvPr/>
        </p:nvSpPr>
        <p:spPr>
          <a:xfrm>
            <a:off x="685800" y="2600325"/>
            <a:ext cx="108204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25000"/>
              </a:lnSpc>
              <a:buNone/>
              <a:defRPr sz="30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感谢聆听，请各位老师批评指正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FCA24F9-291F-4A50-8464-52166CFEF972}"/>
              </a:ext>
            </a:extLst>
          </p:cNvPr>
          <p:cNvSpPr>
            <a:spLocks noGrp="1"/>
          </p:cNvSpPr>
          <p:nvPr/>
        </p:nvSpPr>
        <p:spPr>
          <a:xfrm>
            <a:off x="685800" y="4181475"/>
            <a:ext cx="10820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lnSpc>
                <a:spcPct val="125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</a:t>
            </a:r>
            <a:r>
              <a:rPr lang="en-US" altLang="zh-CN"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r2-1 · </a:t>
            </a: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EVOLVE</a:t>
            </a:r>
          </a:p>
        </p:txBody>
      </p:sp>
    </p:spTree>
    <p:extLst>
      <p:ext uri="{BB962C8B-B14F-4D97-AF65-F5344CB8AC3E}">
        <p14:creationId xmlns:p14="http://schemas.microsoft.com/office/powerpoint/2010/main" val="75838440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2266</Words>
  <Application>Microsoft Office PowerPoint</Application>
  <DocSecurity>0</DocSecurity>
  <PresentationFormat>宽屏</PresentationFormat>
  <Paragraphs>455</Paragraphs>
  <Slides>22</Slides>
  <Notes>22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25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Aurora Jane</cp:lastModifiedBy>
  <cp:revision>1</cp:revision>
  <dcterms:created xsi:type="dcterms:W3CDTF">2026-08-10T20:42:09Z</dcterms:created>
  <dcterms:modified xsi:type="dcterms:W3CDTF">2026-08-11T10:08:49Z</dcterms:modified>
</cp:coreProperties>
</file>