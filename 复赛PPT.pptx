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2cb3fd9c44b54" /><Relationship Type="http://schemas.openxmlformats.org/officeDocument/2006/relationships/extended-properties" Target="/docProps/app.xml" Id="Re391b81ad2ee4bb1" /><Relationship Type="http://schemas.openxmlformats.org/officeDocument/2006/relationships/officeDocument" Target="/ppt/presentation.xml" Id="R284241349e094b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a78ccaf99e4172"/>
  </p:sldMasterIdLst>
  <p:notesMasterIdLst>
    <p:notesMasterId xmlns:r="http://schemas.openxmlformats.org/officeDocument/2006/relationships" r:id="R056daee816e748c2"/>
  </p:notesMasterIdLst>
  <p:sldIdLst>
    <p:sldId xmlns:r="http://schemas.openxmlformats.org/officeDocument/2006/relationships" id="256" r:id="R4742adf3560c49c7"/>
    <p:sldId xmlns:r="http://schemas.openxmlformats.org/officeDocument/2006/relationships" id="257" r:id="R621a921cc8414b89"/>
    <p:sldId xmlns:r="http://schemas.openxmlformats.org/officeDocument/2006/relationships" id="258" r:id="R3503b3f1ae88498e"/>
    <p:sldId xmlns:r="http://schemas.openxmlformats.org/officeDocument/2006/relationships" id="259" r:id="Rce863533eaba4cfe"/>
    <p:sldId xmlns:r="http://schemas.openxmlformats.org/officeDocument/2006/relationships" id="260" r:id="Rf491613956324f35"/>
    <p:sldId xmlns:r="http://schemas.openxmlformats.org/officeDocument/2006/relationships" id="261" r:id="R6b272e0009b64058"/>
    <p:sldId xmlns:r="http://schemas.openxmlformats.org/officeDocument/2006/relationships" id="262" r:id="R03984436c6834837"/>
    <p:sldId xmlns:r="http://schemas.openxmlformats.org/officeDocument/2006/relationships" id="263" r:id="Rdf103d516c6f40fd"/>
    <p:sldId xmlns:r="http://schemas.openxmlformats.org/officeDocument/2006/relationships" id="264" r:id="Rabccd0b1e29245e3"/>
    <p:sldId xmlns:r="http://schemas.openxmlformats.org/officeDocument/2006/relationships" id="265" r:id="Rd5504c6212704664"/>
    <p:sldId xmlns:r="http://schemas.openxmlformats.org/officeDocument/2006/relationships" id="266" r:id="R325a92d28a024d44"/>
    <p:sldId xmlns:r="http://schemas.openxmlformats.org/officeDocument/2006/relationships" id="267" r:id="Rd72b68463c584ca0"/>
    <p:sldId xmlns:r="http://schemas.openxmlformats.org/officeDocument/2006/relationships" id="268" r:id="Rc5ca9c1872274f9e"/>
    <p:sldId xmlns:r="http://schemas.openxmlformats.org/officeDocument/2006/relationships" id="269" r:id="Re2210f49ec8d4f3e"/>
    <p:sldId xmlns:r="http://schemas.openxmlformats.org/officeDocument/2006/relationships" id="270" r:id="Rd0a98c0ebfdd4aa5"/>
    <p:sldId xmlns:r="http://schemas.openxmlformats.org/officeDocument/2006/relationships" id="271" r:id="R3f6ba7eb68834b87"/>
    <p:sldId xmlns:r="http://schemas.openxmlformats.org/officeDocument/2006/relationships" id="272" r:id="R589964cbbf9e43d2"/>
    <p:sldId xmlns:r="http://schemas.openxmlformats.org/officeDocument/2006/relationships" id="273" r:id="R6e8c059cd8224eec"/>
    <p:sldId xmlns:r="http://schemas.openxmlformats.org/officeDocument/2006/relationships" id="274" r:id="R009115cb1c2b4cf1"/>
    <p:sldId xmlns:r="http://schemas.openxmlformats.org/officeDocument/2006/relationships" id="275" r:id="R18d4d22984fd4a82"/>
    <p:sldId xmlns:r="http://schemas.openxmlformats.org/officeDocument/2006/relationships" id="276" r:id="Rcfe00d27faa0417f"/>
    <p:sldId xmlns:r="http://schemas.openxmlformats.org/officeDocument/2006/relationships" id="277" r:id="Rfffb9a9cce4047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08a0d218ad4f64" /><Relationship Type="http://schemas.openxmlformats.org/officeDocument/2006/relationships/slideMaster" Target="/ppt/slideMasters/slideMaster1.xml" Id="R9aa78ccaf99e4172" /><Relationship Type="http://schemas.openxmlformats.org/officeDocument/2006/relationships/notesMaster" Target="/ppt/notesMasters/notesMaster1.xml" Id="R056daee816e748c2" /><Relationship Type="http://schemas.openxmlformats.org/officeDocument/2006/relationships/presProps" Target="/ppt/presProps.xml" Id="Rf10ea659045840a6" /><Relationship Type="http://schemas.openxmlformats.org/officeDocument/2006/relationships/tableStyles" Target="/ppt/tableStyles.xml" Id="Ra87831d9b5784cd2" /><Relationship Type="http://schemas.openxmlformats.org/officeDocument/2006/relationships/slide" Target="/ppt/slides/slide1.xml" Id="R4742adf3560c49c7" /><Relationship Type="http://schemas.openxmlformats.org/officeDocument/2006/relationships/slide" Target="/ppt/slides/slide2.xml" Id="R621a921cc8414b89" /><Relationship Type="http://schemas.openxmlformats.org/officeDocument/2006/relationships/slide" Target="/ppt/slides/slide3.xml" Id="R3503b3f1ae88498e" /><Relationship Type="http://schemas.openxmlformats.org/officeDocument/2006/relationships/slide" Target="/ppt/slides/slide4.xml" Id="Rce863533eaba4cfe" /><Relationship Type="http://schemas.openxmlformats.org/officeDocument/2006/relationships/slide" Target="/ppt/slides/slide5.xml" Id="Rf491613956324f35" /><Relationship Type="http://schemas.openxmlformats.org/officeDocument/2006/relationships/slide" Target="/ppt/slides/slide6.xml" Id="R6b272e0009b64058" /><Relationship Type="http://schemas.openxmlformats.org/officeDocument/2006/relationships/slide" Target="/ppt/slides/slide7.xml" Id="R03984436c6834837" /><Relationship Type="http://schemas.openxmlformats.org/officeDocument/2006/relationships/slide" Target="/ppt/slides/slide8.xml" Id="Rdf103d516c6f40fd" /><Relationship Type="http://schemas.openxmlformats.org/officeDocument/2006/relationships/slide" Target="/ppt/slides/slide9.xml" Id="Rabccd0b1e29245e3" /><Relationship Type="http://schemas.openxmlformats.org/officeDocument/2006/relationships/slide" Target="/ppt/slides/slide10.xml" Id="Rd5504c6212704664" /><Relationship Type="http://schemas.openxmlformats.org/officeDocument/2006/relationships/slide" Target="/ppt/slides/slide11.xml" Id="R325a92d28a024d44" /><Relationship Type="http://schemas.openxmlformats.org/officeDocument/2006/relationships/slide" Target="/ppt/slides/slide12.xml" Id="Rd72b68463c584ca0" /><Relationship Type="http://schemas.openxmlformats.org/officeDocument/2006/relationships/slide" Target="/ppt/slides/slide13.xml" Id="Rc5ca9c1872274f9e" /><Relationship Type="http://schemas.openxmlformats.org/officeDocument/2006/relationships/slide" Target="/ppt/slides/slide14.xml" Id="Re2210f49ec8d4f3e" /><Relationship Type="http://schemas.openxmlformats.org/officeDocument/2006/relationships/slide" Target="/ppt/slides/slide15.xml" Id="Rd0a98c0ebfdd4aa5" /><Relationship Type="http://schemas.openxmlformats.org/officeDocument/2006/relationships/slide" Target="/ppt/slides/slide16.xml" Id="R3f6ba7eb68834b87" /><Relationship Type="http://schemas.openxmlformats.org/officeDocument/2006/relationships/slide" Target="/ppt/slides/slide17.xml" Id="R589964cbbf9e43d2" /><Relationship Type="http://schemas.openxmlformats.org/officeDocument/2006/relationships/slide" Target="/ppt/slides/slide18.xml" Id="R6e8c059cd8224eec" /><Relationship Type="http://schemas.openxmlformats.org/officeDocument/2006/relationships/slide" Target="/ppt/slides/slide19.xml" Id="R009115cb1c2b4cf1" /><Relationship Type="http://schemas.openxmlformats.org/officeDocument/2006/relationships/slide" Target="/ppt/slides/slide20.xml" Id="R18d4d22984fd4a82" /><Relationship Type="http://schemas.openxmlformats.org/officeDocument/2006/relationships/slide" Target="/ppt/slides/slide21.xml" Id="Rcfe00d27faa0417f" /><Relationship Type="http://schemas.openxmlformats.org/officeDocument/2006/relationships/slide" Target="/ppt/slides/slide22.xml" Id="Rfffb9a9cce40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cfa5edaa1e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d6c68993ee4d7d" /><Relationship Type="http://schemas.openxmlformats.org/officeDocument/2006/relationships/notesMaster" Target="/ppt/notesMasters/notesMaster1.xml" Id="R231b9a7418e5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18145d239042b9" /><Relationship Type="http://schemas.openxmlformats.org/officeDocument/2006/relationships/notesMaster" Target="/ppt/notesMasters/notesMaster1.xml" Id="R1b7657a13bfb44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d182be9c734355" /><Relationship Type="http://schemas.openxmlformats.org/officeDocument/2006/relationships/notesMaster" Target="/ppt/notesMasters/notesMaster1.xml" Id="Ra3caf0bf4a214c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062610c7c246f6" /><Relationship Type="http://schemas.openxmlformats.org/officeDocument/2006/relationships/notesMaster" Target="/ppt/notesMasters/notesMaster1.xml" Id="R4a2a2285e90346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7fdfcc5b194950" /><Relationship Type="http://schemas.openxmlformats.org/officeDocument/2006/relationships/notesMaster" Target="/ppt/notesMasters/notesMaster1.xml" Id="Rc86ac0dcb7ef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9c686bcbe840a1" /><Relationship Type="http://schemas.openxmlformats.org/officeDocument/2006/relationships/notesMaster" Target="/ppt/notesMasters/notesMaster1.xml" Id="R72dde8d37fca4b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23cafa1c064e90" /><Relationship Type="http://schemas.openxmlformats.org/officeDocument/2006/relationships/notesMaster" Target="/ppt/notesMasters/notesMaster1.xml" Id="Ra47596067f4e4c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213837fdce4abe" /><Relationship Type="http://schemas.openxmlformats.org/officeDocument/2006/relationships/notesMaster" Target="/ppt/notesMasters/notesMaster1.xml" Id="Ra82c36e0ecac40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25b50de840464e" /><Relationship Type="http://schemas.openxmlformats.org/officeDocument/2006/relationships/notesMaster" Target="/ppt/notesMasters/notesMaster1.xml" Id="R73ba11bf71c248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00e5f9662e4cde" /><Relationship Type="http://schemas.openxmlformats.org/officeDocument/2006/relationships/notesMaster" Target="/ppt/notesMasters/notesMaster1.xml" Id="Rd91f4e35ccb744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31b97d876f4e2f" /><Relationship Type="http://schemas.openxmlformats.org/officeDocument/2006/relationships/notesMaster" Target="/ppt/notesMasters/notesMaster1.xml" Id="R8aa23a180e7a4f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59b3a44fb640c4" /><Relationship Type="http://schemas.openxmlformats.org/officeDocument/2006/relationships/notesMaster" Target="/ppt/notesMasters/notesMaster1.xml" Id="R6431edee998641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af135044a94d3a" /><Relationship Type="http://schemas.openxmlformats.org/officeDocument/2006/relationships/notesMaster" Target="/ppt/notesMasters/notesMaster1.xml" Id="Rbfab4407e2ec48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126a7c11f34eb5" /><Relationship Type="http://schemas.openxmlformats.org/officeDocument/2006/relationships/notesMaster" Target="/ppt/notesMasters/notesMaster1.xml" Id="Rfd71b22462f94a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47896616844774" /><Relationship Type="http://schemas.openxmlformats.org/officeDocument/2006/relationships/notesMaster" Target="/ppt/notesMasters/notesMaster1.xml" Id="Rcaf18612f22340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becc0b76b94039" /><Relationship Type="http://schemas.openxmlformats.org/officeDocument/2006/relationships/notesMaster" Target="/ppt/notesMasters/notesMaster1.xml" Id="Rbc216e7329734b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c7b538bee24667" /><Relationship Type="http://schemas.openxmlformats.org/officeDocument/2006/relationships/notesMaster" Target="/ppt/notesMasters/notesMaster1.xml" Id="R87787260295145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4e63fce5a54ebb" /><Relationship Type="http://schemas.openxmlformats.org/officeDocument/2006/relationships/notesMaster" Target="/ppt/notesMasters/notesMaster1.xml" Id="R263be9b926bb4d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2b58f2b5ec4523" /><Relationship Type="http://schemas.openxmlformats.org/officeDocument/2006/relationships/notesMaster" Target="/ppt/notesMasters/notesMaster1.xml" Id="Rf5115717d53644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b87c59b37d4902" /><Relationship Type="http://schemas.openxmlformats.org/officeDocument/2006/relationships/notesMaster" Target="/ppt/notesMasters/notesMaster1.xml" Id="R8736a46352d44f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0cda5423044c96" /><Relationship Type="http://schemas.openxmlformats.org/officeDocument/2006/relationships/notesMaster" Target="/ppt/notesMasters/notesMaster1.xml" Id="R520ed90c257a43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288eefb84049d6" /><Relationship Type="http://schemas.openxmlformats.org/officeDocument/2006/relationships/notesMaster" Target="/ppt/notesMasters/notesMaster1.xml" Id="R48357896f386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秒）：各位老师好，我们团队带来的项目是 os-lab。一句话定位：让操作系统不是被背下来，而是在同一份代码里从裸机长到线程同步；再加上学习工作台和 AI 导师，形成一套能进课堂的教学闭环。接下来我会讲清楚三件事：为什么做、我们交付了什么、为什么可信。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秒）：学生在课程里最常见的感受，不是记不住概念，而是拿到真实代码不会动手。我们把它归纳成三座山：原理和实践脱节、成熟内核太大、环境门槛高。赛题也正好要求两条线：30% 把官方参考练习真实跑通，70% 自研一套更低门槛的教学实验环境。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25 秒）：这页先给出全片结论。我们不是只交一个内核，而是交付四条线：官方参考练习全部通过；自研 Lab1-8 内核；账号制学习平台和教师端；以及把所有结论串起来的可信证据链。后面的每一页，都是逐步证明这四条真实成立。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25 秒）：项目不是一次性写完。初赛七天内完成 Lab1-5 和配套文档；二期四周补齐磁盘文件系统、IPC/信号、线程同步；三期做成可部署的学习平台。团队分三条线并行：A 负责内核与平台工程，B 负责组件与测试，C 负责文档、评价与 AI 导师。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秒）：参考练习线不是只报分数。每一章补丁都可审阅、命令可复现，checker 全绿：ch3 做系统调用跟踪，ch4 做 mmap，ch5 做 spawn 和 stride 调度，ch6 做文件系统调用，ch8 做死锁检测。汇总后 base 61 项、exercise 98 项全部通过。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35 秒）：这是全片最核心的架构差异。参考环境每个 lab 是独立内核，而我们把 Lab1 到 Lab8 做进同一个 kernel，用 Cargo feature 逐级打开：Lab2 依赖 Lab1，Lab3 依赖 Lab2，一路到 Lab8。学生始终面对同一个代码库，却能看见内核从裸机长出 trap、虚存、进程、文件和线程。同时依赖更扁，自研只有 8 个组件 crate、2 层依赖。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秒）：我们刻意做了职责分离：kernel 负责把机制接起来，8 个组件 crate 负责独立机制边界，user 目录放用户态测试程序。这样每个组件可以单独写 host 单测，内核再用 QEMU 自证，测试不再只能靠外部 checker。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秒）：这 8 个 Lab 不是孤立 demo：Lab1、2 打底机制，Lab3、4 做虚拟化，Lab5 和 Lab8 覆盖并发，Lab5 和 Lab6 覆盖持久化，Lab7 做进程间通信。知识点与 OSTEP 的三大主题一一对应，学生按一条线学完，就能建立完整的操作系统地图。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秒）：二期最重要的工作是补齐后半段课程。Lab6 让文件真正落在磁盘上，Lab7 补上信号和统一文件描述符，Lab8 实现线程、同步原语和死锁检测。三个 Lab 都有 make test-labN 全链回归，Lab8 的 8 条 expected 全部通过。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秒）：我们不是只写 PDF 手册，而是把内容做成 Web 工作台。学生左边看手册，右边写代码，下方直接跑终端、看 Problems、测试结果和 Trace；报告一键提交。解锁不是点按钮，而是要求一次可信成功运行和一份带反思的报告，再由教师开放进度。如果现场允许演示，这页可以切到真实页面跑一遍最小闭环。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25 秒）：平台不是单机 demo。教师可以按全局、班级、学生三级发布内容，控制 Lab 开放进度，分配补全、排错、随机变体任务，统一配置 AI 模型，也能在线看报告和导出名单。这一页回答评委最关心的问题：这套系统能不能真正拿到课堂里用。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40 秒）：这页是平台与普通练习系统最大的区别。系统只认可信 recipe 产生的命名断言和 Trace，自定义命令即使退出码为 0 也不算通过；没有真实 Trace 就保持空态。AI 和评分只能引用本轮白名单内的证据，跨账号访问返回 404；runId、workspaceVersion、哈希和事件顺序在查询时会重新校验。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秒）：演示里最常见的闭环是：运行失败，Problems 给出真实诊断并跳到源码行，修复后可信 recipe 通过，然后打开 Trace 看到 task_switch 的 from、to、reason。这条闭环里的每次查看都会被记录为学习事件，供后面的 AI 评价使用。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35 秒）：AI 导师的回答由问题意图和证据决定，不按页面阶段拍脑袋。它只推进一个认知步骤：观察、假设、验证、迁移。直接要完整代码会触发答案护栏；L0-L4 提示等级按当前问题线程累计，换题、换文件、换诊断就重新开始。没有可信 run，AI 不能声称验证通过。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秒）：我们把 AI 拆成两个 Agent：Tutor 负责陪学生思考，要容错；Assessment 负责稳定评价学习过程。如果同一个模型一边引导、一边给自己参与的过程打分，就会产生自我评价污染。教学对话可以有创造性，成绩必须可审计、可申诉、可复算。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秒）：Rubric v3 用 45% 过程、35% 结果、20% 反思来评学习，14 个细项都要有证据引用，无证据就显示未观察到。系统设了 H1 到 H6 六类风险门控，比如结果满分但过程极低，疑似刷断言。教师改分会保留原始自动分、理由和证据引用，最终成绩由教师决定。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秒）：AI 不是把整个互联网塞给模型。知识库分 Lab 专属层、公共概念层和证据层，多格式统一成 Document，保留行号或页码；检索用 FTS5、向量和 RRF 混合，Tutor 最多取 5 个片段。教师还能用 Lab Factory 的 lint、dry-run、test、publish 流程制作新实验变体，发布必须引用成功测试并经教师批准。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35 秒）：验证分三层：参考练习 checker 全绿；内核 Lab1-8 全部有 QEMU 回归；平台侧 npm test 95 项里 94 项通过，唯一失败是既有文件路径迁移问题。AI 侧 Tutor Harness 34/34，V3 离线全链路综合 94，真实模型一轮 96；需要说明这两个数字语料和评分代次不同，不能直接比较。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秒）：三方对比的核心结论是差异化互补。我们的代码量约为参考环境的四分之一，依赖层更少，组件可以单测；xv6 和 rCore 适合系统化深化。建议路径是先用 os-lab 建立全局脉络，再进 xv6 或 rCore 深化，而不是互相替代。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秒）：创新点我不逐一念，而是把它们归成三类价值：面向学生，降低门槛、清晰脉络、学会与 AI 协作；面向教师，AI 建议可复核、任务变体可管理、系统可进课堂；面向评委，所有结论绑定测试、Trace 和证据，AI 不拥有最终裁决权。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35 秒）：我们主动交代边界：真实课堂验证还没大规模执行，所以学习效果结论保持谨慎；内核仍有教学简化，调度还没做完整抢占式多核；真实模型 A/B 只跑了一轮。AI 使用也已披露，所有代码入库前经过人工审查和测试验证。下一步先做 M5 试用协议，用真实数据重新校准，再扩展抢占、COW、网络和一体化部署。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讲稿（约 30 秒）：回到封面的一句话：我们交付的不是单点功能，而是从裸机到线程同步的完整内核，加上可进课堂的学习闭环。参考练习 98/98，Lab1-8 全链通过，AI 建议可复核，教师拥有最终裁决。感谢各位老师，请批评指正。</a:t>
            </a:r>
          </a:p>
          <a:p xmlns:a="http://schemas.openxmlformats.org/drawingml/2006/main">
            <a:r>
              <a:t>[依据：PPT答辩文字材料与大纲.md]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c586cfa8c4a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14677014664cbb" /><Relationship Type="http://schemas.openxmlformats.org/officeDocument/2006/relationships/slideLayout" Target="/ppt/slideLayouts/slideLayout1.xml" Id="Ra63588713bef42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3588713bef42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3b6d353c44715" /><Relationship Type="http://schemas.openxmlformats.org/officeDocument/2006/relationships/notesSlide" Target="/ppt/notesSlides/notesSlide1.xml" Id="R7f164e85a1344f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0ace1c3f943b3" /><Relationship Type="http://schemas.openxmlformats.org/officeDocument/2006/relationships/notesSlide" Target="/ppt/notesSlides/notesSlide2.xml" Id="R2cb0d5c4ded84c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049b7c31c4fbb" /><Relationship Type="http://schemas.openxmlformats.org/officeDocument/2006/relationships/notesSlide" Target="/ppt/notesSlides/notesSlide3.xml" Id="R4a87d052bb2848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ef8c1ce464db3" /><Relationship Type="http://schemas.openxmlformats.org/officeDocument/2006/relationships/notesSlide" Target="/ppt/notesSlides/notesSlide4.xml" Id="R5df9a5ef280840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66e6efd54432c" /><Relationship Type="http://schemas.openxmlformats.org/officeDocument/2006/relationships/notesSlide" Target="/ppt/notesSlides/notesSlide5.xml" Id="R4a3ffeb3d1234e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744e640d04468" /><Relationship Type="http://schemas.openxmlformats.org/officeDocument/2006/relationships/notesSlide" Target="/ppt/notesSlides/notesSlide6.xml" Id="Rbb1716cb75314a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b826dbaf24ab2" /><Relationship Type="http://schemas.openxmlformats.org/officeDocument/2006/relationships/notesSlide" Target="/ppt/notesSlides/notesSlide7.xml" Id="Rf530510433314f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08dee38434705" /><Relationship Type="http://schemas.openxmlformats.org/officeDocument/2006/relationships/notesSlide" Target="/ppt/notesSlides/notesSlide8.xml" Id="R5c9b6de3ddc644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c5e414ea945a8" /><Relationship Type="http://schemas.openxmlformats.org/officeDocument/2006/relationships/notesSlide" Target="/ppt/notesSlides/notesSlide9.xml" Id="Re159f7f93ee649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095853ebb4751" /><Relationship Type="http://schemas.openxmlformats.org/officeDocument/2006/relationships/notesSlide" Target="/ppt/notesSlides/notesSlide10.xml" Id="R283b2ca29916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2df2f52674558" /><Relationship Type="http://schemas.openxmlformats.org/officeDocument/2006/relationships/notesSlide" Target="/ppt/notesSlides/notesSlide11.xml" Id="R27ff3e8cd81f48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94cd37ab34090" /><Relationship Type="http://schemas.openxmlformats.org/officeDocument/2006/relationships/notesSlide" Target="/ppt/notesSlides/notesSlide12.xml" Id="Rb23d63f55b4448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4891e0ef84ac6" /><Relationship Type="http://schemas.openxmlformats.org/officeDocument/2006/relationships/notesSlide" Target="/ppt/notesSlides/notesSlide13.xml" Id="Rd319d0ca2ffb4d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0ed96cea3432f" /><Relationship Type="http://schemas.openxmlformats.org/officeDocument/2006/relationships/notesSlide" Target="/ppt/notesSlides/notesSlide14.xml" Id="R8893c7c9f56d4a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08b49bbeb4d18" /><Relationship Type="http://schemas.openxmlformats.org/officeDocument/2006/relationships/notesSlide" Target="/ppt/notesSlides/notesSlide15.xml" Id="Rdde8853ff35645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77b294f6b4950" /><Relationship Type="http://schemas.openxmlformats.org/officeDocument/2006/relationships/notesSlide" Target="/ppt/notesSlides/notesSlide16.xml" Id="Ra20052181bb440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be83f76ad44b7" /><Relationship Type="http://schemas.openxmlformats.org/officeDocument/2006/relationships/notesSlide" Target="/ppt/notesSlides/notesSlide17.xml" Id="R7eefbf98897b4a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4736a9ec4449e" /><Relationship Type="http://schemas.openxmlformats.org/officeDocument/2006/relationships/notesSlide" Target="/ppt/notesSlides/notesSlide18.xml" Id="R7da707cf86fa4e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271f3cc2a4afe" /><Relationship Type="http://schemas.openxmlformats.org/officeDocument/2006/relationships/notesSlide" Target="/ppt/notesSlides/notesSlide19.xml" Id="Raf033e8474c54b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a97b21beb4464" /><Relationship Type="http://schemas.openxmlformats.org/officeDocument/2006/relationships/notesSlide" Target="/ppt/notesSlides/notesSlide20.xml" Id="R18cba779681945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5ec530f0e43c1" /><Relationship Type="http://schemas.openxmlformats.org/officeDocument/2006/relationships/notesSlide" Target="/ppt/notesSlides/notesSlide21.xml" Id="R377f7b3f2a634c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d6b618a7342cb" /><Relationship Type="http://schemas.openxmlformats.org/officeDocument/2006/relationships/notesSlide" Target="/ppt/notesSlides/notesSlide22.xml" Id="R6b4d4fbd4c2b4d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076FB-09D8-4D88-AB80-62794F9C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OS-LAB / EVOLVE · 操作系统教学实验环境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B2049-5427-44AB-9E67-C04B97F7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os-lab：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让操作系统内核“长出来”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9F4B7-66B2-413B-8E27-A41F292A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EVOLVE · Evolving Virtual OS Learning &amp; Verification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414D6-6911-4DA1-A5C5-0AB6CDD1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从裸机启动到线程同步，一条线拉出完整内核；从实验手册到 AI 导师，一套可进课堂的 OS 教学闭环。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84FBA-C481-4A82-A24B-1A1DAE20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Rust · RISC-V 64 · QEMU · 单内核 Feature Gate · AI 双 Agent · 可信证据链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CD0FD-C109-4C86-B426-43777BFC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单内核 · feature gate 逐级打开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FF2CE-3BF1-4611-A088-AE49AE51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A56C9-78BB-4CCB-8DF4-AAA881C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Lab1 裸机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49EE1-9C18-4CB4-976B-FD2BD55F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2103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4E4F5-F492-44F7-A103-2B2A8885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1030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0A58C-BE39-424D-991F-7E42266E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103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Lab3 虚存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33FE2-2E9C-4640-83B3-F4CC8A36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2103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0C8FE-40D4-4026-811E-945D02C8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1030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C7EE7-A247-432C-B54D-4945BCD9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103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Lab5 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85504-72AE-4E2D-BC09-E6C5FBD9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2103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091D9-E1E0-40A0-9B60-99C2F68B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21030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EC456-0E92-4283-9CA5-8523A098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2103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Lab8 线程</a:t>
            </a:r>
          </a:p>
        </p:txBody>
      </p:sp>
    </p:spTree>
    <p:extLst>
      <p:ext uri="{BB962C8B-B14F-4D97-AF65-F5344CB8AC3E}">
        <p14:creationId xmlns:p14="http://schemas.microsoft.com/office/powerpoint/2010/main" val="1690181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6A184-1BB5-4F92-A2C8-3F585FEE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69C68-683E-4526-9456-24F1C18E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01 · 为什么做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45146-4838-4C4B-B8F0-44FFA13D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 课程难，难在三座山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2B420-3DCC-44B6-9AFE-0CEAAC3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99543-C706-4BA9-8915-16B4B36A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14BEE-9485-47B7-A337-46550136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55524-E6CF-4DA3-A25E-8BE15289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1432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C4402-CC76-48C2-A1DE-D1985B0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D7E2B-E254-4CA6-A761-FE55292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F99F0-60E5-4AA9-AE26-8121DA6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原理与实践脱节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D0C48-AC1E-424F-B85F-2A5E13E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听得懂“虚存是什么”，面对真实页表代码却不知道从哪看起。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75AE-DE87-48AD-990C-73409F5F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57400"/>
            <a:ext cx="31432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A61ED-C3C2-4EF4-A6E0-C17CE00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CBF8B-043D-451F-AAA9-267684DB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9C6B9-4228-4A75-A731-0E6A7A89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成熟内核太大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2BFFF-47F0-47A1-BF1A-23AFF82C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528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xv6、rCore 功能完整，但代码量大、模块多，学生容易迷失。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2D768-88D0-4FB8-905F-6B838266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31432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89AE8-11A0-4648-832A-B1D845EC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241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95521-2B0C-4524-AC04-9D59AD91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24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C9F3B-B915-4B0E-A599-FB87D78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337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环境门槛高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09C7E-F375-481B-A4D8-0C55FC7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2647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 指针、依赖结构、QEMU 黑屏和晦涩报错，把时间耗在调环境上。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C444D-8C58-4BE6-80A3-E9F4C7F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7145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0B5F1-0EE0-41BF-84BD-548750F8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71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赛题要求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7A0DD-0551-42CF-BC20-1D8DEC7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19700"/>
            <a:ext cx="30480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D20CD-3893-4C2D-A64A-B2EF8AB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72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官方参考环境 5 章基础练习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8DCCB-D650-4871-A2A5-E1FBA525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19700"/>
            <a:ext cx="57531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44675-321A-4CDE-906D-5017B09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721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自研教学实验环境：代码、文档、测试、答案、对比</a:t>
            </a:r>
          </a:p>
        </p:txBody>
      </p:sp>
    </p:spTree>
    <p:extLst>
      <p:ext uri="{BB962C8B-B14F-4D97-AF65-F5344CB8AC3E}">
        <p14:creationId xmlns:p14="http://schemas.microsoft.com/office/powerpoint/2010/main" val="1677184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2961F-1895-41EC-9447-2B6C4B8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83B4D-723F-4D93-BA91-1F95A9FD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 · 我们的答案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39757-8E76-49E2-9C66-AF95116F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双线交付 + 一个证据底座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F6E3D-0F25-447D-80EC-46EFA6E7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FF861-7E26-4C43-B78B-D4A0676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C4670-A4B5-4D70-AE37-B203E64E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FBB3D-586E-4980-A7A5-D6297E2F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38400" cy="314325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9DA5C-E127-4A6D-BFCE-91B0C1C0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3840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21D48-C0AD-4AB9-BE8C-98F5A114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参考练习线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9F73-28FC-456F-91B2-6F60BB82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98/98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A2569-264A-4AE2-BB52-F040B41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5 章 exercise 全部通过 checker，补丁与报告可复现。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202B3-2659-420A-9396-140D2A7F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38400" cy="314325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8274D-08FA-45E5-945D-BA44C740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3840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16ED7-1328-4652-A683-761BF109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自研内核线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BA618-ADD6-4CA5-A2C0-F9CB307A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Lab1-8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9A38F-834A-4961-8E30-F9BD2EBE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从裸机启动到线程同步，单内核渐进式长出来。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7E202-125D-483E-BBFE-72AFCC76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438400" cy="314325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E3412-EE4B-464D-8D5F-A6B5F7A2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43840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428A6-DE8A-4BC5-8BFE-65693CFE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学习平台线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D66EF-AF06-4F9C-83F6-DA561B88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B32B1-999D-43F8-9FDB-3A802F4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账号制工作台、教师端、AI 导师与 AI 学习评价。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AD194-4361-4C74-AFD7-2E9E28A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438400" cy="314325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1EC1C-143E-4DE7-8208-A19397B1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43840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05C7E-A86E-499A-858E-3C2BF2F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共同底座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7E997-0FA6-4B6A-A6A8-290B1B1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19036-FEBA-436B-A212-764CA353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861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可信 run、命名断言、Trace，结论可复现、可审计。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3F647-D8A6-47A8-861D-1B73DDEB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全片叙事：为什么做 → 交付了什么 → 为什么可信；每一页都回答“为什么、做什么、证据是什么”。</a:t>
            </a:r>
          </a:p>
        </p:txBody>
      </p:sp>
    </p:spTree>
    <p:extLst>
      <p:ext uri="{BB962C8B-B14F-4D97-AF65-F5344CB8AC3E}">
        <p14:creationId xmlns:p14="http://schemas.microsoft.com/office/powerpoint/2010/main" val="2092130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71B94-DB00-45EB-8132-63828035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DEC60-F63A-4ED4-9398-E54EBAB2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 · 我们的答案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60842-FC77-4102-BE30-9C655DEF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从初赛到课程化：三个阶段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4A5E1-E4F8-4513-980A-D72DA30F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26358-CB6A-4972-8E29-D0AEBACF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A73BA-91CD-40A9-9C42-914D6008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AFCFD-F0B6-4824-BEC8-E9933D4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E22E8-A342-43DF-9C5D-61988359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初赛 7 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C4483-64AA-4DF4-8F25-1FE392A4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Lab1-5 内核、文档、三方对比与 AI 协作记录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151E3-6174-41E0-B37F-10BFDB9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146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899A4-1055-4D37-A65E-1476A0C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3337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D0B65-CDF4-48B3-8BF7-0F5EB8A7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二期 4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E7651-C61B-4183-885C-C3E36E7A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Lab6-8 补齐磁盘 FS、IPC/信号、线程同步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32B22-0BB0-40ED-8D0A-1ED681D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AE7F8-606D-4DA1-9B6E-7593FF22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33375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DC89E-3B0A-40B8-B214-DAE7A28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三期课程化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4A6AF-6902-43C3-A51E-06211D4B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工作台、教师端、AI 双 Agent、评分复核、Lab Factory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1247A-DCB7-475E-B6AD-48F99E0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C8E90-A1F4-4E21-8D25-00D56D7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0A241-0475-438F-878D-3F488940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内核与平台工程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D966C-0311-42FE-9A04-42567B01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组件与测试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2B59F-42E0-48B8-9394-BD41E667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文档、评价与 AI 导师</a:t>
            </a:r>
          </a:p>
        </p:txBody>
      </p:sp>
    </p:spTree>
    <p:extLst>
      <p:ext uri="{BB962C8B-B14F-4D97-AF65-F5344CB8AC3E}">
        <p14:creationId xmlns:p14="http://schemas.microsoft.com/office/powerpoint/2010/main" val="1482642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7E3D2-31CC-44E4-9D40-EC6F61B2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E5793-34F1-4664-B105-B76F437D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 · 参考练习线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C0D53-6476-449A-9EE3-193860F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官方环境 5 章全部真实跑通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0E553-6970-4383-AB7F-B3869067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FD71D-8C4D-477D-BA84-BDEAEC2E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05633-634E-4C89-9AC8-CA47238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 / 22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790575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38250"/>
                <a:gridCol w="4953000"/>
                <a:gridCol w="1714500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exercise 内容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checker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ch3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sys_trace 系统调用跟踪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7/7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ch4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mmap / munmap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16/16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ch5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spawn + stride 调度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17/17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ch6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linkat / unlinkat / fstat + spawn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33/33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ch8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死锁检测：银行家算法 + 等待图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25/25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2C0B-3C61-4718-83E6-9792FEE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647950" cy="31432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2A887-C611-4C88-AE14-9B733832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checker 全绿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3125E-82AB-41BB-B7BD-109A932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 61/61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C56F2-B060-4AC2-9064-1B9741D1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exercise 98/98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B53CE-893B-48D6-9109-CD7A4394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7670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补丁可审阅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命令可复现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不贴分数</a:t>
            </a:r>
          </a:p>
        </p:txBody>
      </p:sp>
    </p:spTree>
    <p:extLst>
      <p:ext uri="{BB962C8B-B14F-4D97-AF65-F5344CB8AC3E}">
        <p14:creationId xmlns:p14="http://schemas.microsoft.com/office/powerpoint/2010/main" val="553136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37A0B-3819-4C92-8FED-BB12F847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34CA6-DA77-4483-B36A-84207CB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 · 自研内核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CFAD5-C8C3-48D1-8C38-CA3BF5E8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一个内核，用 feature gate 逐级长出来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3A176-896E-4E1F-B65D-A094EA0D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59AD0-0E2C-4AAE-9A1C-5A577B7A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A3033-82BF-40D1-9394-2208A85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FAC40-4C23-44E4-928B-5D99309F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 8 个独立内核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A855F-2AEB-45D6-BC04-F88310B8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kernel 通过 Cargo feature 逐级打开能力；学生始终在同一个代码库，看到 trap、虚存、进程、文件、线程一层层长出。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55512-00BB-4214-8557-52EAF735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依赖更扁、边界更清晰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B075B-B4CA-47F4-9BDA-4338F98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自研：8 个组件 crate / 2 层依赖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参考：23 个 crate / 4 层依赖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A1D2E-541D-4A9B-823A-830CF189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334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8EAC7-DBA9-408C-8678-11CC2E9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C99CA-34C2-40F8-A530-0D0768F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Lab1-2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0DE48-2556-4170-816B-0D2D53E0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基础机制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2A054-C982-4A29-AC4C-F9458FB7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61AB5-82B6-4FF3-B142-D078F9FE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818DB-8D3D-41BB-A98D-F6FC38B9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Lab3-4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DB475-100F-4298-A81F-AE3CE7A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虚拟化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1A475-C51F-493C-9E8A-6E824612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18DAC-68C3-4D74-BF20-E02B1A2A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4BBC8-3CE7-4F62-8143-4D30F4CA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Lab5-6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2D9E8-C222-438A-B64E-2A1CDAEA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持久化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045BD-A71E-4237-8A5F-B57C8105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146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6C781-0715-4E7D-82C4-7BA6B65C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F60F1E-BF71-402C-B978-E5B01312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146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Lab7-8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2A6F9-44FC-42B8-BEE0-01C3413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并发与 IPC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1E0E84-5A9A-4517-B56F-1E133608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Cargo feature 依赖链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3298D-CD14-4500-9F5B-7C958C53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4800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D2CF3-8ADC-4D03-930B-B918FCB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default = ["lab1"]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lab2 = ["lab1", "dep:os-context"]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lab8 = ["lab7", "dep:os-sync"]</a:t>
            </a:r>
          </a:p>
        </p:txBody>
      </p:sp>
    </p:spTree>
    <p:extLst>
      <p:ext uri="{BB962C8B-B14F-4D97-AF65-F5344CB8AC3E}">
        <p14:creationId xmlns:p14="http://schemas.microsoft.com/office/powerpoint/2010/main" val="1684892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75619-C178-48AB-B976-3D3B6B53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C22E-97E9-44C6-B2B0-536B8DE1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 · 自研内核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97D0F-769E-423A-A36D-1050C6B3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kernel 只做集成，组件可独立测试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F444-2B1A-4F85-8E57-87AAB7AC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7209C-3B1A-4E7A-8174-230FABB6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7A1AF-D671-48EA-94F1-07A4C756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7B57-893B-4FEA-8012-D4722EEB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4290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6E25B-5206-466D-80E8-3DFE1C0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85618-1655-4A07-95BB-C0D90DEE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914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集成与策略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feature gate、调度、进程、fd 表、syscall 分发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E67DE-F9BA-4DF4-B31C-ECD6B700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9A426-A6A0-4655-8A8B-C6366834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os-sbi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8FB21-23D6-4027-A6D8-1EBB1DA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96080-3182-4B4F-A299-7F1AFA3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B7558-FB5D-48C5-9DAF-DAFE5763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E5385-867A-45C7-AADF-992C5B52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os-syscall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12191-7C9A-416B-8AFD-3DF9749E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9935A-2026-4868-9D38-E7112176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os-alloc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F2112-3940-4102-956C-9406FC38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F57C4-E95F-4594-AF4D-BBF5BF3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D69CF-EAC4-47D2-B6D3-E6FFD513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5F745-1454-415C-8961-D6DDF5E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4C467-240F-4681-AA5D-817C312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B84D6-6443-4EF0-915C-3D7D82A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C029A-5E7F-4860-BFF3-1185B74E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58D8D-2209-476B-B436-55F0A906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os-sync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0A234-79B3-4A35-A1E9-80458398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57400"/>
            <a:ext cx="251460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16954-5745-44B8-B48E-C81747A7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FA365-C0F5-435B-BD96-4CB06ED5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用户态测试程序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反向验证内核行为，形成 QEMU 自证。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C0D00-A7AF-460E-8D38-01A59153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组件提供 #[cfg(test)] host 单元测试；内核通过 QEMU 跑用户程序自证；平台再用可信 recipe 与 Trace 提供可审计证据。</a:t>
            </a:r>
          </a:p>
        </p:txBody>
      </p:sp>
    </p:spTree>
    <p:extLst>
      <p:ext uri="{BB962C8B-B14F-4D97-AF65-F5344CB8AC3E}">
        <p14:creationId xmlns:p14="http://schemas.microsoft.com/office/powerpoint/2010/main" val="1873687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181BC-30A2-4414-85B3-CE3F0D3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A3025-BF3F-4A17-80B6-08E2C0D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 · 自研内核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66E1F-D728-4746-8C21-4DE26235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Lab1-8：一条线覆盖 OS 三大主题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E3057-23A2-4904-B079-92FE2F47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E4A9D-05F9-4219-BD75-1497246C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9C859-CAD6-4A5E-8472-7DB3B118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0383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2857500"/>
                <a:gridCol w="6534150"/>
              </a:tblGrid>
              <a:tr h="45508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核心机制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Lab1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裸机启动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RISC-V 启动、SBI、链接脚本、no_std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Lab2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trap 与多任务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trap 入口、上下文切换、syscall、协作调度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Lab3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内存管理与虚存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物理页、Sv39 页表、地址空间、ELF 映射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Lab4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进程管理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PCB、fork/exec/wait、进程树、僵尸回收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Lab5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文件系统与并发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fd 表、内嵌文件、管道、自旋锁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Lab6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磁盘文件系统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VirtIO、easy-fs、linkat/unlinkat/fstat、spawn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Lab7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IPC 与信号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fd、dup、kill/sigaction/sigprocmask/sigreturn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Lab8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线程与同步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线程、阻塞 mutex/semaphore/condvar、死锁检测</a:t>
                      </a:r>
                    </a:p>
                  </a:txBody>
                  <a:tcPr marL="152400" marR="114300" marT="76200" marB="76200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582AA-8916-4CE5-B26A-6A5519C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基础机制 Lab1-2 · 虚拟化 Lab3-4 · 并发 Lab5/8 · 持久化 Lab5/6 · IPC Lab7</a:t>
            </a:r>
          </a:p>
        </p:txBody>
      </p:sp>
    </p:spTree>
    <p:extLst>
      <p:ext uri="{BB962C8B-B14F-4D97-AF65-F5344CB8AC3E}">
        <p14:creationId xmlns:p14="http://schemas.microsoft.com/office/powerpoint/2010/main" val="1221273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48E96-5C89-43F9-8BB8-BA896B38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EF198-E6B2-4209-81D2-1DDADBAF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 · 二期扩展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1D342-67E6-4B1C-B069-99D2FD60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补齐磁盘 FS、IPC 与线程同步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3B4BD-5416-4A02-B049-465A7B18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3606-9310-458C-8C10-8B3FAC2B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95C0E-7471-4C1F-A42F-D806E83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7ADD0-0416-4517-8E08-1D2E3DA7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337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DA682-D0B8-4648-A35C-F5091A48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3375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F3F07-A7F3-4091-B26F-E9AB7D1C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81E20-EDD1-40B8-B140-E64B14C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磁盘文件系统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5B36F-C4CF-4BF0-AB63-93B6A064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VirtIO 块设备、easy-fs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硬链接、fstat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从磁盘加载 spawn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A255F-D3CD-449E-ACA5-BCB88054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33337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1F168-C59F-4559-8D77-29ECCDF6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333375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47FDF-5A7D-4519-9F06-6AA80133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7518E-0C29-4B5A-8D69-949793A8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IPC 与信号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933D7-47CA-49CA-A885-4A470CA5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统一 fd、dup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kill / sigaction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sigprocmask / sigreturn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DA27F-D813-4A96-B116-B0617912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33337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B802C-023B-40C7-B956-7F76EE59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333375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DCF38-1DED-4A4B-BFE6-8077455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BAC27-4F7C-4389-A64C-F7C0621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线程与同步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B2EBC-2F43-4312-82F5-79FFECCD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进程内线程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阻塞 mutex / semaphore / condvar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银行家式死锁检测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D3E26-FF76-444E-B952-3D53CFB1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53E4D-0E8A-4F3A-B914-39C63F20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验证：make test-lab6 / test-lab7 / test-lab8 全链回归；Lab8 的 8 条 expected 全部通过。</a:t>
            </a:r>
          </a:p>
        </p:txBody>
      </p:sp>
    </p:spTree>
    <p:extLst>
      <p:ext uri="{BB962C8B-B14F-4D97-AF65-F5344CB8AC3E}">
        <p14:creationId xmlns:p14="http://schemas.microsoft.com/office/powerpoint/2010/main" val="21150214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B6E489-67AA-43F0-9B03-EA3EE364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D889E-AA7E-49EF-BDBB-D9E5980E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 · 学习平台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7498B-BAAB-44F5-B887-23A6DADC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 Markdown 手册到学习工作台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BA45-2A0B-42A8-BD7A-53AADA88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CD934-E428-4E36-9D38-4DA6C055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E3691-F561-40C1-B71F-D84A80D2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997D2-F1B9-41B4-A041-2D97E52D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B7CBB-FA9B-462A-8643-3A0380C8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80742-83AD-4682-93A2-827A823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VitePress 站点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1A759-5532-46FF-931A-B236005B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统一承载实验手册、答案与设计文档。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22ACF-6503-4B77-81EA-C60C9254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03975-C20F-4766-BB3C-B74E6901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F2D61-02B8-4381-A4AD-63C49D0B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四区工作台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75608-60FF-4D97-A223-25F15835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左手册、右代码、下方终端 / Problems / 测试结果 / Trace。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6566F-BE9D-4113-A787-CE340BB8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2CFD3-A682-457F-8AC3-7E08C33D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D70A2-0DE8-4D9C-9549-33FDF051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报告提交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6D542-F18E-4F24-A8C1-289909F5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过程、证据与思考题绑定，一键提交。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6E838-CA40-4C23-A1C7-5F0C6633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EFC22-7681-43D1-998F-7649EF45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6B093-26EB-4231-A0D6-FA637072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解锁规则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46FAD-2FDE-4185-AF5D-38E4FFCC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可信成功运行 + 带反思报告 + 教师开放进度。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8AE8F-F186-4A73-9196-2C212BFF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ADDF2-144F-44C0-A5B5-DE69AE81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37EBD-F252-4756-AC62-832F9409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5219700" cy="95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99C28-F939-4A74-A964-4F57E54F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学习工作台（结构示意）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CC9B52-373B-45D7-8B24-6DE6DC90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6764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C36BD9-677F-4DFF-841B-545FE294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实验手册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检查点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DA4807-5301-4F22-9EDF-538755A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95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3F9D7B-6314-42D7-87C7-1B7B1D20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514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代码编辑器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带语法高亮与源码跳转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B99D59-15F7-4849-8ABC-9D056D8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811E0-24A7-461E-9960-5BEDC65D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终端  ·  Problems  ·  测试结果  ·  Trace</a:t>
            </a:r>
          </a:p>
        </p:txBody>
      </p:sp>
    </p:spTree>
    <p:extLst>
      <p:ext uri="{BB962C8B-B14F-4D97-AF65-F5344CB8AC3E}">
        <p14:creationId xmlns:p14="http://schemas.microsoft.com/office/powerpoint/2010/main" val="15607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6E58E-7998-4A94-A0F9-D96DE6DE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4576D-09FF-48B2-8354-658E07C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 · 学习平台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51108-6456-48C2-A9BD-56ED8DA4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教师端：让平台能真实进课堂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38EC3-7C0F-4E0B-B244-669F6A39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F81E5-3098-465D-B956-9D24201D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C446A-602F-48DC-B279-9D8D1771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D1597-11C4-441C-BF6A-C2A94717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337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133F6-9AC4-4454-B652-B32FF7D2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发布与权限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A1ABC-4CE5-4B00-A566-EFBCBA1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全局 / 班级 / 学生三级对象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学生覆盖优先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控制 Lab 开放进度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B10DE-B39D-47A7-8706-4E7EFF7E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33337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C0159-4908-4549-B9D0-BF8CBAD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任务与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E4362-F1A6-40AB-BA1B-8F1A0C24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fill 补全 / debug 排错 / random 变体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统一模型或学生自配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支持个别调整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A5709-AD2A-4596-B807-566B3BE0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33337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89469-FB8B-43C6-8294-6CE96F5B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课堂管理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B27EF-3A76-49BF-AE52-54E9046A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在线查看实验报告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班级名单与导出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教师复核队列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3E78C-B8F7-4D9B-9946-5020A75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59BAA-A446-457B-B342-CA73025E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学生覆盖 &gt; 班级覆盖 &gt; 全局覆盖；AI 只给建议，最终成绩由教师决定。</a:t>
            </a:r>
          </a:p>
        </p:txBody>
      </p:sp>
    </p:spTree>
    <p:extLst>
      <p:ext uri="{BB962C8B-B14F-4D97-AF65-F5344CB8AC3E}">
        <p14:creationId xmlns:p14="http://schemas.microsoft.com/office/powerpoint/2010/main" val="818193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19BD0A-4DBA-4969-BEBA-689BF603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7F8C7-70A4-4EFB-ABFB-732602BC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06 · 可信证据链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F7F8A-2D02-4927-9FD3-ABBE5B1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退出码 0 不等于通过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DF6FB-8DB0-49FA-8D92-24EF8B67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F2C67-55A7-4FBA-AF0A-8375EFDC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A4C39-0DEE-4CB2-ABA5-2C380A36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C2781-D452-406E-997F-F066AF5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E68D8-CB46-4B5D-B534-75B69A98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实验任务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71B89-ABCA-4CC7-A026-E2E9D840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050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107E2-25BA-4AEF-85D7-C02FCA2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BA389-E943-4914-841E-1871483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学生修改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CA03C-A233-437C-A341-9081A30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050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CB80A-4233-4C35-BF34-75046123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4FE47-7F1A-4A61-9CEB-407867B2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可信 recipe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E98F0-378B-4466-A662-C11D98D5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050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8C921-4BA7-4DE2-B43D-9580A0D3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56EC6-8B68-49B6-A61A-D8F8DC19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断言 + 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C4C11-1645-4FB2-A9E3-88D2C6F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050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BCF24-59F0-46BC-B287-7840378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8B61A-50E9-4C65-968B-186DA9A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SQLite 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7B08D-9627-4ADB-B629-051F0C41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506A3-9B0D-4F2E-9B4D-4DF4DF68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FBA0D-913B-43FA-BF2B-E43C72D5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/ 评分引用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52A0A-C5E9-4E5B-8048-E593137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384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87F56-8A81-42A1-BF70-4EE16BE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自定义命令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93954-8B60-4B6D-89F4-63E3BCF7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即使退出码为 0，也不产生 verified=true。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4EB36-5A8B-4F39-BE33-BA89D035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4384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52850-2F34-4AD4-9313-1F1279C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无真实 Trace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B7206-9D75-4407-918B-F7686634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6240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界面保持空态，不展示 mock 数据。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17DEA-0579-4792-B2E7-2C1700A3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4384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2B538-65EB-4FA8-91C3-A5519564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查询时重校验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8AA83-B05D-42AE-A8BD-A0989228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runId、版本、哈希、事件数与顺序。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CFDFA-09F3-4615-AEBA-D56CC52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384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99AC73-EDB1-42E8-9C4B-5C16BA30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跨账号访问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04B5D6-2A75-41FC-B188-572F4906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6240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run 返回 404，证据不可串用。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592F38-CB61-4960-ABA5-824F8DE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 只能引用本轮白名单内的 run: / trace: / diag: / event: / kb: 证据；报告引用 run 与 Trace，教师复核后形成成绩。</a:t>
            </a:r>
          </a:p>
        </p:txBody>
      </p:sp>
    </p:spTree>
    <p:extLst>
      <p:ext uri="{BB962C8B-B14F-4D97-AF65-F5344CB8AC3E}">
        <p14:creationId xmlns:p14="http://schemas.microsoft.com/office/powerpoint/2010/main" val="7158459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088419-DB0D-4986-B394-B902AE4E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4BBC4-B703-448A-8709-F56D222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06 · 可信证据链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78710-E0B5-4626-9343-C5B28D62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失败到通过，每一步都有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84253-2A43-4CF4-9D46-C93FD0F3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CC3EC-A22F-4734-90F3-4CF8CF9E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4F77F-194F-49EB-BAD5-40C37EE4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13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E2C7F-C226-4340-8C98-5B6B2BD6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00843-1609-4AFF-BB59-6FC3A0B5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3F104-5469-4B6F-9C37-079AA355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结构化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6CE5F-2D29-4D3C-AF22-7CF0E75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可信运行生成 trap_enter、task_switch 等事件。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FF601-603C-47C3-B50D-2CDD41AB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77332-CAF6-4BFF-827C-6D8F3386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FBC51-475F-424A-9143-63D92D5D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绑定 runId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32B80-5343-4B7B-8DEA-56EED107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可逐条定位 from / to / reason，跨账号不可访问。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AF2F0-F799-470A-AF0F-F2AFC46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B9947-DA06-4DA2-BD3F-2247D0EF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DCAB4-22C1-42E8-B831-48DB29A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Problems 跳转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21319-F2F7-4B05-923D-C9714C99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编译诊断可直接跳回源码行。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F110C-F7EE-4D94-B3B5-3CCFDF72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36A8F-F6CA-4C24-AF2D-5C5431E3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D5B72-363C-4EE1-8FE7-F7518579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学习事件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75CA1-6259-4D80-921D-C7A8A05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查看 Trace 记录为 trace_inspected。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EB831-AB74-4BF3-8135-81B44D9A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93F8E-5C74-494F-B8BA-EBE01722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调试闭环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E0209-DC63-4532-864D-39AE266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95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BE01B5-E614-45CC-8F07-32554362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运行失败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3D911-E984-460C-A608-2179F9B2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A4836-046A-4F84-BD5E-90805996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95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6C6A4-F1E4-4B29-A260-E8D9E12C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Problems 诊断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2B740-E005-452A-BA0D-F83CCE95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1A084-847C-4A33-A226-577DF97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95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0F8018-B948-45AE-963C-9DD1169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A7B1E-8A4A-4296-86FE-440877A5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9085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2F0E10-FC34-49E3-A7F5-525F834D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14650"/>
            <a:ext cx="95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D028DF-C0CE-4E09-BA29-317ED24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146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可信通过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60F670-5D66-4161-8CF6-ACB12477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示例：task_switch 记录 from、to、reason；Yield 必须观察到五轮，死锁测试必须返回 -0xDEAD。</a:t>
            </a:r>
          </a:p>
        </p:txBody>
      </p:sp>
    </p:spTree>
    <p:extLst>
      <p:ext uri="{BB962C8B-B14F-4D97-AF65-F5344CB8AC3E}">
        <p14:creationId xmlns:p14="http://schemas.microsoft.com/office/powerpoint/2010/main" val="7715224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994D0-2306-4B4D-8260-D0FF8FA3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7ED5C-71AF-43AD-B8CE-05AD41A4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07 · AI 双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290FD-E969-4B00-A415-45191D5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导师：先引导，不代写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5B0CF-0B25-4EB0-A35D-294E9B6C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8A6F5-33F7-4D7A-B7AD-084C9D90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3157E-A798-4318-95BB-6A41DDB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89007-00C3-4F4E-9EFF-38B82EB4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AD406-250B-4701-A5A3-BA60EF22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B9D92-95B1-4618-9E42-6B009A3D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七类问题意图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B5791-2324-4163-A877-BB63F4AF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concept、code-reading、debug、verification、reflection、transfer、direct-answer。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2BF04-9F00-49AA-B014-4937C867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798E8-07FB-4ED1-8842-5D21EA57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CDE64-FFF3-4CB8-B095-0B9BBC80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答案护栏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607BD-1D3A-4637-B0F9-E8E2C67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直接索要完整代码时拒绝交付完整实现。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2233B-571C-4749-A439-7E6A039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27125-B1AF-4B2F-8787-435ADC13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102CF-5066-49A5-8DEF-8D863F86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提示等级 L0-L4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0337C-6D43-4E49-A0D4-4B3967E7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按当前问题线程累计，换题、换文件、换诊断后归零。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F379F-1381-4872-8777-6CC93471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EF71B-B5EB-47D4-8049-5785AE15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0E06D-3540-4AD4-ADC4-AABA1526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证据门控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D09B2-ABF8-411D-81DA-1246C06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459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只能引用本轮白名单证据，无可信 run 不声称通过。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8C2F4-EB91-4380-97EA-8689E86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138E0-D2AD-4E2A-A682-CB4ADD70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同一个问题，两种回应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8B3C8-E074-4144-9BEE-27D90F3C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E6DE6-8350-4D48-B045-07BFD4CB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学生：直接给我完整代码。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B3CD1-8874-4D7A-9827-BD42AE1E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191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35431C-A7EA-4CCF-8452-263F2A19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答案护栏：先观察 task_switch 的 from / to，再定位原因。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D297E4-7F8E-41FD-9741-BC44DADC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4191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F64D0-9E31-4DE6-A734-2DEE9A84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958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附上 Trace 后：引导判断切换原因，并给出下一步检查路径。</a:t>
            </a:r>
          </a:p>
        </p:txBody>
      </p:sp>
    </p:spTree>
    <p:extLst>
      <p:ext uri="{BB962C8B-B14F-4D97-AF65-F5344CB8AC3E}">
        <p14:creationId xmlns:p14="http://schemas.microsoft.com/office/powerpoint/2010/main" val="15581807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854FB-3381-4773-A152-8366316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DD17D-56DD-47E6-9D97-764C6EF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07 · AI 双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60CA-3AC6-4E2E-B299-2883BE88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导师与评估者分开，AI 才可审计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B7636-F5DB-4EDF-B5C5-7ED13901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CEB0C-2119-4AF1-9D46-E4FD201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B3D80-495E-4300-9D76-CCB2BB3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15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8C8BD-6E89-4227-A698-C000CB9C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435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1E91A-8A50-4AE7-A2DB-5387700D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AI Tutor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06AF9-47B5-4585-9F59-06AA0987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容错，鼓励试错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促成判断、观察、假设、验证、迁移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不输出完整答案，不拥有最终裁决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3C59A-D9FE-4158-9BC7-D33EAFA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4102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BE411-46DD-4AAB-B323-8650F24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AI Assessment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90ED5-B704-4FEB-A9D4-410CD3E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4838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稳定、可复现地评价学习过程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输入学习事件、可信 run、报告与 Tutor 对话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无证据项显示“未观察到”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C1ED8-1D20-4904-B8E2-AA9A5ED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D9653-A383-44A5-8EF2-552EEB5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同一个模型又引导又打分 → 自我评价污染；教学对话可创造，成绩必须可审计、可申诉、可复算。</a:t>
            </a:r>
          </a:p>
        </p:txBody>
      </p:sp>
    </p:spTree>
    <p:extLst>
      <p:ext uri="{BB962C8B-B14F-4D97-AF65-F5344CB8AC3E}">
        <p14:creationId xmlns:p14="http://schemas.microsoft.com/office/powerpoint/2010/main" val="16986777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A45F0-2A46-4CAD-BE4F-E8A0F8A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0ABA8-0222-4441-B030-8F1905D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08 · AI 评价与复核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F50AE-697B-48DE-84C4-9E5EDE8B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评分看“怎么学”，教师最终裁决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058D4-00EF-4F0D-BE30-5EBFEDC5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DDA1F-91F4-40CD-8A48-9DE5B38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EEB07-BA6F-4087-9988-0A6911FA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36AFE-1EAA-405C-8BE9-581DEFE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953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4BAFB-9AA3-4973-A79E-E76C2AB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total =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0.45 过程 + 0.35 结果 + 0.20 反思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BD824-B48E-4081-96B6-79059F62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14 个细项，每一项必须带证据引用。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F1473-FD5E-4CF8-9218-158410BF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无证据项显示“未观察到”，禁止凭空给满分；重点看判断、假设、验证、迭代、反思与迁移。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004D4-7E4C-4483-885C-DC35EA4F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410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CCDA1-995B-451E-9779-8A5D34CD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H1-H6 门控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6DF8C-FF0E-457C-90AF-73EB767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结果满分但过程极低、Yield 断言存疑等风险自动进入复核。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E23F2-5019-48EC-9474-E56D32D2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5410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A99E3-15C5-4F25-9851-6072F41E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教师改分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741AB-2AE2-4572-93EE-EE08799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保留原自动分、教师决定、理由与证据引用。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B26D7-373B-4A99-A1D5-65EE9E7E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410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848A1-62D7-4BAA-894A-DB4E2157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申诉机制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F76F2-F1C9-4117-B296-B9091584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学生申诉进入复核队列，教师拥有最终成绩裁决权。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4B29D-6234-488D-91A8-5653DCC4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5410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0016C-0780-45DC-8F2A-96796FA8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AI 定位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58F7D-2766-420D-A29A-B9D048A1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只提供带证据的量规建议，不直接给出最终成绩。</a:t>
            </a:r>
          </a:p>
        </p:txBody>
      </p:sp>
    </p:spTree>
    <p:extLst>
      <p:ext uri="{BB962C8B-B14F-4D97-AF65-F5344CB8AC3E}">
        <p14:creationId xmlns:p14="http://schemas.microsoft.com/office/powerpoint/2010/main" val="1908769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8EE29-77D3-482A-8821-C0C4AAF5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B46C1-34D2-467B-822A-C0B179D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08 · 支撑系统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A2BD5-0A0C-4690-B6ED-703A17A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受控知识库与可扩展的 Lab Factory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677A9-8016-4361-9B35-2FC52D41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AB0C3-D6F4-466D-B82F-179E4174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124CE-E2AF-40A1-BFE5-352D3BC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17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49252-6BB8-4491-952A-5DCA58F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435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AFCCE-AD76-4294-8CEB-53326E5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知识库与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289CB-EDD9-4689-B38C-4A812C5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8 个 Source：Lab 手册、OSTEP、RISC-V Reader 等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多格式规范化 + 章节感知分块 + locator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FTS5 + 向量 + RRF 混合检索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Tutor 最多 5 chunk，公共层最多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F1BD5-019F-48D6-8467-A3CC0CE4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4102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2ADEB-9C80-4568-80A6-3A2E010E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Lab Factory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C0EBB-3AD2-476C-8BDF-C2593812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990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8BEA9-CAB5-42AA-B45D-515646FF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lint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79960-2EE7-4FB7-90AF-E5C3A033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2746B-66B1-4CDD-8D61-37309FB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990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8B35F-CD27-45DD-938F-47B8E248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dry-run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4BB96-4F53-4676-ABA8-56B76D15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330E0-2136-4466-9EF1-F7282FF6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990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F0221-C9C6-4AE2-AA12-3E5D632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AE054-4753-443F-9965-A95D7CF1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7A995-0EA5-4256-8AB6-CDDEE85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990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FDF99-8911-48F8-A9EA-AABF962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publish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F59F7-A575-492C-AB2D-93FEB105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48387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dry-run 在临时目录生成脚手架，不污染学生工作区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publish 必须引用成功测试并经教师显式批准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发布生成不可变 release 目录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16EF6-D092-4FA3-831C-001C44D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教师上传资料默认 teacher-only，审核通过后才进入发布索引；LLM API Key 只存服务端，不写入仓库。</a:t>
            </a:r>
          </a:p>
        </p:txBody>
      </p:sp>
    </p:spTree>
    <p:extLst>
      <p:ext uri="{BB962C8B-B14F-4D97-AF65-F5344CB8AC3E}">
        <p14:creationId xmlns:p14="http://schemas.microsoft.com/office/powerpoint/2010/main" val="18874182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CB2C8D-827F-4D2F-9E65-FBB6DE82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3DF8D-B952-4EF6-9251-64635865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09 · 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55DB4-0AED-42DC-B11C-EE910AC6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所有关键结论可复现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EC5A1-3552-4C7C-AD3C-21F3B85D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675E2-ADE4-4EEF-8941-B3FAC1C1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8192B-6F44-40B7-BBAB-C781172B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18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20179-CBA2-405E-93CE-A5709611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337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18505-4D11-401A-8B8A-597929C4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98/98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3C77C-D06B-4934-B76C-9B06AC1D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参考练习 exercise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7AA17-6226-4330-9E57-94538116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base 61/61 同步通过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BD155-5255-4920-B1E4-4E181E8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33337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650FC-6387-4813-B381-88A63EF3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Lab1-8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2CCF6-048D-42CB-AE08-492C757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QEMU 全链回归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78E7E-7CAC-4ECF-B704-B55237FA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make test-labN 全通过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426FF-A0CD-42EE-9D9E-628AC28B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33337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34F35-9BA7-465E-816B-085910FC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40+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9F06A-B2C9-44D6-9D1E-ACA7FAE2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host 单元测试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B27C8-C170-42E7-BED3-CE0E8E8A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一期 24 项扩到 40+ 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5AA44-168E-4321-8FFD-F8D34B59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3337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C5842-C867-4CE8-92F9-11EC25B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94/95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9E62E-143A-42D6-B2C7-A3A18C39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npm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82F0B-2CE9-40B7-891B-4A187584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唯一失败为文件路径迁移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8C708-F507-405E-83EE-E3703DA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3300"/>
            <a:ext cx="33337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4A0B3-0C4D-4C89-A39B-838BB9AB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34/34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E6486-E38A-4360-A4A5-129328D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Tutor Harness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1A09F-FFF8-4325-9E86-2BB24998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答案泄漏率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FAE51-5736-4B44-BD33-09102F07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33337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4692C7-0CF3-454A-87DB-747AF1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94 / 96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794E5D-BFDA-467D-9538-4132028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离线 / 真实模型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FF8E0-B1ED-4C05-9883-477358C5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口径不同，不可直接比较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9D0A0-130B-46D2-9B5A-B0FBBB4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口径说明：离线全链路综合 94 与真实模型一轮综合 96 使用不同语料/评分代次；结果全部绑定命令、fixture 与版本记录，可重新运行验证。</a:t>
            </a:r>
          </a:p>
        </p:txBody>
      </p:sp>
    </p:spTree>
    <p:extLst>
      <p:ext uri="{BB962C8B-B14F-4D97-AF65-F5344CB8AC3E}">
        <p14:creationId xmlns:p14="http://schemas.microsoft.com/office/powerpoint/2010/main" val="15355830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10EBD-39E5-4D90-8D85-6116D22A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61C3B-5A31-48D6-94A8-13D1DB45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10 · 对比与定位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32349-0D2C-41F2-8A46-0FFBFD57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差异化互补，不是替代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97772-64D4-4AB2-B5A7-768CA607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C58FF-B79E-4EB4-BF1B-4F08079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5222-18FA-4496-B11A-56762BC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19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2914650"/>
                <a:gridCol w="2905125"/>
                <a:gridCol w="2905125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os-lab</a:t>
                      </a:r>
                    </a:p>
                  </a:txBody>
                  <a:tcPr marL="152400" marR="114300" marT="76200" marB="76200"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tg-rcore-tutorial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xv6-riscv</a:t>
                      </a:r>
                    </a:p>
                  </a:txBody>
                  <a:tcPr marL="152400" marR="114300" marT="76200" marB="76200" anchor="ctr">
                    <a:solidFill>
                      <a:srgbClr val="0F172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Rust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Rust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单内核 + feature gate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个独立内核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单一源码树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组件化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crate / 2 层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 crate / 4 层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crate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代码量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8353 行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36455 行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 6000-8000 行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低门槛教学闭环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赛题参照物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经典成熟</a:t>
                      </a:r>
                    </a:p>
                  </a:txBody>
                  <a:tcPr marL="1524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7F7BC-BD8D-4664-BD4C-47F625A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建议路径：先用 os-lab 建立全局脉络，再用 xv6 / rCore 深化。</a:t>
            </a:r>
          </a:p>
        </p:txBody>
      </p:sp>
    </p:spTree>
    <p:extLst>
      <p:ext uri="{BB962C8B-B14F-4D97-AF65-F5344CB8AC3E}">
        <p14:creationId xmlns:p14="http://schemas.microsoft.com/office/powerpoint/2010/main" val="13443409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D159E1-0F86-4677-A530-E8F6912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7C93A-69CA-4104-B511-2F4A0710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11 · 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D0CC4-5497-4B89-973F-AB1AF02D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八个创新点，三类价值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E04DB-944D-4F1C-9122-F0881E2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69547-2BB5-4AB6-9988-9DD4CE96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FD1F2-C452-42D2-99AE-9667CBE3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1EAA4-DDD2-4114-8725-03D58D22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68508-5B3D-4C8F-B28A-25CFE7B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1E3C9-B7C6-4681-AC19-58BD3D9D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渐进式单内核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1ACA2-3E17-4C86-AE64-A69B173D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A0AA5-3176-45F5-B721-5A5C604A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2EF3F-2BB3-4C38-B570-77A1072D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精简组件化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152B0-0915-4E85-A6D0-9E51C07D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93AB9-27E6-40B9-AE39-4C230B4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6A63D-FC90-4959-B79F-B58043D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内嵌测试与可信证据链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8BD1E-7DB2-4D89-9228-C93B6E60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8797D-7FA6-486B-909C-EA8EFA3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F44C2-99A1-4F67-8C89-E48BB17D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问题驱动文档 + AI 协作模板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94AE3-2E7D-4029-A13D-F75DF5DA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BCA8A-5CD8-4374-8B47-0D31C68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F8422-7098-4870-AC26-2A2030D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 双 Agent 评价闭环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5D7A5-6E7B-4AC6-94A0-A8537E90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66571-4F70-49EA-BDA5-0FD4123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9C97B-0604-4ECD-A19B-AE094469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可进课堂的教学管理系统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1D1B5-C6AD-4A5E-9D35-318620F8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86DD0-2B1A-4BCB-8B79-251DBE4F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19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49667-AD03-450C-A721-3CFF4CC6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RAG 受控知识检索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4B7CE4-D929-4DE3-A2C7-061612E2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24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90AC2-4C26-4754-9ED3-08AE518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624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98E6BD-77D8-483F-8883-32A6A120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Lab Factory 教师自建实验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28D3F-0326-4AA4-B155-B1829403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05486-C11F-43D2-B282-2D99FE89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学生价值：低门槛、清晰脉络、学会与 AI 协作；教师价值：可管理、可复核；评委价值：可复现、可审计。</a:t>
            </a:r>
          </a:p>
        </p:txBody>
      </p:sp>
    </p:spTree>
    <p:extLst>
      <p:ext uri="{BB962C8B-B14F-4D97-AF65-F5344CB8AC3E}">
        <p14:creationId xmlns:p14="http://schemas.microsoft.com/office/powerpoint/2010/main" val="1534656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EC431-2BBE-4D17-8A3F-2631E1BC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3E32-1F7F-4F84-BC47-3CCF6D34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12 · 边界与下一步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34079-D8EF-40A8-A28B-B8BE9467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诚实边界与可执行路线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20F13-3761-47D4-AFCF-B18B4DA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27165-4C4D-4331-BF9E-F9EDA1C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7A4D7-6060-4AFB-B275-3E26AE37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21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45B15-4C6F-4DD8-92D8-03930DD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435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EEEB3-83CE-4149-AB8E-2F4912A3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诚实边界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8290A-E9E9-4946-970E-36B2A305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尚未大规模真实课堂验证，学习效果不写成已证实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保留教学简化：内嵌文件、无完整抢占式多核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真实模型 A/B 仅一轮，需多轮采样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AI 使用已披露：代码入库前人工审查 + 测试验证；平台内 AI 不代写完整答案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16C10-27BE-4550-BB1B-970D409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4102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705CD-00EE-4381-B71D-64F199DE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8C49-666E-4A79-9C01-0F20555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838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执行 M5 试用：5-30 名学生，记录首次 verified 时间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基于真实数据校准评分阈值与导师策略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扩展抢占调度、COW、网络、mmap 文件映射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• 探索 Docker / 一体化部署，降低环境门槛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4C659-D3B4-437F-9328-3B4DDE57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M5 试用 → 真实数据校准 → 内核扩展 → 一体化部署</a:t>
            </a:r>
          </a:p>
        </p:txBody>
      </p:sp>
    </p:spTree>
    <p:extLst>
      <p:ext uri="{BB962C8B-B14F-4D97-AF65-F5344CB8AC3E}">
        <p14:creationId xmlns:p14="http://schemas.microsoft.com/office/powerpoint/2010/main" val="21053373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DF050-3215-4B1D-9811-99FFC739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715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07548-B47C-46BD-ABAE-54306FBD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7435F-9CC2-4635-A155-FF5A6451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1028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让 OS 学习从背概念，变成看见内核长出来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9B1DF-C09D-4EF8-80A6-053730D0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E183D-6E10-4F0F-B26B-0914B901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os-lab · EVOLVE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5F3DF-0AA0-4BA3-8B6E-4FD60576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22 / 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C99CE-DFE1-495B-8ACA-2CBC09BD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333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C7FF3-EB48-4D72-B068-2E4301F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33375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4330E-BCAE-44EA-A9AA-59F25BD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B0824-8159-4FD6-9CB7-52565FD9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参考练习 98/98，Lab1-8 内核闭环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99999-2BC0-480A-9F12-FD58F53F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333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0ED92-1652-4373-8586-39860D15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33375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F7193-4151-40F5-B211-1E6406B7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0ECD7-922D-4D78-A3BD-17E8C6E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QEMU、checker、host 单测、Trace 与证据链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DBB4A-1A25-4EBD-9E18-DD9E434A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3333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814A4-458C-450B-93ED-81BA6E1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3333750" cy="57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2A89D-17D1-4851-A9AF-43D03DD4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727E1-421B-4B16-A77A-ED9C2640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工作台、教师端、AI 双 Agent 可进课堂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FEC55-D9A4-422A-80E4-A7AFFBB2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感谢聆听，请各位老师批评指正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A24F9-291F-4A50-8464-52166CFE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os-lab · EVOLVE · 从裸机到线程同步</a:t>
            </a:r>
          </a:p>
        </p:txBody>
      </p:sp>
    </p:spTree>
    <p:extLst>
      <p:ext uri="{BB962C8B-B14F-4D97-AF65-F5344CB8AC3E}">
        <p14:creationId xmlns:p14="http://schemas.microsoft.com/office/powerpoint/2010/main" val="758384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2026-08-10T20:42:09.9100000Z</dcterms:created>
  <dcterms:modified xsi:type="dcterms:W3CDTF">2026-08-10T20:42:09.9100000Z</dcterms:modified>
</coreProperties>
</file>