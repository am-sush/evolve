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notesSlide" Target="../notesSlides/notesSlide9.xml"/><Relationship Id="rId3" Type="http://schemas.openxmlformats.org/officeDocument/2006/relationships/tags" Target="../tags/tag32.xml"/><Relationship Id="rId21" Type="http://schemas.openxmlformats.org/officeDocument/2006/relationships/tags" Target="../tags/tag50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tags" Target="../tags/tag49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645920"/>
            <a:ext cx="5943600" cy="5943600"/>
          </a:xfrm>
          <a:prstGeom prst="ellipse">
            <a:avLst/>
          </a:prstGeom>
          <a:solidFill>
            <a:srgbClr val="2F80FF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6C63FF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640080"/>
            <a:ext cx="3096260" cy="580390"/>
          </a:xfrm>
          <a:prstGeom prst="roundRect">
            <a:avLst>
              <a:gd name="adj" fmla="val 25000"/>
            </a:avLst>
          </a:prstGeom>
          <a:solidFill>
            <a:srgbClr val="2F80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3096260" cy="580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OS-LAB · 项目答辩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协同的操作系统教学实验环境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Rust · RISC-V64 · QEMU · 单内核 Feature Gate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0911205" cy="1860550"/>
          </a:xfrm>
          <a:prstGeom prst="roundRect">
            <a:avLst>
              <a:gd name="adj" fmla="val 9333"/>
            </a:avLst>
          </a:prstGeom>
          <a:solidFill>
            <a:srgbClr val="1E2D52"/>
          </a:solidFill>
        </p:spPr>
      </p:sp>
      <p:sp>
        <p:nvSpPr>
          <p:cNvPr id="9" name="Text 7"/>
          <p:cNvSpPr/>
          <p:nvPr/>
        </p:nvSpPr>
        <p:spPr>
          <a:xfrm>
            <a:off x="868680" y="4160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核心命题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488061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CE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把“会背 OS 概念”转成能看见内核怎样长出来的实验路径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CE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lab1 到 lab5，一条线拉出一个小内核。</a:t>
            </a:r>
          </a:p>
        </p:txBody>
      </p:sp>
      <p:sp>
        <p:nvSpPr>
          <p:cNvPr id="12" name="Text 10"/>
          <p:cNvSpPr/>
          <p:nvPr/>
        </p:nvSpPr>
        <p:spPr>
          <a:xfrm>
            <a:off x="10180015" y="6355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92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任务拆解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练为基础，建为核心：双线交付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不止交一个内核，同时交参考练习、自研环境、文档、测试、对比与 AI 披露</a:t>
            </a: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55625" y="2000250"/>
            <a:ext cx="5074920" cy="4425315"/>
          </a:xfrm>
          <a:prstGeom prst="roundRect">
            <a:avLst>
              <a:gd name="adj" fmla="val 3380"/>
            </a:avLst>
          </a:prstGeom>
          <a:solidFill>
            <a:srgbClr val="EAF2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875665" y="227457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30%</a:t>
            </a:r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75665" y="282321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参考环境练习</a:t>
            </a: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75665" y="328041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</a:t>
            </a: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证明参考 OS 实验真实跑通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范围：</a:t>
            </a: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ch3 / ch4 / ch5 / ch6 / ch8 练习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证据：</a:t>
            </a: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checker 全部通过，结果进入报告</a:t>
            </a:r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875665" y="4926330"/>
            <a:ext cx="4434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1058545" y="4926330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已完成：7/7、16/16、17/17、33/33、25/25</a:t>
            </a: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042025" y="2000250"/>
            <a:ext cx="5074920" cy="4399915"/>
          </a:xfrm>
          <a:prstGeom prst="roundRect">
            <a:avLst>
              <a:gd name="adj" fmla="val 3380"/>
            </a:avLst>
          </a:prstGeom>
          <a:solidFill>
            <a:srgbClr val="EFED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362065" y="227457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C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70%</a:t>
            </a:r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362065" y="282321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 os-lab 环境</a:t>
            </a:r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6362065" y="328041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C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</a:t>
            </a: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构建可教学、可运行、可验证的入门环境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C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范围：</a:t>
            </a: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代码、实验指导、习题答案、测试与报告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C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披露：</a:t>
            </a: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工具名称、场景、成果与边界全部记录</a:t>
            </a:r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6362065" y="4926330"/>
            <a:ext cx="4434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6544945" y="4926330"/>
            <a:ext cx="425640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已完成：代码、文档</a:t>
            </a:r>
            <a:r>
              <a:rPr lang="zh-CN" altLang="en-US" sz="1400" b="1" dirty="0">
                <a:solidFill>
                  <a:srgbClr val="12B88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手册</a:t>
            </a:r>
            <a:r>
              <a:rPr lang="en-US" sz="1400" b="1" dirty="0">
                <a:solidFill>
                  <a:srgbClr val="12B88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、测试、对比、AI 记录</a:t>
            </a:r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团队分工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三人三界：代码、组件、文档各有边界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每人绑定可检查的目录与交付物，降低协作冲突、保持可追责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337560" cy="449199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212848"/>
            <a:ext cx="457200" cy="457200"/>
          </a:xfrm>
          <a:prstGeom prst="ellipse">
            <a:avLst/>
          </a:prstGeom>
          <a:solidFill>
            <a:srgbClr val="2F80FF"/>
          </a:solidFill>
        </p:spPr>
      </p:sp>
      <p:sp>
        <p:nvSpPr>
          <p:cNvPr id="9" name="Text 7"/>
          <p:cNvSpPr/>
          <p:nvPr/>
        </p:nvSpPr>
        <p:spPr>
          <a:xfrm>
            <a:off x="84124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AM-S</a:t>
            </a:r>
            <a:r>
              <a:rPr lang="en-US" altLang="zh-CN" sz="20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uSh</a:t>
            </a:r>
            <a:endParaRPr lang="en-US" sz="2000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7320" y="2535555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 Owner</a:t>
            </a:r>
          </a:p>
        </p:txBody>
      </p:sp>
      <p:sp>
        <p:nvSpPr>
          <p:cNvPr id="12" name="Shape 10"/>
          <p:cNvSpPr/>
          <p:nvPr/>
        </p:nvSpPr>
        <p:spPr>
          <a:xfrm>
            <a:off x="841248" y="2926080"/>
            <a:ext cx="275234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63240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负责目录</a:t>
            </a:r>
          </a:p>
        </p:txBody>
      </p:sp>
      <p:sp>
        <p:nvSpPr>
          <p:cNvPr id="14" name="Text 12"/>
          <p:cNvSpPr/>
          <p:nvPr/>
        </p:nvSpPr>
        <p:spPr>
          <a:xfrm>
            <a:off x="841248" y="3429000"/>
            <a:ext cx="27523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kernel/、feature gate 与构建系统</a:t>
            </a:r>
          </a:p>
        </p:txBody>
      </p:sp>
      <p:sp>
        <p:nvSpPr>
          <p:cNvPr id="15" name="Text 13"/>
          <p:cNvSpPr/>
          <p:nvPr/>
        </p:nvSpPr>
        <p:spPr>
          <a:xfrm>
            <a:off x="841248" y="4058920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核心工作</a:t>
            </a:r>
          </a:p>
        </p:txBody>
      </p:sp>
      <p:sp>
        <p:nvSpPr>
          <p:cNvPr id="16" name="Text 14"/>
          <p:cNvSpPr/>
          <p:nvPr/>
        </p:nvSpPr>
        <p:spPr>
          <a:xfrm>
            <a:off x="841248" y="4287520"/>
            <a:ext cx="27523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 / mm / process / fs / sync / heap 集成</a:t>
            </a:r>
          </a:p>
        </p:txBody>
      </p:sp>
      <p:sp>
        <p:nvSpPr>
          <p:cNvPr id="17" name="Shape 15"/>
          <p:cNvSpPr/>
          <p:nvPr/>
        </p:nvSpPr>
        <p:spPr>
          <a:xfrm>
            <a:off x="893445" y="5177155"/>
            <a:ext cx="2752090" cy="677545"/>
          </a:xfrm>
          <a:prstGeom prst="roundRect">
            <a:avLst>
              <a:gd name="adj" fmla="val 16667"/>
            </a:avLst>
          </a:prstGeom>
          <a:solidFill>
            <a:srgbClr val="EAF2FF"/>
          </a:solidFill>
        </p:spPr>
      </p:sp>
      <p:sp>
        <p:nvSpPr>
          <p:cNvPr id="18" name="Text 16"/>
          <p:cNvSpPr/>
          <p:nvPr/>
        </p:nvSpPr>
        <p:spPr>
          <a:xfrm>
            <a:off x="1012190" y="5177155"/>
            <a:ext cx="2514600" cy="677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lab1–lab5 核心闭环</a:t>
            </a:r>
          </a:p>
        </p:txBody>
      </p:sp>
      <p:sp>
        <p:nvSpPr>
          <p:cNvPr id="19" name="Shape 17"/>
          <p:cNvSpPr/>
          <p:nvPr/>
        </p:nvSpPr>
        <p:spPr>
          <a:xfrm>
            <a:off x="4178935" y="1920240"/>
            <a:ext cx="3337560" cy="4479925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71416" y="2212848"/>
            <a:ext cx="457200" cy="45720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21" name="Text 19"/>
          <p:cNvSpPr/>
          <p:nvPr/>
        </p:nvSpPr>
        <p:spPr>
          <a:xfrm>
            <a:off x="4471416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47488" y="21945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SIZN</a:t>
            </a:r>
            <a:endParaRPr lang="en-US" sz="2000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47488" y="2535555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Crates &amp; Tests</a:t>
            </a:r>
          </a:p>
        </p:txBody>
      </p:sp>
      <p:sp>
        <p:nvSpPr>
          <p:cNvPr id="24" name="Shape 22"/>
          <p:cNvSpPr/>
          <p:nvPr/>
        </p:nvSpPr>
        <p:spPr>
          <a:xfrm>
            <a:off x="4471416" y="2926080"/>
            <a:ext cx="275234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3063240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负责目录</a:t>
            </a:r>
          </a:p>
        </p:txBody>
      </p:sp>
      <p:sp>
        <p:nvSpPr>
          <p:cNvPr id="26" name="Text 24"/>
          <p:cNvSpPr/>
          <p:nvPr/>
        </p:nvSpPr>
        <p:spPr>
          <a:xfrm>
            <a:off x="4471416" y="3429000"/>
            <a:ext cx="27523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os-*/、user/、tests/</a:t>
            </a:r>
          </a:p>
        </p:txBody>
      </p:sp>
      <p:sp>
        <p:nvSpPr>
          <p:cNvPr id="27" name="Text 25"/>
          <p:cNvSpPr/>
          <p:nvPr/>
        </p:nvSpPr>
        <p:spPr>
          <a:xfrm>
            <a:off x="4471416" y="4058920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核心工作</a:t>
            </a:r>
          </a:p>
        </p:txBody>
      </p:sp>
      <p:sp>
        <p:nvSpPr>
          <p:cNvPr id="28" name="Text 26"/>
          <p:cNvSpPr/>
          <p:nvPr/>
        </p:nvSpPr>
        <p:spPr>
          <a:xfrm>
            <a:off x="4471416" y="4287520"/>
            <a:ext cx="27523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个组件 crate、host 单测、用户态测试</a:t>
            </a:r>
          </a:p>
        </p:txBody>
      </p:sp>
      <p:sp>
        <p:nvSpPr>
          <p:cNvPr id="29" name="Shape 27"/>
          <p:cNvSpPr/>
          <p:nvPr/>
        </p:nvSpPr>
        <p:spPr>
          <a:xfrm>
            <a:off x="4523740" y="5177155"/>
            <a:ext cx="2752090" cy="677545"/>
          </a:xfrm>
          <a:prstGeom prst="roundRect">
            <a:avLst>
              <a:gd name="adj" fmla="val 16667"/>
            </a:avLst>
          </a:prstGeom>
          <a:solidFill>
            <a:srgbClr val="EAF2FF"/>
          </a:solidFill>
        </p:spPr>
      </p:sp>
      <p:sp>
        <p:nvSpPr>
          <p:cNvPr id="30" name="Text 28"/>
          <p:cNvSpPr/>
          <p:nvPr/>
        </p:nvSpPr>
        <p:spPr>
          <a:xfrm>
            <a:off x="4642485" y="5177155"/>
            <a:ext cx="2514600" cy="677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组件边界可测试</a:t>
            </a:r>
          </a:p>
        </p:txBody>
      </p:sp>
      <p:sp>
        <p:nvSpPr>
          <p:cNvPr id="31" name="Shape 29"/>
          <p:cNvSpPr/>
          <p:nvPr/>
        </p:nvSpPr>
        <p:spPr>
          <a:xfrm>
            <a:off x="7809230" y="1920240"/>
            <a:ext cx="3337560" cy="44399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01584" y="2212848"/>
            <a:ext cx="457200" cy="457200"/>
          </a:xfrm>
          <a:prstGeom prst="ellipse">
            <a:avLst/>
          </a:prstGeom>
          <a:solidFill>
            <a:srgbClr val="00C2FF"/>
          </a:solidFill>
        </p:spPr>
      </p:sp>
      <p:sp>
        <p:nvSpPr>
          <p:cNvPr id="33" name="Text 31"/>
          <p:cNvSpPr/>
          <p:nvPr/>
        </p:nvSpPr>
        <p:spPr>
          <a:xfrm>
            <a:off x="8101584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77656" y="21945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</a:t>
            </a:r>
            <a:r>
              <a:rPr lang="en-US" altLang="zh-CN" sz="20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nTs1002</a:t>
            </a:r>
            <a:endParaRPr lang="en-US" sz="2000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677656" y="2535555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 &amp; Evaluation</a:t>
            </a:r>
          </a:p>
        </p:txBody>
      </p:sp>
      <p:sp>
        <p:nvSpPr>
          <p:cNvPr id="36" name="Shape 34"/>
          <p:cNvSpPr/>
          <p:nvPr/>
        </p:nvSpPr>
        <p:spPr>
          <a:xfrm>
            <a:off x="8101584" y="2926080"/>
            <a:ext cx="275234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01584" y="3063240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负责目录</a:t>
            </a:r>
          </a:p>
        </p:txBody>
      </p:sp>
      <p:sp>
        <p:nvSpPr>
          <p:cNvPr id="38" name="Text 36"/>
          <p:cNvSpPr/>
          <p:nvPr/>
        </p:nvSpPr>
        <p:spPr>
          <a:xfrm>
            <a:off x="8101584" y="3429000"/>
            <a:ext cx="27523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labs/、os-lab/docs/、docs/</a:t>
            </a:r>
          </a:p>
        </p:txBody>
      </p:sp>
      <p:sp>
        <p:nvSpPr>
          <p:cNvPr id="39" name="Text 37"/>
          <p:cNvSpPr/>
          <p:nvPr/>
        </p:nvSpPr>
        <p:spPr>
          <a:xfrm>
            <a:off x="8101584" y="4058920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核心工作</a:t>
            </a:r>
          </a:p>
        </p:txBody>
      </p:sp>
      <p:sp>
        <p:nvSpPr>
          <p:cNvPr id="40" name="Text 38"/>
          <p:cNvSpPr/>
          <p:nvPr/>
        </p:nvSpPr>
        <p:spPr>
          <a:xfrm>
            <a:off x="8102854" y="4287520"/>
            <a:ext cx="27523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实验指导、习题答案、对比报告、AI 协作记录</a:t>
            </a:r>
          </a:p>
        </p:txBody>
      </p:sp>
      <p:sp>
        <p:nvSpPr>
          <p:cNvPr id="41" name="Shape 39"/>
          <p:cNvSpPr/>
          <p:nvPr/>
        </p:nvSpPr>
        <p:spPr>
          <a:xfrm>
            <a:off x="8153400" y="5177155"/>
            <a:ext cx="2752090" cy="677545"/>
          </a:xfrm>
          <a:prstGeom prst="roundRect">
            <a:avLst>
              <a:gd name="adj" fmla="val 16667"/>
            </a:avLst>
          </a:prstGeom>
          <a:solidFill>
            <a:srgbClr val="EAF2FF"/>
          </a:solidFill>
        </p:spPr>
      </p:sp>
      <p:sp>
        <p:nvSpPr>
          <p:cNvPr id="42" name="Text 40"/>
          <p:cNvSpPr/>
          <p:nvPr/>
        </p:nvSpPr>
        <p:spPr>
          <a:xfrm>
            <a:off x="8272780" y="5177155"/>
            <a:ext cx="2514600" cy="677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材料入口可追踪</a:t>
            </a:r>
          </a:p>
        </p:txBody>
      </p:sp>
      <p:sp>
        <p:nvSpPr>
          <p:cNvPr id="43" name="Shape 4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开发计划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分工协作</a:t>
            </a:r>
            <a:r>
              <a:rPr 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设定计划执行推进</a:t>
            </a:r>
            <a:endParaRPr lang="en-US" sz="3200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16213E"/>
          </a:solidFill>
        </p:spPr>
      </p:sp>
      <p:sp>
        <p:nvSpPr>
          <p:cNvPr id="8" name="Text 6"/>
          <p:cNvSpPr/>
          <p:nvPr/>
        </p:nvSpPr>
        <p:spPr>
          <a:xfrm>
            <a:off x="685800" y="18745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</a:p>
        </p:txBody>
      </p:sp>
      <p:sp>
        <p:nvSpPr>
          <p:cNvPr id="9" name="Text 7"/>
          <p:cNvSpPr/>
          <p:nvPr/>
        </p:nvSpPr>
        <p:spPr>
          <a:xfrm>
            <a:off x="2286000" y="1874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推进任务</a:t>
            </a:r>
          </a:p>
        </p:txBody>
      </p:sp>
      <p:sp>
        <p:nvSpPr>
          <p:cNvPr id="10" name="Text 8"/>
          <p:cNvSpPr/>
          <p:nvPr/>
        </p:nvSpPr>
        <p:spPr>
          <a:xfrm>
            <a:off x="7589520" y="1874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负责人</a:t>
            </a:r>
          </a:p>
        </p:txBody>
      </p:sp>
      <p:sp>
        <p:nvSpPr>
          <p:cNvPr id="11" name="Text 9"/>
          <p:cNvSpPr/>
          <p:nvPr/>
        </p:nvSpPr>
        <p:spPr>
          <a:xfrm>
            <a:off x="9418320" y="18745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完成情况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1094415" cy="676656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685800" y="2240280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06-01 ~ 06-20</a:t>
            </a:r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资料、环境、参考基线、仓库初始化；形成 project plan 与技术路线</a:t>
            </a:r>
          </a:p>
        </p:txBody>
      </p:sp>
      <p:sp>
        <p:nvSpPr>
          <p:cNvPr id="15" name="Text 13"/>
          <p:cNvSpPr/>
          <p:nvPr/>
        </p:nvSpPr>
        <p:spPr>
          <a:xfrm>
            <a:off x="7589520" y="2240280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全员</a:t>
            </a:r>
          </a:p>
        </p:txBody>
      </p:sp>
      <p:sp>
        <p:nvSpPr>
          <p:cNvPr id="16" name="Text 14"/>
          <p:cNvSpPr/>
          <p:nvPr/>
        </p:nvSpPr>
        <p:spPr>
          <a:xfrm>
            <a:off x="9418320" y="2240280"/>
            <a:ext cx="16916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11094415" cy="676656"/>
          </a:xfrm>
          <a:prstGeom prst="roundRect">
            <a:avLst/>
          </a:prstGeom>
          <a:solidFill>
            <a:srgbClr val="EAF2FF"/>
          </a:solidFill>
        </p:spPr>
      </p:sp>
      <p:sp>
        <p:nvSpPr>
          <p:cNvPr id="18" name="Text 16"/>
          <p:cNvSpPr/>
          <p:nvPr/>
        </p:nvSpPr>
        <p:spPr>
          <a:xfrm>
            <a:off x="685800" y="2916936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06-21</a:t>
            </a:r>
          </a:p>
        </p:txBody>
      </p:sp>
      <p:sp>
        <p:nvSpPr>
          <p:cNvPr id="19" name="Text 17"/>
          <p:cNvSpPr/>
          <p:nvPr/>
        </p:nvSpPr>
        <p:spPr>
          <a:xfrm>
            <a:off x="2286000" y="2916936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lab1：裸机启动、SBI 输出、kernel skeleton、文档</a:t>
            </a:r>
          </a:p>
        </p:txBody>
      </p:sp>
      <p:sp>
        <p:nvSpPr>
          <p:cNvPr id="20" name="Text 18"/>
          <p:cNvSpPr/>
          <p:nvPr/>
        </p:nvSpPr>
        <p:spPr>
          <a:xfrm>
            <a:off x="7589520" y="2916936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/ C</a:t>
            </a:r>
            <a:endParaRPr lang="en-US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8320" y="2916936"/>
            <a:ext cx="16916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完成并可运行</a:t>
            </a:r>
          </a:p>
        </p:txBody>
      </p:sp>
      <p:sp>
        <p:nvSpPr>
          <p:cNvPr id="22" name="Shape 20"/>
          <p:cNvSpPr/>
          <p:nvPr/>
        </p:nvSpPr>
        <p:spPr>
          <a:xfrm>
            <a:off x="548640" y="3593592"/>
            <a:ext cx="11094415" cy="676656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685800" y="3593592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06-22 ~ 06-23</a:t>
            </a:r>
          </a:p>
        </p:txBody>
      </p:sp>
      <p:sp>
        <p:nvSpPr>
          <p:cNvPr id="24" name="Text 22"/>
          <p:cNvSpPr/>
          <p:nvPr/>
        </p:nvSpPr>
        <p:spPr>
          <a:xfrm>
            <a:off x="2286000" y="3593592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lab2 trap / task / syscall；lab3 虚存、分配器、ELF 映射；同步 AI 记录模板</a:t>
            </a:r>
          </a:p>
        </p:txBody>
      </p:sp>
      <p:sp>
        <p:nvSpPr>
          <p:cNvPr id="25" name="Text 23"/>
          <p:cNvSpPr/>
          <p:nvPr/>
        </p:nvSpPr>
        <p:spPr>
          <a:xfrm>
            <a:off x="7589520" y="3593592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/ B</a:t>
            </a:r>
            <a:endParaRPr lang="en-US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418320" y="3593592"/>
            <a:ext cx="16916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完成并进入回归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4270248"/>
            <a:ext cx="11094415" cy="676656"/>
          </a:xfrm>
          <a:prstGeom prst="roundRect">
            <a:avLst/>
          </a:prstGeom>
          <a:solidFill>
            <a:srgbClr val="EAF2FF"/>
          </a:solidFill>
        </p:spPr>
      </p:sp>
      <p:sp>
        <p:nvSpPr>
          <p:cNvPr id="28" name="Text 26"/>
          <p:cNvSpPr/>
          <p:nvPr/>
        </p:nvSpPr>
        <p:spPr>
          <a:xfrm>
            <a:off x="685800" y="4270248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06-24 ~ 06-25</a:t>
            </a:r>
          </a:p>
        </p:txBody>
      </p:sp>
      <p:sp>
        <p:nvSpPr>
          <p:cNvPr id="29" name="Text 27"/>
          <p:cNvSpPr/>
          <p:nvPr/>
        </p:nvSpPr>
        <p:spPr>
          <a:xfrm>
            <a:off x="2286000" y="4270248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lab4 fork / exec / wait；lab5 文件、管道、spinlock；测试与习题同步补齐</a:t>
            </a:r>
          </a:p>
        </p:txBody>
      </p:sp>
      <p:sp>
        <p:nvSpPr>
          <p:cNvPr id="30" name="Text 28"/>
          <p:cNvSpPr/>
          <p:nvPr/>
        </p:nvSpPr>
        <p:spPr>
          <a:xfrm>
            <a:off x="7589520" y="4270248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/ B</a:t>
            </a:r>
            <a:endParaRPr lang="en-US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18320" y="4270248"/>
            <a:ext cx="16916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完成核心功能</a:t>
            </a:r>
          </a:p>
        </p:txBody>
      </p:sp>
      <p:sp>
        <p:nvSpPr>
          <p:cNvPr id="32" name="Shape 30"/>
          <p:cNvSpPr/>
          <p:nvPr/>
        </p:nvSpPr>
        <p:spPr>
          <a:xfrm>
            <a:off x="548640" y="4946904"/>
            <a:ext cx="11094415" cy="676656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685800" y="4946904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06-26 ~ 06-27</a:t>
            </a:r>
          </a:p>
        </p:txBody>
      </p:sp>
      <p:sp>
        <p:nvSpPr>
          <p:cNvPr id="34" name="Text 32"/>
          <p:cNvSpPr/>
          <p:nvPr/>
        </p:nvSpPr>
        <p:spPr>
          <a:xfrm>
            <a:off x="2286000" y="4946904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os-fs 集成、交叉回归、clippy、设计报告；正倒序 QEMU 全量走查</a:t>
            </a:r>
          </a:p>
        </p:txBody>
      </p:sp>
      <p:sp>
        <p:nvSpPr>
          <p:cNvPr id="35" name="Text 33"/>
          <p:cNvSpPr/>
          <p:nvPr/>
        </p:nvSpPr>
        <p:spPr>
          <a:xfrm>
            <a:off x="7589520" y="4946904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全员</a:t>
            </a:r>
          </a:p>
        </p:txBody>
      </p:sp>
      <p:sp>
        <p:nvSpPr>
          <p:cNvPr id="36" name="Text 34"/>
          <p:cNvSpPr/>
          <p:nvPr/>
        </p:nvSpPr>
        <p:spPr>
          <a:xfrm>
            <a:off x="9418320" y="4946904"/>
            <a:ext cx="16916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全部绿色</a:t>
            </a:r>
          </a:p>
        </p:txBody>
      </p:sp>
      <p:sp>
        <p:nvSpPr>
          <p:cNvPr id="37" name="Shape 35"/>
          <p:cNvSpPr/>
          <p:nvPr/>
        </p:nvSpPr>
        <p:spPr>
          <a:xfrm>
            <a:off x="548640" y="5623560"/>
            <a:ext cx="11094415" cy="676656"/>
          </a:xfrm>
          <a:prstGeom prst="roundRect">
            <a:avLst/>
          </a:prstGeom>
          <a:solidFill>
            <a:srgbClr val="EAF2FF"/>
          </a:solidFill>
        </p:spPr>
      </p:sp>
      <p:sp>
        <p:nvSpPr>
          <p:cNvPr id="38" name="Text 36"/>
          <p:cNvSpPr/>
          <p:nvPr/>
        </p:nvSpPr>
        <p:spPr>
          <a:xfrm>
            <a:off x="685800" y="5623560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06-28 ~ 06-30</a:t>
            </a:r>
          </a:p>
        </p:txBody>
      </p:sp>
      <p:sp>
        <p:nvSpPr>
          <p:cNvPr id="39" name="Text 37"/>
          <p:cNvSpPr/>
          <p:nvPr/>
        </p:nvSpPr>
        <p:spPr>
          <a:xfrm>
            <a:off x="2286000" y="5623560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参考练习收尾、VitePress 手册、技术方案、答辩材料；AI 声明与边界</a:t>
            </a:r>
          </a:p>
        </p:txBody>
      </p:sp>
      <p:sp>
        <p:nvSpPr>
          <p:cNvPr id="40" name="Text 38"/>
          <p:cNvSpPr/>
          <p:nvPr/>
        </p:nvSpPr>
        <p:spPr>
          <a:xfrm>
            <a:off x="7589520" y="5623560"/>
            <a:ext cx="1645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</a:t>
            </a: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 全员</a:t>
            </a:r>
          </a:p>
        </p:txBody>
      </p:sp>
      <p:sp>
        <p:nvSpPr>
          <p:cNvPr id="41" name="Text 39"/>
          <p:cNvSpPr/>
          <p:nvPr/>
        </p:nvSpPr>
        <p:spPr>
          <a:xfrm>
            <a:off x="9418320" y="5623560"/>
            <a:ext cx="16916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交付收口完成</a:t>
            </a:r>
          </a:p>
        </p:txBody>
      </p:sp>
      <p:sp>
        <p:nvSpPr>
          <p:cNvPr id="42" name="Shape 40"/>
          <p:cNvSpPr/>
          <p:nvPr/>
        </p:nvSpPr>
        <p:spPr>
          <a:xfrm>
            <a:off x="548640" y="1874520"/>
            <a:ext cx="11094415" cy="4425696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架构设计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单内核 Feature Gate：五个 Lab 同根生长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lab1 到 lab5 是同一个 kernel 的连续演进，而不是五个孤立项目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03020" y="2167128"/>
            <a:ext cx="365760" cy="365760"/>
          </a:xfrm>
          <a:prstGeom prst="ellipse">
            <a:avLst/>
          </a:prstGeom>
          <a:solidFill>
            <a:srgbClr val="2F80FF"/>
          </a:solidFill>
        </p:spPr>
      </p:sp>
      <p:sp>
        <p:nvSpPr>
          <p:cNvPr id="9" name="Text 7"/>
          <p:cNvSpPr/>
          <p:nvPr/>
        </p:nvSpPr>
        <p:spPr>
          <a:xfrm>
            <a:off x="1303020" y="2167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262432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lab1</a:t>
            </a:r>
          </a:p>
        </p:txBody>
      </p:sp>
      <p:sp>
        <p:nvSpPr>
          <p:cNvPr id="11" name="Text 9"/>
          <p:cNvSpPr/>
          <p:nvPr/>
        </p:nvSpPr>
        <p:spPr>
          <a:xfrm>
            <a:off x="621792" y="2880360"/>
            <a:ext cx="17282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裸机启动</a:t>
            </a:r>
          </a:p>
        </p:txBody>
      </p:sp>
      <p:sp>
        <p:nvSpPr>
          <p:cNvPr id="12" name="Text 10"/>
          <p:cNvSpPr/>
          <p:nvPr/>
        </p:nvSpPr>
        <p:spPr>
          <a:xfrm>
            <a:off x="621792" y="329184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SBI 输出</a:t>
            </a:r>
          </a:p>
        </p:txBody>
      </p:sp>
      <p:sp>
        <p:nvSpPr>
          <p:cNvPr id="13" name="Shape 11"/>
          <p:cNvSpPr/>
          <p:nvPr/>
        </p:nvSpPr>
        <p:spPr>
          <a:xfrm>
            <a:off x="2423160" y="2825496"/>
            <a:ext cx="164592" cy="1828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4" name="Shape 12"/>
          <p:cNvSpPr/>
          <p:nvPr/>
        </p:nvSpPr>
        <p:spPr>
          <a:xfrm>
            <a:off x="2587752" y="196596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42132" y="2167128"/>
            <a:ext cx="365760" cy="36576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16" name="Text 14"/>
          <p:cNvSpPr/>
          <p:nvPr/>
        </p:nvSpPr>
        <p:spPr>
          <a:xfrm>
            <a:off x="3342132" y="2167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17" name="Text 15"/>
          <p:cNvSpPr/>
          <p:nvPr/>
        </p:nvSpPr>
        <p:spPr>
          <a:xfrm>
            <a:off x="2587752" y="262432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lab2</a:t>
            </a:r>
          </a:p>
        </p:txBody>
      </p:sp>
      <p:sp>
        <p:nvSpPr>
          <p:cNvPr id="18" name="Text 16"/>
          <p:cNvSpPr/>
          <p:nvPr/>
        </p:nvSpPr>
        <p:spPr>
          <a:xfrm>
            <a:off x="2660904" y="2880360"/>
            <a:ext cx="17282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 / task</a:t>
            </a:r>
          </a:p>
        </p:txBody>
      </p:sp>
      <p:sp>
        <p:nvSpPr>
          <p:cNvPr id="19" name="Text 17"/>
          <p:cNvSpPr/>
          <p:nvPr/>
        </p:nvSpPr>
        <p:spPr>
          <a:xfrm>
            <a:off x="2660904" y="329184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syscall</a:t>
            </a:r>
          </a:p>
        </p:txBody>
      </p:sp>
      <p:sp>
        <p:nvSpPr>
          <p:cNvPr id="20" name="Shape 18"/>
          <p:cNvSpPr/>
          <p:nvPr/>
        </p:nvSpPr>
        <p:spPr>
          <a:xfrm>
            <a:off x="4462272" y="2825496"/>
            <a:ext cx="164592" cy="1828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1" name="Shape 19"/>
          <p:cNvSpPr/>
          <p:nvPr/>
        </p:nvSpPr>
        <p:spPr>
          <a:xfrm>
            <a:off x="4626864" y="196596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81244" y="2167128"/>
            <a:ext cx="365760" cy="365760"/>
          </a:xfrm>
          <a:prstGeom prst="ellipse">
            <a:avLst/>
          </a:prstGeom>
          <a:solidFill>
            <a:srgbClr val="00C2FF"/>
          </a:solidFill>
        </p:spPr>
      </p:sp>
      <p:sp>
        <p:nvSpPr>
          <p:cNvPr id="23" name="Text 21"/>
          <p:cNvSpPr/>
          <p:nvPr/>
        </p:nvSpPr>
        <p:spPr>
          <a:xfrm>
            <a:off x="5381244" y="2167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</a:p>
        </p:txBody>
      </p:sp>
      <p:sp>
        <p:nvSpPr>
          <p:cNvPr id="24" name="Text 22"/>
          <p:cNvSpPr/>
          <p:nvPr/>
        </p:nvSpPr>
        <p:spPr>
          <a:xfrm>
            <a:off x="4626864" y="262432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lab3</a:t>
            </a:r>
          </a:p>
        </p:txBody>
      </p:sp>
      <p:sp>
        <p:nvSpPr>
          <p:cNvPr id="25" name="Text 23"/>
          <p:cNvSpPr/>
          <p:nvPr/>
        </p:nvSpPr>
        <p:spPr>
          <a:xfrm>
            <a:off x="4700016" y="2880360"/>
            <a:ext cx="17282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mm</a:t>
            </a:r>
          </a:p>
        </p:txBody>
      </p:sp>
      <p:sp>
        <p:nvSpPr>
          <p:cNvPr id="26" name="Text 24"/>
          <p:cNvSpPr/>
          <p:nvPr/>
        </p:nvSpPr>
        <p:spPr>
          <a:xfrm>
            <a:off x="4700016" y="329184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os-vm</a:t>
            </a:r>
          </a:p>
        </p:txBody>
      </p:sp>
      <p:sp>
        <p:nvSpPr>
          <p:cNvPr id="27" name="Shape 25"/>
          <p:cNvSpPr/>
          <p:nvPr/>
        </p:nvSpPr>
        <p:spPr>
          <a:xfrm>
            <a:off x="6501384" y="2825496"/>
            <a:ext cx="164592" cy="1828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8" name="Shape 26"/>
          <p:cNvSpPr/>
          <p:nvPr/>
        </p:nvSpPr>
        <p:spPr>
          <a:xfrm>
            <a:off x="6665976" y="196596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20356" y="2167128"/>
            <a:ext cx="365760" cy="365760"/>
          </a:xfrm>
          <a:prstGeom prst="ellipse">
            <a:avLst/>
          </a:prstGeom>
          <a:solidFill>
            <a:srgbClr val="2F80FF"/>
          </a:solidFill>
        </p:spPr>
      </p:sp>
      <p:sp>
        <p:nvSpPr>
          <p:cNvPr id="30" name="Text 28"/>
          <p:cNvSpPr/>
          <p:nvPr/>
        </p:nvSpPr>
        <p:spPr>
          <a:xfrm>
            <a:off x="7420356" y="2167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</a:p>
        </p:txBody>
      </p:sp>
      <p:sp>
        <p:nvSpPr>
          <p:cNvPr id="31" name="Text 29"/>
          <p:cNvSpPr/>
          <p:nvPr/>
        </p:nvSpPr>
        <p:spPr>
          <a:xfrm>
            <a:off x="6665976" y="262432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lab4</a:t>
            </a:r>
          </a:p>
        </p:txBody>
      </p:sp>
      <p:sp>
        <p:nvSpPr>
          <p:cNvPr id="32" name="Text 30"/>
          <p:cNvSpPr/>
          <p:nvPr/>
        </p:nvSpPr>
        <p:spPr>
          <a:xfrm>
            <a:off x="6739128" y="2880360"/>
            <a:ext cx="17282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process</a:t>
            </a:r>
          </a:p>
        </p:txBody>
      </p:sp>
      <p:sp>
        <p:nvSpPr>
          <p:cNvPr id="33" name="Text 31"/>
          <p:cNvSpPr/>
          <p:nvPr/>
        </p:nvSpPr>
        <p:spPr>
          <a:xfrm>
            <a:off x="6739128" y="329184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fork / exec / wait</a:t>
            </a:r>
          </a:p>
        </p:txBody>
      </p:sp>
      <p:sp>
        <p:nvSpPr>
          <p:cNvPr id="34" name="Shape 32"/>
          <p:cNvSpPr/>
          <p:nvPr/>
        </p:nvSpPr>
        <p:spPr>
          <a:xfrm>
            <a:off x="8540496" y="2825496"/>
            <a:ext cx="164592" cy="1828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5" name="Shape 33"/>
          <p:cNvSpPr/>
          <p:nvPr/>
        </p:nvSpPr>
        <p:spPr>
          <a:xfrm>
            <a:off x="8705088" y="196596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59468" y="2167128"/>
            <a:ext cx="365760" cy="36576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37" name="Text 35"/>
          <p:cNvSpPr/>
          <p:nvPr/>
        </p:nvSpPr>
        <p:spPr>
          <a:xfrm>
            <a:off x="9459468" y="2167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</a:p>
        </p:txBody>
      </p:sp>
      <p:sp>
        <p:nvSpPr>
          <p:cNvPr id="38" name="Text 36"/>
          <p:cNvSpPr/>
          <p:nvPr/>
        </p:nvSpPr>
        <p:spPr>
          <a:xfrm>
            <a:off x="8705088" y="262432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lab5</a:t>
            </a:r>
          </a:p>
        </p:txBody>
      </p:sp>
      <p:sp>
        <p:nvSpPr>
          <p:cNvPr id="39" name="Text 37"/>
          <p:cNvSpPr/>
          <p:nvPr/>
        </p:nvSpPr>
        <p:spPr>
          <a:xfrm>
            <a:off x="8778240" y="2880360"/>
            <a:ext cx="17282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fs / sync</a:t>
            </a:r>
          </a:p>
        </p:txBody>
      </p:sp>
      <p:sp>
        <p:nvSpPr>
          <p:cNvPr id="40" name="Text 38"/>
          <p:cNvSpPr/>
          <p:nvPr/>
        </p:nvSpPr>
        <p:spPr>
          <a:xfrm>
            <a:off x="8778240" y="329184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pipe / spinlock</a:t>
            </a:r>
          </a:p>
        </p:txBody>
      </p:sp>
      <p:sp>
        <p:nvSpPr>
          <p:cNvPr id="41" name="Text 39"/>
          <p:cNvSpPr/>
          <p:nvPr/>
        </p:nvSpPr>
        <p:spPr>
          <a:xfrm>
            <a:off x="10625328" y="2670048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B8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可运行 →</a:t>
            </a:r>
          </a:p>
        </p:txBody>
      </p:sp>
      <p:sp>
        <p:nvSpPr>
          <p:cNvPr id="42" name="Shape 40"/>
          <p:cNvSpPr/>
          <p:nvPr/>
        </p:nvSpPr>
        <p:spPr>
          <a:xfrm>
            <a:off x="548640" y="4291965"/>
            <a:ext cx="6949440" cy="187579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2960" y="4559935"/>
            <a:ext cx="5486400" cy="33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kernel/Cargo.toml</a:t>
            </a:r>
          </a:p>
        </p:txBody>
      </p:sp>
      <p:sp>
        <p:nvSpPr>
          <p:cNvPr id="44" name="Text 42"/>
          <p:cNvSpPr/>
          <p:nvPr/>
        </p:nvSpPr>
        <p:spPr>
          <a:xfrm>
            <a:off x="822960" y="4848225"/>
            <a:ext cx="6400800" cy="1088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 = ["lab1"]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lab2 = ["lab1", "os-context", "os-syscall"]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lab5 = ["lab4", "os-fs"]</a:t>
            </a:r>
          </a:p>
        </p:txBody>
      </p:sp>
      <p:sp>
        <p:nvSpPr>
          <p:cNvPr id="45" name="Shape 43"/>
          <p:cNvSpPr/>
          <p:nvPr/>
        </p:nvSpPr>
        <p:spPr>
          <a:xfrm>
            <a:off x="7818120" y="4291965"/>
            <a:ext cx="3337560" cy="1875790"/>
          </a:xfrm>
          <a:prstGeom prst="roundRect">
            <a:avLst>
              <a:gd name="adj" fmla="val 6452"/>
            </a:avLst>
          </a:prstGeom>
          <a:solidFill>
            <a:srgbClr val="EAF2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92440" y="4559935"/>
            <a:ext cx="2834640" cy="33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工程意义</a:t>
            </a:r>
          </a:p>
        </p:txBody>
      </p:sp>
      <p:sp>
        <p:nvSpPr>
          <p:cNvPr id="47" name="Text 45"/>
          <p:cNvSpPr/>
          <p:nvPr/>
        </p:nvSpPr>
        <p:spPr>
          <a:xfrm>
            <a:off x="8092440" y="4798060"/>
            <a:ext cx="2834640" cy="1149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Lab 增量打开功能门，学习者看到的是同一个内核逐步长出机制。</a:t>
            </a:r>
          </a:p>
        </p:txBody>
      </p:sp>
      <p:sp>
        <p:nvSpPr>
          <p:cNvPr id="48" name="Shape 4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课程脉络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 Lab 覆盖 OS 三大主题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裸机、trap、虚存、进程、文件与并发，串成一条短而完整的入门路径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24028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F80FF">
              <a:alpha val="12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841248" y="224028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lab1 + lab2</a:t>
            </a:r>
          </a:p>
        </p:txBody>
      </p:sp>
      <p:sp>
        <p:nvSpPr>
          <p:cNvPr id="10" name="Text 8"/>
          <p:cNvSpPr/>
          <p:nvPr/>
        </p:nvSpPr>
        <p:spPr>
          <a:xfrm>
            <a:off x="841248" y="27432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基础机制</a:t>
            </a:r>
          </a:p>
        </p:txBody>
      </p:sp>
      <p:sp>
        <p:nvSpPr>
          <p:cNvPr id="11" name="Text 9"/>
          <p:cNvSpPr/>
          <p:nvPr/>
        </p:nvSpPr>
        <p:spPr>
          <a:xfrm>
            <a:off x="841248" y="3154680"/>
            <a:ext cx="275234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裸机启动、trap / task / syscall</a:t>
            </a:r>
          </a:p>
        </p:txBody>
      </p:sp>
      <p:sp>
        <p:nvSpPr>
          <p:cNvPr id="12" name="Shape 10"/>
          <p:cNvSpPr/>
          <p:nvPr/>
        </p:nvSpPr>
        <p:spPr>
          <a:xfrm>
            <a:off x="4178808" y="196596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1416" y="224028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6C63FF">
              <a:alpha val="12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4471416" y="224028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lab3 + lab4</a:t>
            </a:r>
          </a:p>
        </p:txBody>
      </p:sp>
      <p:sp>
        <p:nvSpPr>
          <p:cNvPr id="15" name="Text 13"/>
          <p:cNvSpPr/>
          <p:nvPr/>
        </p:nvSpPr>
        <p:spPr>
          <a:xfrm>
            <a:off x="4471416" y="27432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虚拟化</a:t>
            </a:r>
          </a:p>
        </p:txBody>
      </p:sp>
      <p:sp>
        <p:nvSpPr>
          <p:cNvPr id="16" name="Text 14"/>
          <p:cNvSpPr/>
          <p:nvPr/>
        </p:nvSpPr>
        <p:spPr>
          <a:xfrm>
            <a:off x="4471416" y="3154680"/>
            <a:ext cx="275234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虚存管理、进程 fork / exec / wait</a:t>
            </a:r>
          </a:p>
        </p:txBody>
      </p:sp>
      <p:sp>
        <p:nvSpPr>
          <p:cNvPr id="17" name="Shape 15"/>
          <p:cNvSpPr/>
          <p:nvPr/>
        </p:nvSpPr>
        <p:spPr>
          <a:xfrm>
            <a:off x="7808976" y="196596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24028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00C2FF">
              <a:alpha val="12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8101584" y="224028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lab5</a:t>
            </a:r>
          </a:p>
        </p:txBody>
      </p:sp>
      <p:sp>
        <p:nvSpPr>
          <p:cNvPr id="20" name="Text 18"/>
          <p:cNvSpPr/>
          <p:nvPr/>
        </p:nvSpPr>
        <p:spPr>
          <a:xfrm>
            <a:off x="8101584" y="27432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并发与持久化</a:t>
            </a:r>
          </a:p>
        </p:txBody>
      </p:sp>
      <p:sp>
        <p:nvSpPr>
          <p:cNvPr id="21" name="Text 19"/>
          <p:cNvSpPr/>
          <p:nvPr/>
        </p:nvSpPr>
        <p:spPr>
          <a:xfrm>
            <a:off x="8101584" y="3154680"/>
            <a:ext cx="275234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文件系统、管道、spinlock</a:t>
            </a:r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94720" cy="1350010"/>
          </a:xfrm>
          <a:prstGeom prst="roundRect">
            <a:avLst>
              <a:gd name="adj" fmla="val 10000"/>
            </a:avLst>
          </a:prstGeom>
          <a:solidFill>
            <a:srgbClr val="EFEDFF"/>
          </a:solidFill>
        </p:spPr>
      </p:sp>
      <p:sp>
        <p:nvSpPr>
          <p:cNvPr id="23" name="Text 21"/>
          <p:cNvSpPr/>
          <p:nvPr/>
        </p:nvSpPr>
        <p:spPr>
          <a:xfrm>
            <a:off x="868680" y="4709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先建立脉络，再进入深化</a:t>
            </a:r>
          </a:p>
        </p:txBody>
      </p:sp>
      <p:sp>
        <p:nvSpPr>
          <p:cNvPr id="24" name="Text 22"/>
          <p:cNvSpPr/>
          <p:nvPr/>
        </p:nvSpPr>
        <p:spPr>
          <a:xfrm>
            <a:off x="841375" y="5236845"/>
            <a:ext cx="104543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定位：低门槛入门路径，后续可接 xv6 / rCore 深化。</a:t>
            </a:r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 集成层 + 6 个组件 Crate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 负责集成与策略，组件 crate 负责可独立测试的机制边界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1748790"/>
            <a:ext cx="11094720" cy="1196975"/>
          </a:xfrm>
          <a:prstGeom prst="roundRect">
            <a:avLst>
              <a:gd name="adj" fmla="val 12632"/>
            </a:avLst>
          </a:prstGeom>
          <a:solidFill>
            <a:srgbClr val="E6FA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842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用户态测试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1054577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 / yield / fork_test / exec_test / fs_test / pipe_test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2496312"/>
            <a:ext cx="10545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从系统调用、进程、文件、管道四条线反向验证内核行为</a:t>
            </a:r>
          </a:p>
        </p:txBody>
      </p:sp>
      <p:sp>
        <p:nvSpPr>
          <p:cNvPr id="11" name="Text 9"/>
          <p:cNvSpPr/>
          <p:nvPr/>
        </p:nvSpPr>
        <p:spPr>
          <a:xfrm>
            <a:off x="5912968" y="27432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94685"/>
            <a:ext cx="11094720" cy="1242695"/>
          </a:xfrm>
          <a:prstGeom prst="roundRect">
            <a:avLst>
              <a:gd name="adj" fmla="val 10909"/>
            </a:avLst>
          </a:prstGeom>
          <a:solidFill>
            <a:srgbClr val="EAF2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40855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kernel/ 集成层</a:t>
            </a:r>
          </a:p>
        </p:txBody>
      </p:sp>
      <p:sp>
        <p:nvSpPr>
          <p:cNvPr id="14" name="Text 12"/>
          <p:cNvSpPr/>
          <p:nvPr/>
        </p:nvSpPr>
        <p:spPr>
          <a:xfrm>
            <a:off x="822960" y="3682873"/>
            <a:ext cx="1054577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main.rs / process.rs / fs.rs / sync.rs / trap.rs / mm.rs</a:t>
            </a:r>
          </a:p>
        </p:txBody>
      </p:sp>
      <p:sp>
        <p:nvSpPr>
          <p:cNvPr id="15" name="Text 13"/>
          <p:cNvSpPr/>
          <p:nvPr/>
        </p:nvSpPr>
        <p:spPr>
          <a:xfrm>
            <a:off x="822960" y="3957193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feature 打开模块；PCB、fd table、调度与系统调用在此汇合</a:t>
            </a:r>
          </a:p>
        </p:txBody>
      </p:sp>
      <p:sp>
        <p:nvSpPr>
          <p:cNvPr id="16" name="Text 14"/>
          <p:cNvSpPr/>
          <p:nvPr/>
        </p:nvSpPr>
        <p:spPr>
          <a:xfrm>
            <a:off x="5912968" y="430466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Shape 15"/>
          <p:cNvSpPr/>
          <p:nvPr>
            <p:custDataLst>
              <p:tags r:id="rId1"/>
            </p:custDataLst>
          </p:nvPr>
        </p:nvSpPr>
        <p:spPr>
          <a:xfrm>
            <a:off x="548640" y="4686300"/>
            <a:ext cx="169666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2"/>
            </p:custDataLst>
          </p:nvPr>
        </p:nvSpPr>
        <p:spPr>
          <a:xfrm>
            <a:off x="548640" y="4686300"/>
            <a:ext cx="169666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os-context</a:t>
            </a:r>
          </a:p>
        </p:txBody>
      </p:sp>
      <p:sp>
        <p:nvSpPr>
          <p:cNvPr id="19" name="Shape 17"/>
          <p:cNvSpPr/>
          <p:nvPr>
            <p:custDataLst>
              <p:tags r:id="rId3"/>
            </p:custDataLst>
          </p:nvPr>
        </p:nvSpPr>
        <p:spPr>
          <a:xfrm>
            <a:off x="2428189" y="4686300"/>
            <a:ext cx="169666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4"/>
            </p:custDataLst>
          </p:nvPr>
        </p:nvSpPr>
        <p:spPr>
          <a:xfrm>
            <a:off x="2428189" y="4686300"/>
            <a:ext cx="169666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os-syscall</a:t>
            </a:r>
          </a:p>
        </p:txBody>
      </p:sp>
      <p:sp>
        <p:nvSpPr>
          <p:cNvPr id="21" name="Shape 19"/>
          <p:cNvSpPr/>
          <p:nvPr>
            <p:custDataLst>
              <p:tags r:id="rId5"/>
            </p:custDataLst>
          </p:nvPr>
        </p:nvSpPr>
        <p:spPr>
          <a:xfrm>
            <a:off x="4307738" y="4686300"/>
            <a:ext cx="169666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2" name="Text 20"/>
          <p:cNvSpPr/>
          <p:nvPr>
            <p:custDataLst>
              <p:tags r:id="rId6"/>
            </p:custDataLst>
          </p:nvPr>
        </p:nvSpPr>
        <p:spPr>
          <a:xfrm>
            <a:off x="4307738" y="4686300"/>
            <a:ext cx="169666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os-alloc</a:t>
            </a:r>
          </a:p>
        </p:txBody>
      </p:sp>
      <p:sp>
        <p:nvSpPr>
          <p:cNvPr id="23" name="Shape 21"/>
          <p:cNvSpPr/>
          <p:nvPr>
            <p:custDataLst>
              <p:tags r:id="rId7"/>
            </p:custDataLst>
          </p:nvPr>
        </p:nvSpPr>
        <p:spPr>
          <a:xfrm>
            <a:off x="6187288" y="4686300"/>
            <a:ext cx="169666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4" name="Text 22"/>
          <p:cNvSpPr/>
          <p:nvPr>
            <p:custDataLst>
              <p:tags r:id="rId8"/>
            </p:custDataLst>
          </p:nvPr>
        </p:nvSpPr>
        <p:spPr>
          <a:xfrm>
            <a:off x="6187288" y="4686300"/>
            <a:ext cx="169666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os-vm</a:t>
            </a:r>
          </a:p>
        </p:txBody>
      </p:sp>
      <p:sp>
        <p:nvSpPr>
          <p:cNvPr id="25" name="Shape 23"/>
          <p:cNvSpPr/>
          <p:nvPr>
            <p:custDataLst>
              <p:tags r:id="rId9"/>
            </p:custDataLst>
          </p:nvPr>
        </p:nvSpPr>
        <p:spPr>
          <a:xfrm>
            <a:off x="8066837" y="4686300"/>
            <a:ext cx="169666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Text 24"/>
          <p:cNvSpPr/>
          <p:nvPr>
            <p:custDataLst>
              <p:tags r:id="rId10"/>
            </p:custDataLst>
          </p:nvPr>
        </p:nvSpPr>
        <p:spPr>
          <a:xfrm>
            <a:off x="8066837" y="4686300"/>
            <a:ext cx="169666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os-fs</a:t>
            </a:r>
          </a:p>
        </p:txBody>
      </p:sp>
      <p:sp>
        <p:nvSpPr>
          <p:cNvPr id="27" name="Shape 25"/>
          <p:cNvSpPr/>
          <p:nvPr>
            <p:custDataLst>
              <p:tags r:id="rId11"/>
            </p:custDataLst>
          </p:nvPr>
        </p:nvSpPr>
        <p:spPr>
          <a:xfrm>
            <a:off x="9946386" y="4686300"/>
            <a:ext cx="169666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8" name="Text 26"/>
          <p:cNvSpPr/>
          <p:nvPr>
            <p:custDataLst>
              <p:tags r:id="rId12"/>
            </p:custDataLst>
          </p:nvPr>
        </p:nvSpPr>
        <p:spPr>
          <a:xfrm>
            <a:off x="9946386" y="4686300"/>
            <a:ext cx="169666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os-sbi</a:t>
            </a:r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每个组件都能在 host 单元测试中独立验证，降低内核调试成本。运行平台：RISC-V64 / QEMU / SBI，正序与倒序回归保证每个 feature 都能启动。</a:t>
            </a:r>
          </a:p>
        </p:txBody>
      </p:sp>
      <p:sp>
        <p:nvSpPr>
          <p:cNvPr id="30" name="Shape 28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</a:t>
            </a:r>
            <a:r>
              <a:rPr lang="zh-CN" alt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zh-CN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交互设计：教学</a:t>
            </a:r>
            <a:r>
              <a:rPr lang="zh-CN" alt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生“怎么问 </a:t>
            </a:r>
            <a:r>
              <a:rPr lang="en-US" altLang="zh-CN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AI”</a:t>
            </a:r>
            <a:endParaRPr lang="zh-CN" altLang="en-US" sz="3200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刻意不给完整逐行代码讲解，要求学生先读代码、先思考；</a:t>
            </a:r>
            <a:r>
              <a:rPr lang="zh-CN" altLang="en-US" sz="16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卡住时可用 </a:t>
            </a:r>
            <a:r>
              <a:rPr lang="en-US" altLang="zh-CN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</a:t>
            </a:r>
            <a:r>
              <a:rPr lang="zh-CN" alt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提问模板切入</a:t>
            </a: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48640" y="1874520"/>
            <a:ext cx="11111230" cy="41694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804545" y="2186305"/>
            <a:ext cx="384175" cy="467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594360" y="1986915"/>
            <a:ext cx="2028825" cy="666750"/>
          </a:xfrm>
          <a:prstGeom prst="roundRect">
            <a:avLst>
              <a:gd name="adj" fmla="val 12632"/>
            </a:avLst>
          </a:prstGeom>
          <a:solidFill>
            <a:srgbClr val="E6FA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68680" y="2119630"/>
            <a:ext cx="2073910" cy="334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五类提问模板</a:t>
            </a:r>
          </a:p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1274445" y="2498725"/>
            <a:ext cx="10029825" cy="3371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zh-CN" altLang="en-US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概念澄清型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：引导理解 </a:t>
            </a:r>
            <a:r>
              <a:rPr lang="en-US" altLang="zh-CN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 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原理（如 </a:t>
            </a:r>
            <a:r>
              <a:rPr lang="en-US" altLang="zh-CN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OpenSBI 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角色、</a:t>
            </a:r>
            <a:r>
              <a:rPr lang="en-US" altLang="zh-CN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Sv39 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地址拆分）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现象解释型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：针对 </a:t>
            </a:r>
            <a:r>
              <a:rPr lang="en-US" altLang="zh-CN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QEMU 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异常输出做排查（如乱码、卡死）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代码追因型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：追问具体实现细节（如 </a:t>
            </a:r>
            <a:r>
              <a:rPr lang="en-US" altLang="zh-CN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 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入口为何先换栈）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对比深化型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：跨章节/跨教材对比（如 </a:t>
            </a:r>
            <a:r>
              <a:rPr lang="en-US" altLang="zh-CN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fork vs spawn）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动手探索型</a:t>
            </a:r>
            <a:r>
              <a:rPr lang="zh-CN" altLang="en-US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：鼓励自主扩展实验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验证结果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结果有证据：checker、QEMU、单测与 clippy 全绿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参考练习和自研环境都形成了可复现的测试闭环</a:t>
            </a: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48640" y="1965960"/>
            <a:ext cx="2514600" cy="386461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822960" y="2240280"/>
            <a:ext cx="128016" cy="128016"/>
          </a:xfrm>
          <a:prstGeom prst="ellipse">
            <a:avLst/>
          </a:prstGeom>
          <a:solidFill>
            <a:srgbClr val="2F80FF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1051560" y="21854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Reference Checker</a:t>
            </a: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22960" y="26517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章全绿</a:t>
            </a:r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822960" y="3337560"/>
            <a:ext cx="1965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822960" y="3836035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ch3 7/7, ch4 16/16, ch5 17/17, ch6 33/33, ch8 25/25</a:t>
            </a: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310255" y="1965960"/>
            <a:ext cx="2514600" cy="38481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3584448" y="2240280"/>
            <a:ext cx="128016" cy="128016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3813048" y="21854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QEMU Regression</a:t>
            </a:r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584448" y="26517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lab1–lab5</a:t>
            </a:r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3584448" y="3337560"/>
            <a:ext cx="1965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3585083" y="3836035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正序与倒序回归通过，验证 feature gate 没有互相破坏</a:t>
            </a:r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6071870" y="1965960"/>
            <a:ext cx="2514600" cy="38481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6345936" y="2240280"/>
            <a:ext cx="128016" cy="128016"/>
          </a:xfrm>
          <a:prstGeom prst="ellipse">
            <a:avLst/>
          </a:prstGeom>
          <a:solidFill>
            <a:srgbClr val="00C2FF"/>
          </a:solidFill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574536" y="21854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Host Unit Tests</a:t>
            </a:r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6345936" y="26517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 项</a:t>
            </a:r>
          </a:p>
        </p:txBody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6345936" y="3337560"/>
            <a:ext cx="1965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6345936" y="3836035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 os-alloc、os-vm、os-fs 等组件边界</a:t>
            </a:r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8832850" y="1965960"/>
            <a:ext cx="2514600" cy="384937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20"/>
            </p:custDataLst>
          </p:nvPr>
        </p:nvSpPr>
        <p:spPr>
          <a:xfrm>
            <a:off x="9107424" y="2240280"/>
            <a:ext cx="128016" cy="128016"/>
          </a:xfrm>
          <a:prstGeom prst="ellipse">
            <a:avLst/>
          </a:prstGeom>
          <a:solidFill>
            <a:srgbClr val="12B886"/>
          </a:solidFill>
        </p:spPr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9336024" y="21854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Quality</a:t>
            </a:r>
          </a:p>
        </p:txBody>
      </p:sp>
      <p:sp>
        <p:nvSpPr>
          <p:cNvPr id="28" name="Text 26"/>
          <p:cNvSpPr/>
          <p:nvPr>
            <p:custDataLst>
              <p:tags r:id="rId22"/>
            </p:custDataLst>
          </p:nvPr>
        </p:nvSpPr>
        <p:spPr>
          <a:xfrm>
            <a:off x="9107424" y="26517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warning</a:t>
            </a:r>
          </a:p>
        </p:txBody>
      </p:sp>
      <p:sp>
        <p:nvSpPr>
          <p:cNvPr id="29" name="Shape 27"/>
          <p:cNvSpPr/>
          <p:nvPr>
            <p:custDataLst>
              <p:tags r:id="rId23"/>
            </p:custDataLst>
          </p:nvPr>
        </p:nvSpPr>
        <p:spPr>
          <a:xfrm>
            <a:off x="9107424" y="3337560"/>
            <a:ext cx="1965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9107424" y="3836035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cargo clippy --all -- -D warnings</a:t>
            </a:r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os-lab：低门槛入门，而非替代 xv6 / rCore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更小规模、更清晰脉络补足入门阶段；xv6 / rCore 仍适合广覆盖与深化</a:t>
            </a:r>
          </a:p>
        </p:txBody>
      </p:sp>
      <p:sp>
        <p:nvSpPr>
          <p:cNvPr id="11" name="Text 9"/>
          <p:cNvSpPr/>
          <p:nvPr/>
        </p:nvSpPr>
        <p:spPr>
          <a:xfrm>
            <a:off x="9281160" y="1783080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xv6-riscv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81160" y="2167128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/ RISC-V64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281160" y="2551176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6000–8000 kernel LOC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9281160" y="2935224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单源码树，适合系统化研读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9281160" y="3465576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 lab 与人工评测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9281160" y="3849624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经典教学 OS，适合读真实内核结构</a:t>
            </a:r>
            <a:endParaRPr lang="en-US" sz="102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548640" y="1783080"/>
            <a:ext cx="11094720" cy="3826510"/>
            <a:chOff x="864" y="2808"/>
            <a:chExt cx="17472" cy="4090"/>
          </a:xfrm>
        </p:grpSpPr>
        <p:sp>
          <p:nvSpPr>
            <p:cNvPr id="7" name="Shape 5"/>
            <p:cNvSpPr/>
            <p:nvPr/>
          </p:nvSpPr>
          <p:spPr>
            <a:xfrm>
              <a:off x="864" y="2808"/>
              <a:ext cx="17472" cy="605"/>
            </a:xfrm>
            <a:prstGeom prst="roundRect">
              <a:avLst>
                <a:gd name="adj" fmla="val 14286"/>
              </a:avLst>
            </a:prstGeom>
            <a:solidFill>
              <a:srgbClr val="16213E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080" y="2808"/>
              <a:ext cx="21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维度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3528" y="2808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C2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os-lab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9072" y="2808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rCore tutorial</a:t>
              </a:r>
            </a:p>
          </p:txBody>
        </p:sp>
        <p:sp>
          <p:nvSpPr>
            <p:cNvPr id="12" name="Shape 10"/>
            <p:cNvSpPr/>
            <p:nvPr/>
          </p:nvSpPr>
          <p:spPr>
            <a:xfrm>
              <a:off x="864" y="3413"/>
              <a:ext cx="17472" cy="605"/>
            </a:xfrm>
            <a:prstGeom prst="roundRect">
              <a:avLst/>
            </a:prstGeom>
            <a:solidFill>
              <a:srgbClr val="EAF2FF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3240" y="3413"/>
              <a:ext cx="5688" cy="605"/>
            </a:xfrm>
            <a:prstGeom prst="rect">
              <a:avLst/>
            </a:prstGeom>
            <a:solidFill>
              <a:srgbClr val="2F80FF">
                <a:alpha val="8000"/>
              </a:srgbClr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1080" y="3413"/>
              <a:ext cx="21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语言 / 平台</a:t>
              </a:r>
            </a:p>
          </p:txBody>
        </p:sp>
        <p:sp>
          <p:nvSpPr>
            <p:cNvPr id="15" name="Text 13"/>
            <p:cNvSpPr/>
            <p:nvPr/>
          </p:nvSpPr>
          <p:spPr>
            <a:xfrm>
              <a:off x="3528" y="3413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Rust / RISC-V64 / QEMU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9072" y="3413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Rust / RISC-V64</a:t>
              </a:r>
            </a:p>
          </p:txBody>
        </p:sp>
        <p:sp>
          <p:nvSpPr>
            <p:cNvPr id="18" name="Shape 16"/>
            <p:cNvSpPr/>
            <p:nvPr/>
          </p:nvSpPr>
          <p:spPr>
            <a:xfrm>
              <a:off x="864" y="4018"/>
              <a:ext cx="17472" cy="605"/>
            </a:xfrm>
            <a:prstGeom prst="roundRect">
              <a:avLst/>
            </a:prstGeom>
            <a:solidFill>
              <a:srgbClr val="FFFFFF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3240" y="4018"/>
              <a:ext cx="5688" cy="605"/>
            </a:xfrm>
            <a:prstGeom prst="rect">
              <a:avLst/>
            </a:prstGeom>
            <a:solidFill>
              <a:srgbClr val="2F80FF">
                <a:alpha val="8000"/>
              </a:srgbClr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1080" y="4018"/>
              <a:ext cx="21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代码规模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3528" y="4018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约 1882 LOC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9072" y="4018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约 36455 LOC</a:t>
              </a:r>
            </a:p>
          </p:txBody>
        </p:sp>
        <p:sp>
          <p:nvSpPr>
            <p:cNvPr id="24" name="Shape 22"/>
            <p:cNvSpPr/>
            <p:nvPr/>
          </p:nvSpPr>
          <p:spPr>
            <a:xfrm>
              <a:off x="864" y="4622"/>
              <a:ext cx="17472" cy="835"/>
            </a:xfrm>
            <a:prstGeom prst="roundRect">
              <a:avLst/>
            </a:prstGeom>
            <a:solidFill>
              <a:srgbClr val="EAF2FF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3240" y="4622"/>
              <a:ext cx="5688" cy="835"/>
            </a:xfrm>
            <a:prstGeom prst="rect">
              <a:avLst/>
            </a:prstGeom>
            <a:solidFill>
              <a:srgbClr val="2F80FF">
                <a:alpha val="8000"/>
              </a:srgbClr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1080" y="4622"/>
              <a:ext cx="2160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组织方式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3528" y="4622"/>
              <a:ext cx="5256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单内核 feature gate，lab1 连到 lab5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9072" y="4622"/>
              <a:ext cx="5256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章节式多阶段，覆盖面更广</a:t>
              </a:r>
            </a:p>
          </p:txBody>
        </p:sp>
        <p:sp>
          <p:nvSpPr>
            <p:cNvPr id="30" name="Shape 28"/>
            <p:cNvSpPr/>
            <p:nvPr/>
          </p:nvSpPr>
          <p:spPr>
            <a:xfrm>
              <a:off x="864" y="5458"/>
              <a:ext cx="17472" cy="605"/>
            </a:xfrm>
            <a:prstGeom prst="roundRect">
              <a:avLst/>
            </a:prstGeom>
            <a:solidFill>
              <a:srgbClr val="FFFFFF"/>
            </a:solidFill>
          </p:spPr>
        </p:sp>
        <p:sp>
          <p:nvSpPr>
            <p:cNvPr id="31" name="Shape 29"/>
            <p:cNvSpPr/>
            <p:nvPr/>
          </p:nvSpPr>
          <p:spPr>
            <a:xfrm>
              <a:off x="3240" y="5458"/>
              <a:ext cx="5688" cy="605"/>
            </a:xfrm>
            <a:prstGeom prst="rect">
              <a:avLst/>
            </a:prstGeom>
            <a:solidFill>
              <a:srgbClr val="2F80FF">
                <a:alpha val="8000"/>
              </a:srgbClr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1080" y="5458"/>
              <a:ext cx="21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验证方式</a:t>
              </a:r>
            </a:p>
          </p:txBody>
        </p:sp>
        <p:sp>
          <p:nvSpPr>
            <p:cNvPr id="33" name="Text 31"/>
            <p:cNvSpPr/>
            <p:nvPr/>
          </p:nvSpPr>
          <p:spPr>
            <a:xfrm>
              <a:off x="3528" y="5458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QEMU + 24 host 单测 + clippy</a:t>
              </a:r>
            </a:p>
          </p:txBody>
        </p:sp>
        <p:sp>
          <p:nvSpPr>
            <p:cNvPr id="34" name="Text 32"/>
            <p:cNvSpPr/>
            <p:nvPr/>
          </p:nvSpPr>
          <p:spPr>
            <a:xfrm>
              <a:off x="9072" y="5458"/>
              <a:ext cx="525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外部 checker 与章节测试</a:t>
              </a:r>
            </a:p>
          </p:txBody>
        </p:sp>
        <p:sp>
          <p:nvSpPr>
            <p:cNvPr id="36" name="Shape 34"/>
            <p:cNvSpPr/>
            <p:nvPr/>
          </p:nvSpPr>
          <p:spPr>
            <a:xfrm>
              <a:off x="864" y="6062"/>
              <a:ext cx="17472" cy="835"/>
            </a:xfrm>
            <a:prstGeom prst="roundRect">
              <a:avLst/>
            </a:prstGeom>
            <a:solidFill>
              <a:srgbClr val="EAF2FF"/>
            </a:solidFill>
          </p:spPr>
        </p:sp>
        <p:sp>
          <p:nvSpPr>
            <p:cNvPr id="37" name="Shape 35"/>
            <p:cNvSpPr/>
            <p:nvPr/>
          </p:nvSpPr>
          <p:spPr>
            <a:xfrm>
              <a:off x="3240" y="6062"/>
              <a:ext cx="5688" cy="835"/>
            </a:xfrm>
            <a:prstGeom prst="rect">
              <a:avLst/>
            </a:prstGeom>
            <a:solidFill>
              <a:srgbClr val="2F80FF">
                <a:alpha val="8000"/>
              </a:srgbClr>
            </a:solidFill>
          </p:spPr>
        </p:sp>
        <p:sp>
          <p:nvSpPr>
            <p:cNvPr id="38" name="Text 36"/>
            <p:cNvSpPr/>
            <p:nvPr/>
          </p:nvSpPr>
          <p:spPr>
            <a:xfrm>
              <a:off x="1080" y="6062"/>
              <a:ext cx="2160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教学价值</a:t>
              </a:r>
            </a:p>
          </p:txBody>
        </p:sp>
        <p:sp>
          <p:nvSpPr>
            <p:cNvPr id="39" name="Text 37"/>
            <p:cNvSpPr/>
            <p:nvPr/>
          </p:nvSpPr>
          <p:spPr>
            <a:xfrm>
              <a:off x="3528" y="6062"/>
              <a:ext cx="5256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低门槛、短闭环，概念到代码第一跳</a:t>
              </a:r>
            </a:p>
          </p:txBody>
        </p:sp>
        <p:sp>
          <p:nvSpPr>
            <p:cNvPr id="40" name="Text 38"/>
            <p:cNvSpPr/>
            <p:nvPr/>
          </p:nvSpPr>
          <p:spPr>
            <a:xfrm>
              <a:off x="9072" y="6062"/>
              <a:ext cx="5256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章节完整、理论深入，适合深化</a:t>
              </a:r>
            </a:p>
          </p:txBody>
        </p:sp>
        <p:sp>
          <p:nvSpPr>
            <p:cNvPr id="42" name="Shape 40"/>
            <p:cNvSpPr/>
            <p:nvPr/>
          </p:nvSpPr>
          <p:spPr>
            <a:xfrm>
              <a:off x="864" y="2808"/>
              <a:ext cx="17472" cy="4090"/>
            </a:xfrm>
            <a:prstGeom prst="rect">
              <a:avLst/>
            </a:prstGeom>
            <a:ln w="12700">
              <a:solidFill>
                <a:srgbClr val="E2E8F0"/>
              </a:solidFill>
              <a:prstDash val="solid"/>
            </a:ln>
          </p:spPr>
        </p:sp>
      </p:grpSp>
      <p:sp>
        <p:nvSpPr>
          <p:cNvPr id="43" name="Text 41"/>
          <p:cNvSpPr/>
          <p:nvPr/>
        </p:nvSpPr>
        <p:spPr>
          <a:xfrm>
            <a:off x="548640" y="5822061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我们的贡献：把“第一跳”做短、做直、做可验证。</a:t>
            </a:r>
          </a:p>
        </p:txBody>
      </p:sp>
      <p:sp>
        <p:nvSpPr>
          <p:cNvPr id="44" name="Shape 4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质量保障</a:t>
            </a:r>
          </a:p>
        </p:txBody>
      </p:sp>
      <p:sp>
        <p:nvSpPr>
          <p:cNvPr id="4" name="Text 2"/>
          <p:cNvSpPr/>
          <p:nvPr/>
        </p:nvSpPr>
        <p:spPr>
          <a:xfrm>
            <a:off x="10180015" y="4114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</a:t>
            </a:r>
            <a:r>
              <a:rPr lang="zh-CN" alt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协作，产生</a:t>
            </a:r>
            <a:r>
              <a:rPr lang="en-US" sz="3200" b="1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经人工审查与机器验证</a:t>
            </a:r>
            <a:endParaRPr lang="en-US" sz="3200" b="1" dirty="0">
              <a:solidFill>
                <a:srgbClr val="1E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最终证据来自代码</a:t>
            </a:r>
            <a:r>
              <a:rPr lang="en-US" sz="16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、测试输出和文档走查</a:t>
            </a:r>
            <a:endParaRPr lang="en-US" sz="16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4188" y="2240280"/>
            <a:ext cx="420624" cy="420624"/>
          </a:xfrm>
          <a:prstGeom prst="ellipse">
            <a:avLst/>
          </a:prstGeom>
          <a:solidFill>
            <a:srgbClr val="2F80FF"/>
          </a:solidFill>
        </p:spPr>
      </p:sp>
      <p:sp>
        <p:nvSpPr>
          <p:cNvPr id="9" name="Text 7"/>
          <p:cNvSpPr/>
          <p:nvPr/>
        </p:nvSpPr>
        <p:spPr>
          <a:xfrm>
            <a:off x="1504188" y="2240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输出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 / 草稿 / 候选代码</a:t>
            </a:r>
          </a:p>
        </p:txBody>
      </p:sp>
      <p:sp>
        <p:nvSpPr>
          <p:cNvPr id="12" name="Text 10"/>
          <p:cNvSpPr/>
          <p:nvPr/>
        </p:nvSpPr>
        <p:spPr>
          <a:xfrm>
            <a:off x="2880360" y="2587752"/>
            <a:ext cx="411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7388" y="2240280"/>
            <a:ext cx="420624" cy="420624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15" name="Text 13"/>
          <p:cNvSpPr/>
          <p:nvPr/>
        </p:nvSpPr>
        <p:spPr>
          <a:xfrm>
            <a:off x="4247388" y="2240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16" name="Text 14"/>
          <p:cNvSpPr/>
          <p:nvPr/>
        </p:nvSpPr>
        <p:spPr>
          <a:xfrm>
            <a:off x="3291840" y="278892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人工审查</a:t>
            </a:r>
          </a:p>
        </p:txBody>
      </p:sp>
      <p:sp>
        <p:nvSpPr>
          <p:cNvPr id="17" name="Text 15"/>
          <p:cNvSpPr/>
          <p:nvPr/>
        </p:nvSpPr>
        <p:spPr>
          <a:xfrm>
            <a:off x="3383280" y="3108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 / 改写 / 事实核对</a:t>
            </a:r>
          </a:p>
        </p:txBody>
      </p:sp>
      <p:sp>
        <p:nvSpPr>
          <p:cNvPr id="18" name="Text 16"/>
          <p:cNvSpPr/>
          <p:nvPr/>
        </p:nvSpPr>
        <p:spPr>
          <a:xfrm>
            <a:off x="5623560" y="2587752"/>
            <a:ext cx="411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</a:p>
        </p:txBody>
      </p:sp>
      <p:sp>
        <p:nvSpPr>
          <p:cNvPr id="19" name="Shape 17"/>
          <p:cNvSpPr/>
          <p:nvPr/>
        </p:nvSpPr>
        <p:spPr>
          <a:xfrm>
            <a:off x="6035040" y="201168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0588" y="2240280"/>
            <a:ext cx="420624" cy="420624"/>
          </a:xfrm>
          <a:prstGeom prst="ellipse">
            <a:avLst/>
          </a:prstGeom>
          <a:solidFill>
            <a:srgbClr val="00C2FF"/>
          </a:solidFill>
        </p:spPr>
      </p:sp>
      <p:sp>
        <p:nvSpPr>
          <p:cNvPr id="21" name="Text 19"/>
          <p:cNvSpPr/>
          <p:nvPr/>
        </p:nvSpPr>
        <p:spPr>
          <a:xfrm>
            <a:off x="6990588" y="2240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</a:p>
        </p:txBody>
      </p:sp>
      <p:sp>
        <p:nvSpPr>
          <p:cNvPr id="22" name="Text 20"/>
          <p:cNvSpPr/>
          <p:nvPr/>
        </p:nvSpPr>
        <p:spPr>
          <a:xfrm>
            <a:off x="6035040" y="278892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机器验证</a:t>
            </a:r>
          </a:p>
        </p:txBody>
      </p:sp>
      <p:sp>
        <p:nvSpPr>
          <p:cNvPr id="23" name="Text 21"/>
          <p:cNvSpPr/>
          <p:nvPr/>
        </p:nvSpPr>
        <p:spPr>
          <a:xfrm>
            <a:off x="6126480" y="3108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QEMU / checker / test</a:t>
            </a:r>
          </a:p>
        </p:txBody>
      </p:sp>
      <p:sp>
        <p:nvSpPr>
          <p:cNvPr id="24" name="Text 22"/>
          <p:cNvSpPr/>
          <p:nvPr/>
        </p:nvSpPr>
        <p:spPr>
          <a:xfrm>
            <a:off x="8366760" y="2587752"/>
            <a:ext cx="411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</a:p>
        </p:txBody>
      </p:sp>
      <p:sp>
        <p:nvSpPr>
          <p:cNvPr id="25" name="Shape 23"/>
          <p:cNvSpPr/>
          <p:nvPr/>
        </p:nvSpPr>
        <p:spPr>
          <a:xfrm>
            <a:off x="8778240" y="201168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778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33788" y="2240280"/>
            <a:ext cx="420624" cy="420624"/>
          </a:xfrm>
          <a:prstGeom prst="ellipse">
            <a:avLst/>
          </a:prstGeom>
          <a:solidFill>
            <a:srgbClr val="12B886"/>
          </a:solidFill>
        </p:spPr>
      </p:sp>
      <p:sp>
        <p:nvSpPr>
          <p:cNvPr id="27" name="Text 25"/>
          <p:cNvSpPr/>
          <p:nvPr/>
        </p:nvSpPr>
        <p:spPr>
          <a:xfrm>
            <a:off x="9733788" y="2240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</a:p>
        </p:txBody>
      </p:sp>
      <p:sp>
        <p:nvSpPr>
          <p:cNvPr id="28" name="Text 26"/>
          <p:cNvSpPr/>
          <p:nvPr/>
        </p:nvSpPr>
        <p:spPr>
          <a:xfrm>
            <a:off x="8778240" y="278892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进入仓库</a:t>
            </a:r>
          </a:p>
        </p:txBody>
      </p:sp>
      <p:sp>
        <p:nvSpPr>
          <p:cNvPr id="29" name="Text 27"/>
          <p:cNvSpPr/>
          <p:nvPr/>
        </p:nvSpPr>
        <p:spPr>
          <a:xfrm>
            <a:off x="8869680" y="3108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 / 文档 / 记录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548640" y="4221480"/>
            <a:ext cx="10698480" cy="1523365"/>
            <a:chOff x="864" y="6264"/>
            <a:chExt cx="16848" cy="1728"/>
          </a:xfrm>
        </p:grpSpPr>
        <p:sp>
          <p:nvSpPr>
            <p:cNvPr id="30" name="Shape 28"/>
            <p:cNvSpPr/>
            <p:nvPr/>
          </p:nvSpPr>
          <p:spPr>
            <a:xfrm>
              <a:off x="864" y="6264"/>
              <a:ext cx="8136" cy="1728"/>
            </a:xfrm>
            <a:prstGeom prst="roundRect">
              <a:avLst>
                <a:gd name="adj" fmla="val 8333"/>
              </a:avLst>
            </a:prstGeom>
            <a:solidFill>
              <a:srgbClr val="EAF2FF"/>
            </a:solidFill>
          </p:spPr>
        </p:sp>
        <p:sp>
          <p:nvSpPr>
            <p:cNvPr id="31" name="Text 29"/>
            <p:cNvSpPr/>
            <p:nvPr/>
          </p:nvSpPr>
          <p:spPr>
            <a:xfrm>
              <a:off x="1296" y="6494"/>
              <a:ext cx="720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8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关键边界（团队决策）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1296" y="6984"/>
              <a:ext cx="7344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单内核 feature gate、6 crate 划分、问题驱动文档、三人文件边界</a:t>
              </a:r>
            </a:p>
          </p:txBody>
        </p:sp>
        <p:sp>
          <p:nvSpPr>
            <p:cNvPr id="33" name="Shape 31"/>
            <p:cNvSpPr/>
            <p:nvPr/>
          </p:nvSpPr>
          <p:spPr>
            <a:xfrm>
              <a:off x="9648" y="6264"/>
              <a:ext cx="8064" cy="1728"/>
            </a:xfrm>
            <a:prstGeom prst="roundRect">
              <a:avLst>
                <a:gd name="adj" fmla="val 8333"/>
              </a:avLst>
            </a:prstGeom>
            <a:solidFill>
              <a:srgbClr val="EFEDFF"/>
            </a:solidFill>
          </p:spPr>
        </p:sp>
        <p:sp>
          <p:nvSpPr>
            <p:cNvPr id="34" name="Text 32"/>
            <p:cNvSpPr/>
            <p:nvPr/>
          </p:nvSpPr>
          <p:spPr>
            <a:xfrm>
              <a:off x="10080" y="6494"/>
              <a:ext cx="720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C63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验证证据</a:t>
              </a:r>
            </a:p>
          </p:txBody>
        </p:sp>
        <p:sp>
          <p:nvSpPr>
            <p:cNvPr id="35" name="Text 33"/>
            <p:cNvSpPr/>
            <p:nvPr/>
          </p:nvSpPr>
          <p:spPr>
            <a:xfrm>
              <a:off x="10080" y="6984"/>
              <a:ext cx="7200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E2A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QEMU、official checker、cargo test、clippy、文档走查</a:t>
              </a:r>
            </a:p>
          </p:txBody>
        </p:sp>
      </p:grpSp>
      <p:sp>
        <p:nvSpPr>
          <p:cNvPr id="36" name="Shape 3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F80FF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3200400"/>
            <a:ext cx="5029200" cy="5029200"/>
          </a:xfrm>
          <a:prstGeom prst="ellipse">
            <a:avLst/>
          </a:prstGeom>
          <a:solidFill>
            <a:srgbClr val="6C63FF">
              <a:alpha val="1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548640"/>
            <a:ext cx="1828800" cy="329184"/>
          </a:xfrm>
          <a:prstGeom prst="roundRect">
            <a:avLst>
              <a:gd name="adj" fmla="val 25000"/>
            </a:avLst>
          </a:prstGeom>
          <a:solidFill>
            <a:srgbClr val="2F80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一条更短、更直、更可验证的 OS 入门路径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C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渐进式内核、精简组件、问题驱动文档与 AI 协作记录，共同把 OS 学习变成可复现的工程路径。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1E2D52"/>
          </a:solidFill>
        </p:spPr>
      </p:sp>
      <p:sp>
        <p:nvSpPr>
          <p:cNvPr id="9" name="Text 7"/>
          <p:cNvSpPr/>
          <p:nvPr/>
        </p:nvSpPr>
        <p:spPr>
          <a:xfrm>
            <a:off x="822960" y="27889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参考练习全绿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0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章 checker 通过</a:t>
            </a:r>
          </a:p>
        </p:txBody>
      </p:sp>
      <p:sp>
        <p:nvSpPr>
          <p:cNvPr id="11" name="Shape 9"/>
          <p:cNvSpPr/>
          <p:nvPr/>
        </p:nvSpPr>
        <p:spPr>
          <a:xfrm>
            <a:off x="4178808" y="26060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1E2D52"/>
          </a:solidFill>
        </p:spPr>
      </p:sp>
      <p:sp>
        <p:nvSpPr>
          <p:cNvPr id="12" name="Text 10"/>
          <p:cNvSpPr/>
          <p:nvPr/>
        </p:nvSpPr>
        <p:spPr>
          <a:xfrm>
            <a:off x="4453128" y="27889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lab1–lab5 全闭环</a:t>
            </a:r>
          </a:p>
        </p:txBody>
      </p:sp>
      <p:sp>
        <p:nvSpPr>
          <p:cNvPr id="13" name="Text 11"/>
          <p:cNvSpPr/>
          <p:nvPr/>
        </p:nvSpPr>
        <p:spPr>
          <a:xfrm>
            <a:off x="4453128" y="3200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0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正倒序 QEMU 回归</a:t>
            </a:r>
          </a:p>
        </p:txBody>
      </p:sp>
      <p:sp>
        <p:nvSpPr>
          <p:cNvPr id="14" name="Shape 12"/>
          <p:cNvSpPr/>
          <p:nvPr/>
        </p:nvSpPr>
        <p:spPr>
          <a:xfrm>
            <a:off x="7808976" y="26060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1E2D52"/>
          </a:solidFill>
        </p:spPr>
      </p:sp>
      <p:sp>
        <p:nvSpPr>
          <p:cNvPr id="15" name="Text 13"/>
          <p:cNvSpPr/>
          <p:nvPr/>
        </p:nvSpPr>
        <p:spPr>
          <a:xfrm>
            <a:off x="8083296" y="27889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使用已披露</a:t>
            </a:r>
          </a:p>
        </p:txBody>
      </p:sp>
      <p:sp>
        <p:nvSpPr>
          <p:cNvPr id="16" name="Text 14"/>
          <p:cNvSpPr/>
          <p:nvPr/>
        </p:nvSpPr>
        <p:spPr>
          <a:xfrm>
            <a:off x="8083296" y="3200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0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工具、场景、边界记录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E2D52"/>
          </a:solidFill>
        </p:spPr>
      </p:sp>
      <p:sp>
        <p:nvSpPr>
          <p:cNvPr id="18" name="Text 16"/>
          <p:cNvSpPr/>
          <p:nvPr/>
        </p:nvSpPr>
        <p:spPr>
          <a:xfrm>
            <a:off x="868680" y="4572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后续方向</a:t>
            </a:r>
          </a:p>
        </p:txBody>
      </p:sp>
      <p:sp>
        <p:nvSpPr>
          <p:cNvPr id="19" name="Shape 17"/>
          <p:cNvSpPr/>
          <p:nvPr/>
        </p:nvSpPr>
        <p:spPr>
          <a:xfrm>
            <a:off x="868680" y="4956048"/>
            <a:ext cx="2442134" cy="548640"/>
          </a:xfrm>
          <a:prstGeom prst="roundRect">
            <a:avLst>
              <a:gd name="adj" fmla="val 13333"/>
            </a:avLst>
          </a:prstGeom>
          <a:solidFill>
            <a:srgbClr val="2F80FF">
              <a:alpha val="2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56048"/>
            <a:ext cx="244213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真实课堂数据</a:t>
            </a:r>
          </a:p>
        </p:txBody>
      </p:sp>
      <p:sp>
        <p:nvSpPr>
          <p:cNvPr id="21" name="Shape 19"/>
          <p:cNvSpPr/>
          <p:nvPr/>
        </p:nvSpPr>
        <p:spPr>
          <a:xfrm>
            <a:off x="3539414" y="4956048"/>
            <a:ext cx="2442134" cy="548640"/>
          </a:xfrm>
          <a:prstGeom prst="roundRect">
            <a:avLst>
              <a:gd name="adj" fmla="val 13333"/>
            </a:avLst>
          </a:prstGeom>
          <a:solidFill>
            <a:srgbClr val="2F80FF">
              <a:alpha val="2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9414" y="4956048"/>
            <a:ext cx="244213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磁盘文件系统</a:t>
            </a:r>
          </a:p>
        </p:txBody>
      </p:sp>
      <p:sp>
        <p:nvSpPr>
          <p:cNvPr id="23" name="Shape 21"/>
          <p:cNvSpPr/>
          <p:nvPr/>
        </p:nvSpPr>
        <p:spPr>
          <a:xfrm>
            <a:off x="6210148" y="4956048"/>
            <a:ext cx="2442134" cy="548640"/>
          </a:xfrm>
          <a:prstGeom prst="roundRect">
            <a:avLst>
              <a:gd name="adj" fmla="val 13333"/>
            </a:avLst>
          </a:prstGeom>
          <a:solidFill>
            <a:srgbClr val="2F80FF">
              <a:alpha val="2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0148" y="4956048"/>
            <a:ext cx="244213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抢占调度</a:t>
            </a:r>
          </a:p>
        </p:txBody>
      </p:sp>
      <p:sp>
        <p:nvSpPr>
          <p:cNvPr id="25" name="Shape 23"/>
          <p:cNvSpPr/>
          <p:nvPr/>
        </p:nvSpPr>
        <p:spPr>
          <a:xfrm>
            <a:off x="8880881" y="4956048"/>
            <a:ext cx="2442134" cy="548640"/>
          </a:xfrm>
          <a:prstGeom prst="roundRect">
            <a:avLst>
              <a:gd name="adj" fmla="val 13333"/>
            </a:avLst>
          </a:prstGeom>
          <a:solidFill>
            <a:srgbClr val="2F80FF">
              <a:alpha val="2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0881" y="4956048"/>
            <a:ext cx="244213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更多扩展 lab</a:t>
            </a:r>
          </a:p>
        </p:txBody>
      </p:sp>
      <p:sp>
        <p:nvSpPr>
          <p:cNvPr id="28" name="Text 26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45,&quot;left&quot;:43.2,&quot;top&quot;:157.5,&quot;width&quot;:873.575984251968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4.6,&quot;left&quot;:43.2,&quot;top&quot;:338.4,&quot;width&quot;:873.575984251968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85,&quot;left&quot;:43.2,&quot;top&quot;:147.6,&quot;width&quot;:835.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85,&quot;left&quot;:43.2,&quot;top&quot;:147.6,&quot;width&quot;:835.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85,&quot;left&quot;:43.2,&quot;top&quot;:147.6,&quot;width&quot;:835.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85,&quot;left&quot;:43.2,&quot;top&quot;:147.6,&quot;width&quot;:835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7,&quot;left&quot;:43.2,&quot;top&quot;:154.8,&quot;width&quot;:850.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1016</Words>
  <Application>Microsoft Office PowerPoint</Application>
  <PresentationFormat>宽屏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os-lab 项目答辩</dc:title>
  <dc:subject>PptxGenJS Presentation</dc:subject>
  <dc:creator>os-lab team</dc:creator>
  <cp:lastModifiedBy>Aurora Jane</cp:lastModifiedBy>
  <cp:revision>24</cp:revision>
  <dcterms:created xsi:type="dcterms:W3CDTF">2026-06-30T10:18:00Z</dcterms:created>
  <dcterms:modified xsi:type="dcterms:W3CDTF">2026-06-30T11:17:55Z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0B0422E1A7114802A47320B3C76428E3_12</vt:lpwstr>
  </property>
</Properties>
</file>