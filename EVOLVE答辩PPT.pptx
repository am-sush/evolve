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3" r:id="rId6"/>
    <p:sldId id="264" r:id="rId7"/>
    <p:sldId id="266" r:id="rId8"/>
    <p:sldId id="267" r:id="rId9"/>
    <p:sldId id="268" r:id="rId10"/>
    <p:sldId id="269" r:id="rId11"/>
    <p:sldId id="270" r:id="rId12"/>
    <p:sldId id="271" r:id="rId13"/>
    <p:sldId id="285" r:id="rId14"/>
    <p:sldId id="273" r:id="rId15"/>
    <p:sldId id="278" r:id="rId16"/>
    <p:sldId id="275" r:id="rId17"/>
    <p:sldId id="276" r:id="rId18"/>
    <p:sldId id="290" r:id="rId19"/>
    <p:sldId id="277" r:id="rId20"/>
    <p:sldId id="288" r:id="rId21"/>
    <p:sldId id="286" r:id="rId22"/>
    <p:sldId id="279" r:id="rId23"/>
    <p:sldId id="289" r:id="rId24"/>
    <p:sldId id="261" r:id="rId25"/>
    <p:sldId id="281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4B8F"/>
    <a:srgbClr val="953735"/>
    <a:srgbClr val="4F6228"/>
    <a:srgbClr val="558ED5"/>
    <a:srgbClr val="3E7CB1"/>
    <a:srgbClr val="C9D4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 autoAdjust="0"/>
    <p:restoredTop sz="91154" autoAdjust="0"/>
  </p:normalViewPr>
  <p:slideViewPr>
    <p:cSldViewPr snapToGrid="0" snapToObjects="1">
      <p:cViewPr>
        <p:scale>
          <a:sx n="95" d="100"/>
          <a:sy n="95" d="100"/>
        </p:scale>
        <p:origin x="-141" y="2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1" d="100"/>
          <a:sy n="71" d="100"/>
        </p:scale>
        <p:origin x="66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541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EVOLVE 的项目名不是缩写包装，而是我们对操作系统实验教学提出的四条系统承诺。它们分别是可观察的内核演进、统一的虚拟环境、贯通文档与实践的学习设计，以及能够复核结论的可信验证环境。接下来我会先交代背景，然后沿这四段名字逐词展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我们为什么要做这件事。操作系统内核教学长期存在四层结构性矛盾：原理与实践脱节、知识点孤立缺全局、缺少机制被逼出来的历史脉络、硬件细节与架构设计得不到训练。环境侧还有四项工程瓶颈：配置成本高、过程证据缺失、反馈周期长、教师核验成本高。四层矛盾乘上四项瓶颈，共同把"知道"和"会做"之间的鸿沟越拉越大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 浪潮让这个问题变得更尖锐，也带来新的可能。放任使用时，代写绕过思考、幻觉冒充事实、提问能力退化；但约束行为边界之后，AI 是每个学生都请得起的一对一助教，能结合当次编译诊断和运行记录给出分级提示。所以我们的态度是：让学生与 AI 充分合作，设计一套适合学生本人自学的实验环境，用架构保证 AI 服务于学习，而不是替代学习。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EVOLVE 用项目名把刚才的问题一一转成系统设计。Evolving 对应同一内核的渐进生长，Virtual 对应统一的 QEMU 环境，OS Learning 对应我们设计的实验文档与实践变体，Verification Environment 对应可信证据与 Agent Server 协作。名字、架构边界和今天的答辩主线是同一件事，后面就按这四个词逐一展开。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现在解读第一个词。E 代表 Evolving，演进式，它承诺两件事：一是渐进式的内核，一套内核通过 feature 链从最小启动逐层长出全部机制，复现操作系统被需求一步步逼出来的历史；二是渐进式的学习流程，学生始终在同一份系统上叠加，升级只补该层文件，修改自动接受全部前序回归。下面三页依次展开 E 的三项技术。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E 的第三项技术是组件分层。为了让演进可以高频回归，我们把纯逻辑机制拆成八个单一职责的组件 crate，由内核组合策略和硬件语义。Host 测试负责快速验证可测逻辑，QEMU Recipe 负责验证 Trap、设备和调度集成。十成员 Cargo Workspace 在教学可读性和工程可测性之间建立了明确分工。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第二个词，V 代表 Virtual，虚拟化。它的承诺是把整个环境配置收进一台统一的虚拟机：全部实验运行在 QEMU virt 上，OpenSBI、Sv39 分页与 VirtIO 块设备构成同一组硬件事实，学生打开浏览器就能开始实验。由此得到三个性质：零差异、可重复、可回滚。下面一页看它的具体实现。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 V 的承诺下，环境被压缩成一条固定的启动链。QEMU virt、OpenSBI、entry、rust_main 和按 Lab 选择的子系统从同一组硬件事实出发，六十四位 RISC-V、Sv39 与 VirtIO 地址保持一致。这样实验既可重复，也能通过重建工作区和镜像随时恢复。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第三个词，OS Learning，操作系统学习。它指我们设计的实验文档与实践变体：八册手册按机制为何被逼出的动机线组织，答案与正文分离；实践有 fill 补全、debug 定位、remedial 补救三种变体，服务端为每名学生写死变体，负向断言让整段抄袭无法通过。这一切的共同目标是让学生形成自己的判断。下面三页展开。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 OS Learning 的承诺下，第一项技术是机器可读的 Lab 规格。lab.yaml 同时声明知识前置关系、手册与答案、起始文件、任务变体、验证、误区和量规，让内容只维护一份契约。八个 Lab 都具备指导、代码、测试和答案，任何漂移都可以在发布前被发现。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OS Learning 的第二项技术是学生学习工作台。Monaco、终端、Problems、断言、Tutor 与报告都回到同一个学生工作区和运行标识，读、改、跑、查、问、复验连成一次操作；脚手架只补当前层的文件，旧运行始终可见，但不能证明一个已被修改的工作区。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7E6DE-FFA6-08F2-ED92-8C7674F14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ACF7A0-A5C0-87C1-2562-83598D76D2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FB12E4-9CC4-9AA9-F953-765D2CB25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OS Learning 的第二项技术是学生学习工作台。Monaco、终端、Problems、断言、Tutor 与报告都回到同一个学生工作区和运行标识，读、改、跑、查、问、复验连成一次操作；脚手架只补当前层的文件，旧运行始终可见，但不能证明一个已被修改的工作区。</a:t>
            </a:r>
          </a:p>
        </p:txBody>
      </p:sp>
    </p:spTree>
    <p:extLst>
      <p:ext uri="{BB962C8B-B14F-4D97-AF65-F5344CB8AC3E}">
        <p14:creationId xmlns:p14="http://schemas.microsoft.com/office/powerpoint/2010/main" val="4121424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最后一个词，VE，Verification Environment，可信验证环境。它承诺三件事：可信验证与受控断言，verified 必须同时满足可信来源、零退出码、断言非空且全部通过；Agent Server 协作学习，Tutor 引导而不替代，Assessment 依证据评分；以及证据即边界，模型不得声称执行过不存在的运行，口头解释永远不能覆盖可信运行。下面五页依次展开。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VE 的第五项技术是双 Agent 分权复盘。Assessment 依据行为证据生成复盘简报，决定测什么；Tutor 以同一身份把简报变成面向学生的反问，负责怎么问；学生作答后，Assessment 独立逐题判定，负责怎么判。分工避免了同一个 Agent 一边提示答案、一边给自己的教学结果打分，而教师保留最终判断权。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VE 的第二项技术是 verified 的四个必要条件：可信来源、零退出码、非空断言、全部断言通过，缺一不可。学生自定义的命令即使输出看起来正确，也永远标记为不可信——这正是退出码不等价于验证通过的制度化表达。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VE 的第三项技术是证据管线。一次运行从校验 recipe、无 shell 执行、解析 Cargo 与 QEMU 输出，到计算断言和 Trace，最后把输出、哈希、诊断和事件全部落盘。工作区哈希、诊断、Trace、断言与制品共享同一个运行标识，Tutor、Assessment 和教师只消费这一份结果。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7E77F-4EDD-2972-33AE-531901E17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376396-CE58-F4D6-9846-7EAD082B7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A3E32A-1568-74DF-2ACD-052930BF9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VE 的第五项技术是双 Agent 分权复盘。Assessment 依据行为证据生成复盘简报，决定测什么；Tutor 以同一身份把简报变成面向学生的反问，负责怎么问；学生作答后，Assessment 独立逐题判定，负责怎么判。分工避免了同一个 Agent 一边提示答案、一边给自己的教学结果打分，而教师保留最终判断权。</a:t>
            </a:r>
          </a:p>
        </p:txBody>
      </p:sp>
    </p:spTree>
    <p:extLst>
      <p:ext uri="{BB962C8B-B14F-4D97-AF65-F5344CB8AC3E}">
        <p14:creationId xmlns:p14="http://schemas.microsoft.com/office/powerpoint/2010/main" val="15773387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VE 的第四项技术是 Tutor 的行为约束。一次请求先识别七类意图，命中直接索要完整答案就触发护栏，短路返回、不做检索；普通问题才进入受限 RAG 和分层提示。输出侧再做一次引用白名单校验，代码片段超过十二行就拦截，模型也不能声称执行过不存在的运行。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A3ADD-FB87-C340-9201-77667BC6D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2AFE4B-F4E0-DB0B-D2A1-9D4EC4B5E9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3DD1EF-4342-925E-E825-B93D041999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VE 的第四项技术是 Tutor 的行为约束。一次请求先识别七类意图，命中直接索要完整答案就触发护栏，短路返回、不做检索；普通问题才进入受限 RAG 和分层提示。输出侧再做一次引用白名单校验，代码片段超过十二行就拦截，模型也不能声称执行过不存在的运行。</a:t>
            </a:r>
          </a:p>
        </p:txBody>
      </p:sp>
    </p:spTree>
    <p:extLst>
      <p:ext uri="{BB962C8B-B14F-4D97-AF65-F5344CB8AC3E}">
        <p14:creationId xmlns:p14="http://schemas.microsoft.com/office/powerpoint/2010/main" val="9889793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E8512-45B3-FFB2-2CFB-424AAB0E3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1EBD40-5263-0573-B03D-0911A6382B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3B520C-670A-6A28-2C00-97C7FDF2FA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VE 的第五项技术是双 Agent 分权复盘。Assessment 依据行为证据生成复盘简报，决定测什么；Tutor 以同一身份把简报变成面向学生的反问，负责怎么问；学生作答后，Assessment 独立逐题判定，负责怎么判。分工避免了同一个 Agent 一边提示答案、一边给自己的教学结果打分，而教师保留最终判断权。</a:t>
            </a:r>
          </a:p>
        </p:txBody>
      </p:sp>
    </p:spTree>
    <p:extLst>
      <p:ext uri="{BB962C8B-B14F-4D97-AF65-F5344CB8AC3E}">
        <p14:creationId xmlns:p14="http://schemas.microsoft.com/office/powerpoint/2010/main" val="37319714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工程证据方面，二百一十八项自动与契约测试全部通过，等于一百四十四项 Node、四十二项 Rust 加三十二项 Python；Lab1 到 Lab8 的十四项 QEMU 端到端行为断言全绿；Tutor Harness 三十四个用例答案泄漏率为零；Assessment Harness 五项契约全部满分。要强调的是，这些证明的是系统能跑且边界生效，真实课堂效果还需要后续对照实验。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和经典路径对比，tg-rcore 用换章工程服务标准化练习，xv6 用完整源码树服务成熟范式，EVOLVE 补的是初学者的第一跳：用可见演进、统一环境和受控 AI 帮学生建立脉络。三者是互补关系——EVOLVE 建脉络，tg-rcore 对读强化，xv6 建高楼。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这套系统的意义落在四个层面。对学生，是一对一 AI 助教加零配置环境，以及"提出判断、设计验证、观察证据、修改复验"的工程师思维训练；对教师，黑箱提交物变成带完整证据链的过程记录，核验成本显著下降；对课程与工程，内核以组件 crate 形态组织，具备发布条件；对技术范式，我们探索了一条大模型加可信证据加制度化评价的可落地融合路径。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项目沿"冻结契约、并行实现、真实链路收口"的路线推进了七个里程碑：从 Lab Package 与渐进内核，到工作台与可信验证，再到 Tutor 与证据链、规则评价与 Assessment、苏格拉底复盘、教师验收，最后全量回归与文档。每阶段都以机器可读契约为接口边界，以测试夹具和真实链路冒烟收口，避免文档与实现漂移。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团队三人正好覆盖三根轴。我负责系统轴，总体集成与服务端证据链；SIZN 负责交互轴，教学 IDE 与教师端；RnTs1002 负责内容轴，教学内容标准化与任务设计。AI 深度参与了多文件编辑、机制解释、测试补充和文档整理，但架构取舍、教学目标、证据核验和发布范围始终由团队把关，密钥与私有对话从不进入仓库。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一阶段我们从教学模型走向多班级真实观测。内核侧补齐写时复制、文件映射与多核调度；执行侧走向标准化隔离部署与资源配额；评价侧开展匿名化的多班级对照实验，预注册指标、报告效应量与失败案例；同时把 Lab Factory 的审批发布能力更完整地整合进教师工作台。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14350" y="381000"/>
              <a:ext cx="114300" cy="6096000"/>
            </a:xfrm>
            <a:prstGeom prst="rect">
              <a:avLst/>
            </a:prstGeom>
            <a:solidFill>
              <a:srgbClr val="1B4B8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628650" y="381000"/>
              <a:ext cx="114300" cy="60960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51560" y="746760"/>
            <a:ext cx="10641330" cy="243840"/>
            <a:chOff x="1051560" y="746760"/>
            <a:chExt cx="10641330" cy="243840"/>
          </a:xfrm>
        </p:grpSpPr>
        <p:sp>
          <p:nvSpPr>
            <p:cNvPr id="6" name="TextBox 6"/>
            <p:cNvSpPr txBox="1"/>
            <p:nvPr/>
          </p:nvSpPr>
          <p:spPr>
            <a:xfrm>
              <a:off x="1051560" y="746760"/>
              <a:ext cx="92333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b="1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选题：</a:t>
              </a:r>
              <a:r>
                <a:rPr lang="en-US" altLang="zh-CN" sz="1200" b="1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proj20</a:t>
              </a:r>
              <a:endParaRPr lang="zh-CN" sz="1200" b="1" dirty="0">
                <a:solidFill>
                  <a:srgbClr val="5B6673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292764" y="746760"/>
              <a:ext cx="4001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8993A1"/>
                  </a:solidFill>
                  <a:latin typeface="Arial"/>
                  <a:ea typeface="Microsoft YaHei"/>
                  <a:cs typeface="Arial"/>
                </a:rPr>
                <a:t>2026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82980" y="2430780"/>
            <a:ext cx="8302869" cy="1617107"/>
            <a:chOff x="982980" y="2430780"/>
            <a:chExt cx="8302869" cy="1617107"/>
          </a:xfrm>
        </p:grpSpPr>
        <p:sp>
          <p:nvSpPr>
            <p:cNvPr id="9" name="TextBox 9"/>
            <p:cNvSpPr txBox="1"/>
            <p:nvPr/>
          </p:nvSpPr>
          <p:spPr>
            <a:xfrm>
              <a:off x="982980" y="2430780"/>
              <a:ext cx="3402044" cy="1341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EVOLVE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66800" y="3371850"/>
              <a:ext cx="6229350" cy="57150"/>
            </a:xfrm>
            <a:prstGeom prst="rect">
              <a:avLst/>
            </a:prstGeom>
            <a:solidFill>
              <a:srgbClr val="1B4B8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477000" y="3371850"/>
              <a:ext cx="819150" cy="5715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40130" y="3678555"/>
              <a:ext cx="824571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Evolving Virtual OS Learning &amp; Verification Environment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45845" y="4812920"/>
            <a:ext cx="10631805" cy="1187830"/>
            <a:chOff x="1045845" y="4927282"/>
            <a:chExt cx="10631805" cy="1073468"/>
          </a:xfrm>
        </p:grpSpPr>
        <p:sp>
          <p:nvSpPr>
            <p:cNvPr id="14" name="TextBox 14"/>
            <p:cNvSpPr txBox="1"/>
            <p:nvPr/>
          </p:nvSpPr>
          <p:spPr>
            <a:xfrm>
              <a:off x="1045845" y="4927282"/>
              <a:ext cx="3334311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项目团队：</a:t>
              </a:r>
              <a:r>
                <a:rPr lang="en-US" altLang="zh-CN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Or2-1</a:t>
              </a:r>
            </a:p>
            <a:p>
              <a:r>
                <a:rPr lang="zh-CN" altLang="en-US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队伍编号：</a:t>
              </a:r>
              <a:r>
                <a:rPr lang="en-US" altLang="zh-CN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T2026102699911318</a:t>
              </a:r>
              <a:endParaRPr lang="zh-CN" b="1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1066800" y="5467350"/>
              <a:ext cx="10610850" cy="9525"/>
            </a:xfrm>
            <a:custGeom>
              <a:avLst/>
              <a:gdLst/>
              <a:ahLst/>
              <a:cxnLst/>
              <a:rect l="l" t="t" r="r" b="b"/>
              <a:pathLst>
                <a:path w="10610850" h="9525">
                  <a:moveTo>
                    <a:pt x="0" y="0"/>
                  </a:moveTo>
                  <a:lnTo>
                    <a:pt x="10610850" y="0"/>
                  </a:lnTo>
                </a:path>
              </a:pathLst>
            </a:custGeom>
            <a:noFill/>
            <a:ln w="19050">
              <a:solidFill>
                <a:srgbClr val="DFE7E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51560" y="575691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842C"/>
                  </a:solidFill>
                  <a:latin typeface="Arial"/>
                  <a:ea typeface="Microsoft YaHei"/>
                  <a:cs typeface="Arial"/>
                </a:rPr>
                <a:t>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18260" y="5756910"/>
              <a:ext cx="769441" cy="1668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渐进</a:t>
              </a:r>
              <a:r>
                <a:rPr lang="zh-CN" sz="120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式</a:t>
              </a:r>
              <a:r>
                <a:rPr lang="zh-CN" sz="120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内核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66160" y="575691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V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32860" y="575691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统一虚拟环境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85560" y="5756910"/>
              <a:ext cx="2489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OS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47510" y="57569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学习文档与实践变体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509760" y="5756910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VE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33610" y="575691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可信验证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14350" y="381000"/>
              <a:ext cx="800100" cy="762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8155" y="587692"/>
            <a:ext cx="4751301" cy="438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项目背</a:t>
            </a:r>
            <a:r>
              <a:rPr 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景：</a:t>
            </a:r>
            <a:r>
              <a:rPr lang="zh-CN" altLang="en-US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操作系统</a:t>
            </a:r>
            <a:r>
              <a:rPr 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教学困境</a:t>
            </a:r>
            <a:endParaRPr lang="zh-CN" sz="2850" b="1" dirty="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489585" y="1297682"/>
            <a:ext cx="6368415" cy="4807844"/>
            <a:chOff x="489585" y="1752600"/>
            <a:chExt cx="6368415" cy="4352925"/>
          </a:xfrm>
        </p:grpSpPr>
        <p:sp>
          <p:nvSpPr>
            <p:cNvPr id="9" name="Line 9"/>
            <p:cNvSpPr/>
            <p:nvPr/>
          </p:nvSpPr>
          <p:spPr>
            <a:xfrm>
              <a:off x="514350" y="1752600"/>
              <a:ext cx="6343650" cy="9525"/>
            </a:xfrm>
            <a:custGeom>
              <a:avLst/>
              <a:gdLst/>
              <a:ahLst/>
              <a:cxnLst/>
              <a:rect l="l" t="t" r="r" b="b"/>
              <a:pathLst>
                <a:path w="6343650" h="9525">
                  <a:moveTo>
                    <a:pt x="0" y="0"/>
                  </a:moveTo>
                  <a:lnTo>
                    <a:pt x="6343650" y="0"/>
                  </a:lnTo>
                </a:path>
              </a:pathLst>
            </a:custGeom>
            <a:noFill/>
            <a:ln w="19050">
              <a:solidFill>
                <a:srgbClr val="C9D4D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89585" y="1942148"/>
              <a:ext cx="34986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07745" y="197453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原理与实践脱节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4412" y="2278856"/>
              <a:ext cx="42291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能背诵页表、调度、信号的定义，完成实践时却无法把课上所学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14412" y="2488406"/>
              <a:ext cx="39740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与实践需要联系起来——"知道"与"会做"之间的鸿沟无法跨越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514350" y="2819400"/>
              <a:ext cx="6343650" cy="9525"/>
            </a:xfrm>
            <a:custGeom>
              <a:avLst/>
              <a:gdLst/>
              <a:ahLst/>
              <a:cxnLst/>
              <a:rect l="l" t="t" r="r" b="b"/>
              <a:pathLst>
                <a:path w="6343650" h="9525">
                  <a:moveTo>
                    <a:pt x="0" y="0"/>
                  </a:moveTo>
                  <a:lnTo>
                    <a:pt x="6343650" y="0"/>
                  </a:lnTo>
                </a:path>
              </a:pathLst>
            </a:custGeom>
            <a:noFill/>
            <a:ln w="19050">
              <a:solidFill>
                <a:srgbClr val="DFE7E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89585" y="2989898"/>
              <a:ext cx="34986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07745" y="3022282"/>
              <a:ext cx="1904367" cy="2298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50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概念掌握停留在表层</a:t>
              </a:r>
              <a:endParaRPr lang="zh-CN" sz="1650" b="1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14412" y="3326606"/>
              <a:ext cx="4039567" cy="156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125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学生能够背诵复述进程、虚拟内存、中断等概念，却难以解释其</a:t>
              </a:r>
              <a:endParaRPr lang="zh-CN" sz="1125" dirty="0">
                <a:solidFill>
                  <a:srgbClr val="5B6673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14412" y="3536156"/>
              <a:ext cx="2164054" cy="156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125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设计动机、运行过程和边界条件。</a:t>
              </a:r>
              <a:endParaRPr lang="zh-CN" sz="1125" dirty="0">
                <a:solidFill>
                  <a:srgbClr val="5B6673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514350" y="3867150"/>
              <a:ext cx="6343650" cy="9525"/>
            </a:xfrm>
            <a:custGeom>
              <a:avLst/>
              <a:gdLst/>
              <a:ahLst/>
              <a:cxnLst/>
              <a:rect l="l" t="t" r="r" b="b"/>
              <a:pathLst>
                <a:path w="6343650" h="9525">
                  <a:moveTo>
                    <a:pt x="0" y="0"/>
                  </a:moveTo>
                  <a:lnTo>
                    <a:pt x="6343650" y="0"/>
                  </a:lnTo>
                </a:path>
              </a:pathLst>
            </a:custGeom>
            <a:noFill/>
            <a:ln w="19050">
              <a:solidFill>
                <a:srgbClr val="DFE7E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89585" y="4037648"/>
              <a:ext cx="34986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7745" y="4070032"/>
              <a:ext cx="2115964" cy="2298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50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评价难以区分真实能力</a:t>
              </a:r>
              <a:endParaRPr lang="zh-CN" sz="1650" b="1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14412" y="4374356"/>
              <a:ext cx="3895297" cy="156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125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一份表述规范、代码完整的作业，可能来自深入理解，也可能</a:t>
              </a:r>
              <a:endParaRPr lang="zh-CN" sz="1125" dirty="0">
                <a:solidFill>
                  <a:srgbClr val="5B6673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4412" y="4583906"/>
              <a:ext cx="2164054" cy="156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125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只是对大模型输出的整理与拼接。</a:t>
              </a:r>
              <a:endParaRPr lang="zh-CN" sz="1125" dirty="0">
                <a:solidFill>
                  <a:srgbClr val="5B6673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4" name="Line 24"/>
            <p:cNvSpPr/>
            <p:nvPr/>
          </p:nvSpPr>
          <p:spPr>
            <a:xfrm>
              <a:off x="514350" y="4914900"/>
              <a:ext cx="6343650" cy="9525"/>
            </a:xfrm>
            <a:custGeom>
              <a:avLst/>
              <a:gdLst/>
              <a:ahLst/>
              <a:cxnLst/>
              <a:rect l="l" t="t" r="r" b="b"/>
              <a:pathLst>
                <a:path w="6343650" h="9525">
                  <a:moveTo>
                    <a:pt x="0" y="0"/>
                  </a:moveTo>
                  <a:lnTo>
                    <a:pt x="6343650" y="0"/>
                  </a:lnTo>
                </a:path>
              </a:pathLst>
            </a:custGeom>
            <a:noFill/>
            <a:ln w="19050">
              <a:solidFill>
                <a:srgbClr val="DFE7E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89585" y="5085398"/>
              <a:ext cx="34986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7745" y="5117782"/>
              <a:ext cx="2115964" cy="2298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50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教学复盘缺少过程证据</a:t>
              </a:r>
              <a:endParaRPr lang="zh-CN" sz="1650" b="1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4412" y="5422106"/>
              <a:ext cx="4328108" cy="156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125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教师看到的只有最终提交物，难以发现学生究竟卡在概念理解、系统</a:t>
              </a:r>
              <a:endParaRPr lang="zh-CN" sz="1125" dirty="0">
                <a:solidFill>
                  <a:srgbClr val="5B6673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14412" y="5631656"/>
              <a:ext cx="3751027" cy="156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125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连接、调试方法还是因果解释等方面，教学复盘难以推进。</a:t>
              </a:r>
              <a:endParaRPr lang="zh-CN" sz="1125" dirty="0">
                <a:solidFill>
                  <a:srgbClr val="5B6673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9" name="Line 29"/>
            <p:cNvSpPr/>
            <p:nvPr/>
          </p:nvSpPr>
          <p:spPr>
            <a:xfrm>
              <a:off x="514350" y="6096000"/>
              <a:ext cx="6343650" cy="9525"/>
            </a:xfrm>
            <a:custGeom>
              <a:avLst/>
              <a:gdLst/>
              <a:ahLst/>
              <a:cxnLst/>
              <a:rect l="l" t="t" r="r" b="b"/>
              <a:pathLst>
                <a:path w="6343650" h="9525">
                  <a:moveTo>
                    <a:pt x="0" y="0"/>
                  </a:moveTo>
                  <a:lnTo>
                    <a:pt x="6343650" y="0"/>
                  </a:lnTo>
                </a:path>
              </a:pathLst>
            </a:custGeom>
            <a:noFill/>
            <a:ln w="19050">
              <a:solidFill>
                <a:srgbClr val="C9D4DF"/>
              </a:solidFill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7181850" y="1285007"/>
            <a:ext cx="4495800" cy="4810993"/>
            <a:chOff x="7181850" y="1504950"/>
            <a:chExt cx="4495800" cy="4591050"/>
          </a:xfrm>
        </p:grpSpPr>
        <p:sp>
          <p:nvSpPr>
            <p:cNvPr id="31" name="Rectangle 31"/>
            <p:cNvSpPr/>
            <p:nvPr/>
          </p:nvSpPr>
          <p:spPr>
            <a:xfrm>
              <a:off x="7181850" y="1504950"/>
              <a:ext cx="4495800" cy="45910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31405" y="1721168"/>
              <a:ext cx="17638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工程性瓶颈 · 环境侧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7448550" y="2019300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19050">
              <a:solidFill>
                <a:srgbClr val="C9D4DF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474744" y="2282825"/>
              <a:ext cx="157163" cy="149225"/>
              <a:chOff x="7474744" y="2282825"/>
              <a:chExt cx="157163" cy="1492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474744" y="2282825"/>
                <a:ext cx="157163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04775">
                    <a:moveTo>
                      <a:pt x="0" y="8731"/>
                    </a:moveTo>
                    <a:cubicBezTo>
                      <a:pt x="0" y="3909"/>
                      <a:pt x="3909" y="0"/>
                      <a:pt x="8731" y="0"/>
                    </a:cubicBezTo>
                    <a:lnTo>
                      <a:pt x="148431" y="0"/>
                    </a:lnTo>
                    <a:cubicBezTo>
                      <a:pt x="153253" y="0"/>
                      <a:pt x="157163" y="3909"/>
                      <a:pt x="157163" y="8731"/>
                    </a:cubicBezTo>
                    <a:lnTo>
                      <a:pt x="157163" y="96044"/>
                    </a:lnTo>
                    <a:cubicBezTo>
                      <a:pt x="157163" y="100866"/>
                      <a:pt x="153253" y="104775"/>
                      <a:pt x="148431" y="104775"/>
                    </a:cubicBezTo>
                    <a:lnTo>
                      <a:pt x="8731" y="104775"/>
                    </a:lnTo>
                    <a:cubicBezTo>
                      <a:pt x="3909" y="104775"/>
                      <a:pt x="0" y="100866"/>
                      <a:pt x="0" y="96044"/>
                    </a:cubicBezTo>
                    <a:lnTo>
                      <a:pt x="0" y="8731"/>
                    </a:lnTo>
                  </a:path>
                </a:pathLst>
              </a:custGeom>
              <a:noFill/>
              <a:ln w="19050">
                <a:solidFill>
                  <a:srgbClr val="1B4B8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509669" y="2422525"/>
                <a:ext cx="873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7313" h="9525">
                    <a:moveTo>
                      <a:pt x="0" y="0"/>
                    </a:moveTo>
                    <a:lnTo>
                      <a:pt x="87313" y="0"/>
                    </a:lnTo>
                  </a:path>
                </a:pathLst>
              </a:custGeom>
              <a:noFill/>
              <a:ln w="19050">
                <a:solidFill>
                  <a:srgbClr val="1B4B8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527131" y="2387600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1B4B8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579519" y="2387600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1B4B8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7778115" y="2227469"/>
              <a:ext cx="1481175" cy="2423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环境配置成本高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78115" y="2525078"/>
              <a:ext cx="3654847" cy="165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3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交叉工具链、QEMU、Rust 工具链与磁盘镜像环环相扣，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78115" y="2715578"/>
              <a:ext cx="2596865" cy="165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3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任何一环版本差异都可能让实验无法启动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7483475" y="3131344"/>
              <a:ext cx="148432" cy="165841"/>
              <a:chOff x="7483475" y="3131344"/>
              <a:chExt cx="148432" cy="165841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562049" y="3131344"/>
                <a:ext cx="43663" cy="43663"/>
              </a:xfrm>
              <a:custGeom>
                <a:avLst/>
                <a:gdLst/>
                <a:ahLst/>
                <a:cxnLst/>
                <a:rect l="l" t="t" r="r" b="b"/>
                <a:pathLst>
                  <a:path w="43663" h="43663">
                    <a:moveTo>
                      <a:pt x="7" y="0"/>
                    </a:moveTo>
                    <a:lnTo>
                      <a:pt x="7" y="34925"/>
                    </a:lnTo>
                    <a:cubicBezTo>
                      <a:pt x="0" y="37243"/>
                      <a:pt x="918" y="39468"/>
                      <a:pt x="2557" y="41107"/>
                    </a:cubicBezTo>
                    <a:cubicBezTo>
                      <a:pt x="4196" y="42746"/>
                      <a:pt x="6420" y="43663"/>
                      <a:pt x="8738" y="43656"/>
                    </a:cubicBezTo>
                    <a:lnTo>
                      <a:pt x="43663" y="43656"/>
                    </a:lnTo>
                  </a:path>
                </a:pathLst>
              </a:custGeom>
              <a:noFill/>
              <a:ln w="19050">
                <a:solidFill>
                  <a:srgbClr val="1B4B8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483475" y="3131344"/>
                <a:ext cx="122238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157163">
                    <a:moveTo>
                      <a:pt x="61119" y="157163"/>
                    </a:moveTo>
                    <a:lnTo>
                      <a:pt x="17463" y="157163"/>
                    </a:lnTo>
                    <a:cubicBezTo>
                      <a:pt x="7818" y="157163"/>
                      <a:pt x="0" y="149344"/>
                      <a:pt x="0" y="139700"/>
                    </a:cubicBezTo>
                    <a:lnTo>
                      <a:pt x="0" y="17463"/>
                    </a:lnTo>
                    <a:cubicBezTo>
                      <a:pt x="0" y="7818"/>
                      <a:pt x="7818" y="0"/>
                      <a:pt x="17463" y="0"/>
                    </a:cubicBezTo>
                    <a:lnTo>
                      <a:pt x="78581" y="0"/>
                    </a:lnTo>
                    <a:lnTo>
                      <a:pt x="122238" y="43656"/>
                    </a:lnTo>
                    <a:lnTo>
                      <a:pt x="122238" y="74216"/>
                    </a:lnTo>
                  </a:path>
                </a:pathLst>
              </a:custGeom>
              <a:noFill/>
              <a:ln w="19050">
                <a:solidFill>
                  <a:srgbClr val="1B4B8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518400" y="31837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31" y="0"/>
                    </a:lnTo>
                  </a:path>
                </a:pathLst>
              </a:custGeom>
              <a:noFill/>
              <a:ln w="19050">
                <a:solidFill>
                  <a:srgbClr val="1B4B8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518400" y="3218604"/>
                <a:ext cx="2619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194" h="9525">
                    <a:moveTo>
                      <a:pt x="0" y="0"/>
                    </a:moveTo>
                    <a:lnTo>
                      <a:pt x="26194" y="0"/>
                    </a:lnTo>
                  </a:path>
                </a:pathLst>
              </a:custGeom>
              <a:noFill/>
              <a:ln w="19050">
                <a:solidFill>
                  <a:srgbClr val="1B4B8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518400" y="3253555"/>
                <a:ext cx="174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463" h="9525">
                    <a:moveTo>
                      <a:pt x="0" y="0"/>
                    </a:moveTo>
                    <a:lnTo>
                      <a:pt x="17463" y="0"/>
                    </a:lnTo>
                  </a:path>
                </a:pathLst>
              </a:custGeom>
              <a:noFill/>
              <a:ln w="19050">
                <a:solidFill>
                  <a:srgbClr val="1B4B8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570788" y="3231701"/>
                <a:ext cx="61119" cy="65484"/>
              </a:xfrm>
              <a:custGeom>
                <a:avLst/>
                <a:gdLst/>
                <a:ahLst/>
                <a:cxnLst/>
                <a:rect l="l" t="t" r="r" b="b"/>
                <a:pathLst>
                  <a:path w="61119" h="65484">
                    <a:moveTo>
                      <a:pt x="61119" y="13097"/>
                    </a:moveTo>
                    <a:cubicBezTo>
                      <a:pt x="61119" y="48022"/>
                      <a:pt x="39291" y="65484"/>
                      <a:pt x="30559" y="65484"/>
                    </a:cubicBezTo>
                    <a:cubicBezTo>
                      <a:pt x="21828" y="65484"/>
                      <a:pt x="0" y="48022"/>
                      <a:pt x="0" y="13097"/>
                    </a:cubicBezTo>
                    <a:cubicBezTo>
                      <a:pt x="8731" y="13097"/>
                      <a:pt x="21828" y="8731"/>
                      <a:pt x="30559" y="0"/>
                    </a:cubicBezTo>
                    <a:cubicBezTo>
                      <a:pt x="39291" y="8731"/>
                      <a:pt x="52388" y="13097"/>
                      <a:pt x="61119" y="13097"/>
                    </a:cubicBezTo>
                  </a:path>
                </a:pathLst>
              </a:custGeom>
              <a:noFill/>
              <a:ln w="19050">
                <a:solidFill>
                  <a:srgbClr val="1B4B8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7750411" y="3084720"/>
              <a:ext cx="1269578" cy="2423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过程证据缺失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78115" y="3382328"/>
              <a:ext cx="3874459" cy="165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3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传统验收只看"代码 + 退出码"，是否运行过、失败后如何修正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78115" y="3572828"/>
              <a:ext cx="2885405" cy="165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3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一律不可见，抄袭与调试在提交物上无法区分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7492206" y="3988594"/>
              <a:ext cx="122238" cy="157163"/>
            </a:xfrm>
            <a:custGeom>
              <a:avLst/>
              <a:gdLst/>
              <a:ahLst/>
              <a:cxnLst/>
              <a:rect l="l" t="t" r="r" b="b"/>
              <a:pathLst>
                <a:path w="122238" h="157163">
                  <a:moveTo>
                    <a:pt x="69850" y="0"/>
                  </a:moveTo>
                  <a:lnTo>
                    <a:pt x="69850" y="61119"/>
                  </a:lnTo>
                  <a:lnTo>
                    <a:pt x="122238" y="61119"/>
                  </a:lnTo>
                  <a:lnTo>
                    <a:pt x="52388" y="157163"/>
                  </a:lnTo>
                  <a:lnTo>
                    <a:pt x="52388" y="96044"/>
                  </a:lnTo>
                  <a:lnTo>
                    <a:pt x="0" y="96044"/>
                  </a:lnTo>
                  <a:lnTo>
                    <a:pt x="69850" y="0"/>
                  </a:lnTo>
                </a:path>
              </a:pathLst>
            </a:custGeom>
            <a:noFill/>
            <a:ln w="19050">
              <a:solidFill>
                <a:srgbClr val="1B4B8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774305" y="3941779"/>
              <a:ext cx="1057982" cy="2423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反馈周期长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78115" y="4239578"/>
              <a:ext cx="3606757" cy="165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3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写完代码到得到编译错误、运行行为或评分反馈，要经过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778115" y="4430078"/>
              <a:ext cx="3558667" cy="165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3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一次完整的手工构建-运行-观察循环，甚至等待助教批改</a:t>
              </a:r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7474744" y="4872038"/>
              <a:ext cx="157163" cy="104775"/>
              <a:chOff x="7474744" y="4872038"/>
              <a:chExt cx="157163" cy="10477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535863" y="4906963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9050">
                <a:solidFill>
                  <a:srgbClr val="1B4B8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474744" y="4872038"/>
                <a:ext cx="157163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04775">
                    <a:moveTo>
                      <a:pt x="157163" y="52388"/>
                    </a:moveTo>
                    <a:cubicBezTo>
                      <a:pt x="136208" y="87313"/>
                      <a:pt x="110014" y="104775"/>
                      <a:pt x="78581" y="104775"/>
                    </a:cubicBezTo>
                    <a:cubicBezTo>
                      <a:pt x="47149" y="104775"/>
                      <a:pt x="20955" y="87313"/>
                      <a:pt x="0" y="52388"/>
                    </a:cubicBezTo>
                    <a:cubicBezTo>
                      <a:pt x="20955" y="17463"/>
                      <a:pt x="47149" y="0"/>
                      <a:pt x="78581" y="0"/>
                    </a:cubicBezTo>
                    <a:cubicBezTo>
                      <a:pt x="110014" y="0"/>
                      <a:pt x="136208" y="17463"/>
                      <a:pt x="157163" y="52388"/>
                    </a:cubicBezTo>
                  </a:path>
                </a:pathLst>
              </a:custGeom>
              <a:noFill/>
              <a:ln w="19050">
                <a:solidFill>
                  <a:srgbClr val="1B4B8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7774305" y="4800934"/>
              <a:ext cx="1481175" cy="2423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教师核验成本高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778115" y="5096828"/>
              <a:ext cx="3565079" cy="165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3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面对全班的提交物，逐份核对"学生是否真正理解"的成本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778115" y="5287328"/>
              <a:ext cx="2452594" cy="165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3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极高，最终只能退化为抽查或只看结果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11560841" y="6570345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0</a:t>
            </a:r>
            <a:r>
              <a:rPr lang="en-US" alt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2</a:t>
            </a:r>
            <a:endParaRPr lang="zh-CN" sz="900" dirty="0">
              <a:solidFill>
                <a:srgbClr val="8993A1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14350" y="381000"/>
              <a:ext cx="800100" cy="762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8155" y="587692"/>
            <a:ext cx="4121321" cy="438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项目背景：</a:t>
            </a:r>
            <a:r>
              <a:rPr 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A</a:t>
            </a:r>
            <a:r>
              <a:rPr lang="zh-CN" sz="2850" b="1" dirty="0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I </a:t>
            </a:r>
            <a:r>
              <a:rPr 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浪潮</a:t>
            </a:r>
            <a:r>
              <a:rPr lang="zh-CN" altLang="en-US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的冲击</a:t>
            </a:r>
            <a:endParaRPr lang="zh-CN" sz="2850" b="1" dirty="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35" name="Group 35"/>
          <p:cNvGrpSpPr/>
          <p:nvPr/>
        </p:nvGrpSpPr>
        <p:grpSpPr>
          <a:xfrm>
            <a:off x="514350" y="1524000"/>
            <a:ext cx="5334000" cy="3248025"/>
            <a:chOff x="514350" y="1524000"/>
            <a:chExt cx="5334000" cy="3248025"/>
          </a:xfrm>
        </p:grpSpPr>
        <p:sp>
          <p:nvSpPr>
            <p:cNvPr id="8" name="Rectangle 8"/>
            <p:cNvSpPr/>
            <p:nvPr/>
          </p:nvSpPr>
          <p:spPr>
            <a:xfrm>
              <a:off x="514350" y="1524000"/>
              <a:ext cx="5334000" cy="438150"/>
            </a:xfrm>
            <a:prstGeom prst="rect">
              <a:avLst/>
            </a:prstGeom>
            <a:solidFill>
              <a:srgbClr val="168C5A">
                <a:alpha val="8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3905" y="1664018"/>
              <a:ext cx="21419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8C5A"/>
                  </a:solidFill>
                  <a:latin typeface="Arial"/>
                  <a:ea typeface="Microsoft YaHei"/>
                  <a:cs typeface="Arial"/>
                </a:rPr>
                <a:t>机遇 · 约束行为边界之后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14350" y="19621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19050">
              <a:solidFill>
                <a:srgbClr val="168C5A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45306" y="2240756"/>
              <a:ext cx="185737" cy="185737"/>
              <a:chOff x="545306" y="2240756"/>
              <a:chExt cx="185737" cy="18573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638175" y="2343943"/>
                <a:ext cx="72231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72231" h="82550">
                    <a:moveTo>
                      <a:pt x="36116" y="0"/>
                    </a:moveTo>
                    <a:cubicBezTo>
                      <a:pt x="16169" y="0"/>
                      <a:pt x="0" y="16169"/>
                      <a:pt x="0" y="36116"/>
                    </a:cubicBezTo>
                    <a:lnTo>
                      <a:pt x="0" y="46434"/>
                    </a:lnTo>
                    <a:cubicBezTo>
                      <a:pt x="0" y="66380"/>
                      <a:pt x="16169" y="82550"/>
                      <a:pt x="36116" y="82550"/>
                    </a:cubicBezTo>
                    <a:cubicBezTo>
                      <a:pt x="56062" y="82550"/>
                      <a:pt x="72231" y="66380"/>
                      <a:pt x="72231" y="46434"/>
                    </a:cubicBezTo>
                    <a:lnTo>
                      <a:pt x="72231" y="27861"/>
                    </a:lnTo>
                  </a:path>
                </a:pathLst>
              </a:custGeom>
              <a:noFill/>
              <a:ln w="19050">
                <a:solidFill>
                  <a:srgbClr val="168C5A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65944" y="2343943"/>
                <a:ext cx="72231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72231" h="82550">
                    <a:moveTo>
                      <a:pt x="36116" y="0"/>
                    </a:moveTo>
                    <a:cubicBezTo>
                      <a:pt x="56062" y="0"/>
                      <a:pt x="72231" y="16169"/>
                      <a:pt x="72231" y="36116"/>
                    </a:cubicBezTo>
                    <a:lnTo>
                      <a:pt x="72231" y="46434"/>
                    </a:lnTo>
                    <a:cubicBezTo>
                      <a:pt x="72231" y="66380"/>
                      <a:pt x="56062" y="82550"/>
                      <a:pt x="36116" y="82550"/>
                    </a:cubicBezTo>
                    <a:cubicBezTo>
                      <a:pt x="16169" y="82550"/>
                      <a:pt x="0" y="66380"/>
                      <a:pt x="0" y="46434"/>
                    </a:cubicBezTo>
                    <a:lnTo>
                      <a:pt x="0" y="27861"/>
                    </a:lnTo>
                  </a:path>
                </a:pathLst>
              </a:custGeom>
              <a:noFill/>
              <a:ln w="19050">
                <a:solidFill>
                  <a:srgbClr val="168C5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89768" y="2302668"/>
                <a:ext cx="41275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72231">
                    <a:moveTo>
                      <a:pt x="5159" y="72231"/>
                    </a:moveTo>
                    <a:cubicBezTo>
                      <a:pt x="25105" y="72231"/>
                      <a:pt x="41275" y="56062"/>
                      <a:pt x="41275" y="36116"/>
                    </a:cubicBezTo>
                    <a:cubicBezTo>
                      <a:pt x="41275" y="16169"/>
                      <a:pt x="25105" y="0"/>
                      <a:pt x="5159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68C5A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38175" y="2240756"/>
                <a:ext cx="72231" cy="65008"/>
              </a:xfrm>
              <a:custGeom>
                <a:avLst/>
                <a:gdLst/>
                <a:ahLst/>
                <a:cxnLst/>
                <a:rect l="l" t="t" r="r" b="b"/>
                <a:pathLst>
                  <a:path w="72231" h="65008">
                    <a:moveTo>
                      <a:pt x="72231" y="65008"/>
                    </a:moveTo>
                    <a:lnTo>
                      <a:pt x="72231" y="36116"/>
                    </a:lnTo>
                    <a:cubicBezTo>
                      <a:pt x="72231" y="16169"/>
                      <a:pt x="56062" y="0"/>
                      <a:pt x="36116" y="0"/>
                    </a:cubicBezTo>
                    <a:cubicBezTo>
                      <a:pt x="16169" y="0"/>
                      <a:pt x="0" y="16169"/>
                      <a:pt x="0" y="36116"/>
                    </a:cubicBezTo>
                  </a:path>
                </a:pathLst>
              </a:custGeom>
              <a:noFill/>
              <a:ln w="19050">
                <a:solidFill>
                  <a:srgbClr val="168C5A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45306" y="2302668"/>
                <a:ext cx="41275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72231">
                    <a:moveTo>
                      <a:pt x="36116" y="72231"/>
                    </a:moveTo>
                    <a:cubicBezTo>
                      <a:pt x="16169" y="72231"/>
                      <a:pt x="0" y="56062"/>
                      <a:pt x="0" y="36116"/>
                    </a:cubicBezTo>
                    <a:cubicBezTo>
                      <a:pt x="0" y="16169"/>
                      <a:pt x="16169" y="0"/>
                      <a:pt x="36116" y="0"/>
                    </a:cubicBezTo>
                    <a:lnTo>
                      <a:pt x="41275" y="0"/>
                    </a:lnTo>
                  </a:path>
                </a:pathLst>
              </a:custGeom>
              <a:noFill/>
              <a:ln w="19050">
                <a:solidFill>
                  <a:srgbClr val="168C5A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65944" y="2240756"/>
                <a:ext cx="72231" cy="139303"/>
              </a:xfrm>
              <a:custGeom>
                <a:avLst/>
                <a:gdLst/>
                <a:ahLst/>
                <a:cxnLst/>
                <a:rect l="l" t="t" r="r" b="b"/>
                <a:pathLst>
                  <a:path w="72231" h="139303">
                    <a:moveTo>
                      <a:pt x="0" y="65008"/>
                    </a:moveTo>
                    <a:lnTo>
                      <a:pt x="0" y="36116"/>
                    </a:lnTo>
                    <a:cubicBezTo>
                      <a:pt x="0" y="16169"/>
                      <a:pt x="16169" y="0"/>
                      <a:pt x="36116" y="0"/>
                    </a:cubicBezTo>
                    <a:cubicBezTo>
                      <a:pt x="56062" y="0"/>
                      <a:pt x="72231" y="16169"/>
                      <a:pt x="72231" y="36116"/>
                    </a:cubicBezTo>
                    <a:lnTo>
                      <a:pt x="72231" y="139303"/>
                    </a:lnTo>
                  </a:path>
                </a:pathLst>
              </a:custGeom>
              <a:noFill/>
              <a:ln w="19050">
                <a:solidFill>
                  <a:srgbClr val="168C5A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915352" y="2208371"/>
              <a:ext cx="190436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一对一助教成为可能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0115" y="2477452"/>
              <a:ext cx="41011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让它解释机制、追问判断、给出分级提示，而不是替学生写代码——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20115" y="2667952"/>
              <a:ext cx="39471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每个学生都负担得起、随时在场的助教，人类助教规模无法覆盖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545306" y="3128962"/>
              <a:ext cx="185737" cy="123825"/>
              <a:chOff x="545306" y="3128962"/>
              <a:chExt cx="185737" cy="1238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17537" y="3170237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168C5A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45306" y="3128962"/>
                <a:ext cx="185737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23825">
                    <a:moveTo>
                      <a:pt x="185737" y="61912"/>
                    </a:moveTo>
                    <a:cubicBezTo>
                      <a:pt x="160972" y="103187"/>
                      <a:pt x="130016" y="123825"/>
                      <a:pt x="92868" y="123825"/>
                    </a:cubicBezTo>
                    <a:cubicBezTo>
                      <a:pt x="55721" y="123825"/>
                      <a:pt x="24765" y="103187"/>
                      <a:pt x="0" y="61912"/>
                    </a:cubicBezTo>
                    <a:cubicBezTo>
                      <a:pt x="24765" y="20637"/>
                      <a:pt x="55721" y="0"/>
                      <a:pt x="92868" y="0"/>
                    </a:cubicBezTo>
                    <a:cubicBezTo>
                      <a:pt x="130016" y="0"/>
                      <a:pt x="160972" y="20637"/>
                      <a:pt x="185737" y="61912"/>
                    </a:cubicBezTo>
                  </a:path>
                </a:pathLst>
              </a:custGeom>
              <a:noFill/>
              <a:ln w="19050">
                <a:solidFill>
                  <a:srgbClr val="168C5A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915352" y="3065621"/>
              <a:ext cx="169277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结合真实证据回应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0115" y="3334702"/>
              <a:ext cx="36671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可以结合学生当次的编译诊断与运行记录给出针对性回应，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0115" y="3525202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这是传统答疑按人数分配所做不到的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545306" y="3955256"/>
              <a:ext cx="185737" cy="185737"/>
              <a:chOff x="545306" y="3955256"/>
              <a:chExt cx="185737" cy="185737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545306" y="3955256"/>
                <a:ext cx="185737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92868">
                    <a:moveTo>
                      <a:pt x="0" y="92868"/>
                    </a:moveTo>
                    <a:lnTo>
                      <a:pt x="10319" y="92868"/>
                    </a:lnTo>
                    <a:moveTo>
                      <a:pt x="92868" y="0"/>
                    </a:moveTo>
                    <a:lnTo>
                      <a:pt x="92868" y="10319"/>
                    </a:lnTo>
                    <a:moveTo>
                      <a:pt x="175418" y="92868"/>
                    </a:moveTo>
                    <a:lnTo>
                      <a:pt x="185737" y="92868"/>
                    </a:lnTo>
                    <a:moveTo>
                      <a:pt x="26829" y="26829"/>
                    </a:moveTo>
                    <a:lnTo>
                      <a:pt x="34052" y="34052"/>
                    </a:lnTo>
                    <a:moveTo>
                      <a:pt x="158908" y="26829"/>
                    </a:moveTo>
                    <a:lnTo>
                      <a:pt x="151685" y="34052"/>
                    </a:lnTo>
                  </a:path>
                </a:pathLst>
              </a:custGeom>
              <a:noFill/>
              <a:ln w="19050">
                <a:solidFill>
                  <a:srgbClr val="168C5A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82206" y="3996531"/>
                <a:ext cx="111937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11937" h="144462">
                    <a:moveTo>
                      <a:pt x="25012" y="92868"/>
                    </a:moveTo>
                    <a:cubicBezTo>
                      <a:pt x="7246" y="79544"/>
                      <a:pt x="0" y="56346"/>
                      <a:pt x="7023" y="35278"/>
                    </a:cubicBezTo>
                    <a:cubicBezTo>
                      <a:pt x="14045" y="14210"/>
                      <a:pt x="33761" y="0"/>
                      <a:pt x="55969" y="0"/>
                    </a:cubicBezTo>
                    <a:cubicBezTo>
                      <a:pt x="78176" y="0"/>
                      <a:pt x="97892" y="14210"/>
                      <a:pt x="104915" y="35278"/>
                    </a:cubicBezTo>
                    <a:cubicBezTo>
                      <a:pt x="111937" y="56346"/>
                      <a:pt x="104691" y="79544"/>
                      <a:pt x="86925" y="92868"/>
                    </a:cubicBezTo>
                    <a:cubicBezTo>
                      <a:pt x="78754" y="100957"/>
                      <a:pt x="74922" y="112452"/>
                      <a:pt x="76606" y="123825"/>
                    </a:cubicBezTo>
                    <a:cubicBezTo>
                      <a:pt x="76606" y="135222"/>
                      <a:pt x="67366" y="144462"/>
                      <a:pt x="55969" y="144462"/>
                    </a:cubicBezTo>
                    <a:cubicBezTo>
                      <a:pt x="44571" y="144462"/>
                      <a:pt x="35331" y="135222"/>
                      <a:pt x="35331" y="123825"/>
                    </a:cubicBezTo>
                    <a:cubicBezTo>
                      <a:pt x="37015" y="112452"/>
                      <a:pt x="33183" y="100957"/>
                      <a:pt x="25012" y="92868"/>
                    </a:cubicBezTo>
                  </a:path>
                </a:pathLst>
              </a:custGeom>
              <a:noFill/>
              <a:ln w="19050">
                <a:solidFill>
                  <a:srgbClr val="168C5A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14442" y="4099718"/>
                <a:ext cx="4746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466" h="9525">
                    <a:moveTo>
                      <a:pt x="0" y="0"/>
                    </a:moveTo>
                    <a:lnTo>
                      <a:pt x="47466" y="0"/>
                    </a:lnTo>
                  </a:path>
                </a:pathLst>
              </a:custGeom>
              <a:noFill/>
              <a:ln w="19050">
                <a:solidFill>
                  <a:srgbClr val="168C5A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915352" y="3922871"/>
              <a:ext cx="169277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分级提示引导思考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0115" y="4191952"/>
              <a:ext cx="36671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按问题线程递进的提示等级，先要求观察现象、形成假设，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0115" y="4382452"/>
              <a:ext cx="25469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再给最小验证动作，最后才指向对照路径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14350" y="476250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19050">
              <a:solidFill>
                <a:srgbClr val="DFE7EF"/>
              </a:solidFill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6343650" y="1524000"/>
            <a:ext cx="5334000" cy="3248025"/>
            <a:chOff x="6343650" y="1524000"/>
            <a:chExt cx="5334000" cy="3248025"/>
          </a:xfrm>
        </p:grpSpPr>
        <p:sp>
          <p:nvSpPr>
            <p:cNvPr id="36" name="Rectangle 36"/>
            <p:cNvSpPr/>
            <p:nvPr/>
          </p:nvSpPr>
          <p:spPr>
            <a:xfrm>
              <a:off x="6343650" y="1524000"/>
              <a:ext cx="5334000" cy="438150"/>
            </a:xfrm>
            <a:prstGeom prst="rect">
              <a:avLst/>
            </a:prstGeom>
            <a:solidFill>
              <a:srgbClr val="C43D3D">
                <a:alpha val="8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93205" y="1664018"/>
              <a:ext cx="17638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43D3D"/>
                  </a:solidFill>
                  <a:latin typeface="Arial"/>
                  <a:ea typeface="Microsoft YaHei"/>
                  <a:cs typeface="Arial"/>
                </a:rPr>
                <a:t>挑战 · 放任使用之下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343650" y="19621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19050">
              <a:solidFill>
                <a:srgbClr val="C43D3D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374606" y="2240756"/>
              <a:ext cx="185737" cy="185737"/>
              <a:chOff x="6374606" y="2240756"/>
              <a:chExt cx="185737" cy="185737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374606" y="2240756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19050">
                <a:solidFill>
                  <a:srgbClr val="C43D3D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402467" y="2268617"/>
                <a:ext cx="130016" cy="130016"/>
              </a:xfrm>
              <a:custGeom>
                <a:avLst/>
                <a:gdLst/>
                <a:ahLst/>
                <a:cxnLst/>
                <a:rect l="l" t="t" r="r" b="b"/>
                <a:pathLst>
                  <a:path w="130016" h="130016">
                    <a:moveTo>
                      <a:pt x="0" y="0"/>
                    </a:moveTo>
                    <a:lnTo>
                      <a:pt x="130016" y="130016"/>
                    </a:lnTo>
                  </a:path>
                </a:pathLst>
              </a:custGeom>
              <a:noFill/>
              <a:ln w="19050">
                <a:solidFill>
                  <a:srgbClr val="C43D3D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744652" y="2208371"/>
              <a:ext cx="126957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代写绕过思考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49415" y="2477452"/>
              <a:ext cx="36811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学生把作业整段贴给大模型，直接得到可提交的完整实现——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49415" y="2667952"/>
              <a:ext cx="21549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"实验通过"不再能证明"理解发生"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6374606" y="3098006"/>
              <a:ext cx="185737" cy="185737"/>
              <a:chOff x="6374606" y="3098006"/>
              <a:chExt cx="185737" cy="185737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374606" y="3098006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19050">
                <a:solidFill>
                  <a:srgbClr val="C43D3D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467475" y="3149600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C43D3D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467475" y="323214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19050">
                <a:solidFill>
                  <a:srgbClr val="C43D3D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744652" y="3065621"/>
              <a:ext cx="126957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幻觉冒充事实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49415" y="3334702"/>
              <a:ext cx="35761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AI 可能编造不存在的运行事实，学生把"已通过""已验证"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49415" y="35252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的幻觉当成结论写进报告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6374606" y="3955256"/>
              <a:ext cx="185737" cy="185737"/>
              <a:chOff x="6374606" y="3955256"/>
              <a:chExt cx="185737" cy="185737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374606" y="3955256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19050">
                <a:solidFill>
                  <a:srgbClr val="C43D3D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446837" y="4027487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0"/>
                    </a:moveTo>
                    <a:lnTo>
                      <a:pt x="41275" y="41275"/>
                    </a:lnTo>
                    <a:moveTo>
                      <a:pt x="41275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C43D3D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744652" y="3922871"/>
              <a:ext cx="126957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50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思维</a:t>
              </a:r>
              <a:r>
                <a:rPr lang="zh-CN" sz="1650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能</a:t>
              </a:r>
              <a:r>
                <a:rPr lang="zh-CN" sz="16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力退化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749415" y="4191952"/>
              <a:ext cx="3635611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提问能力本身需要被训</a:t>
              </a:r>
              <a:r>
                <a:rPr lang="zh-CN" sz="105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练，</a:t>
              </a:r>
              <a:r>
                <a:rPr lang="zh-CN" altLang="en-US" sz="105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逻辑思维链更需要学生自己的锻炼</a:t>
              </a:r>
              <a:endParaRPr lang="zh-CN" sz="1050" dirty="0">
                <a:solidFill>
                  <a:srgbClr val="5B6673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749415" y="4382452"/>
              <a:ext cx="326050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zh-CN" sz="105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AI 会严重削弱学生的思考，</a:t>
              </a:r>
              <a:r>
                <a:rPr lang="zh-CN" sz="105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越</a:t>
              </a:r>
              <a:r>
                <a:rPr lang="zh-CN" sz="105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用越不会问、越不会判断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6343650" y="476250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19050">
              <a:solidFill>
                <a:srgbClr val="DFE7EF"/>
              </a:solidFill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6096000" y="1524000"/>
            <a:ext cx="9525" cy="3238500"/>
            <a:chOff x="6096000" y="1524000"/>
            <a:chExt cx="9525" cy="3238500"/>
          </a:xfrm>
        </p:grpSpPr>
        <p:sp>
          <p:nvSpPr>
            <p:cNvPr id="60" name="Line 60"/>
            <p:cNvSpPr/>
            <p:nvPr/>
          </p:nvSpPr>
          <p:spPr>
            <a:xfrm>
              <a:off x="6096000" y="152400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19050">
              <a:solidFill>
                <a:srgbClr val="DFE7EF"/>
              </a:solidFill>
              <a:custDash>
                <a:ds d="200000" sp="300000"/>
              </a:custDash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514350" y="5143500"/>
            <a:ext cx="11163300" cy="952500"/>
            <a:chOff x="514350" y="5143500"/>
            <a:chExt cx="11163300" cy="952500"/>
          </a:xfrm>
        </p:grpSpPr>
        <p:sp>
          <p:nvSpPr>
            <p:cNvPr id="62" name="Rectangle 62"/>
            <p:cNvSpPr/>
            <p:nvPr/>
          </p:nvSpPr>
          <p:spPr>
            <a:xfrm>
              <a:off x="514350" y="5143500"/>
              <a:ext cx="11163300" cy="95250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14350" y="5143500"/>
              <a:ext cx="76200" cy="9525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42010" y="53759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842C"/>
                  </a:solidFill>
                  <a:latin typeface="Arial"/>
                  <a:ea typeface="Microsoft YaHei"/>
                  <a:cs typeface="Arial"/>
                </a:rPr>
                <a:t>我们的理解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36295" y="5632132"/>
              <a:ext cx="720088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让学生与 AI 充分合</a:t>
              </a:r>
              <a:r>
                <a:rPr lang="zh-CN" sz="1650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作，</a:t>
              </a:r>
              <a:r>
                <a:rPr lang="zh-CN" altLang="en-US" sz="1650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推动人机协同学习，让</a:t>
              </a:r>
              <a:r>
                <a:rPr lang="en-US" altLang="zh-CN" sz="1650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AI</a:t>
              </a:r>
              <a:r>
                <a:rPr lang="zh-CN" altLang="en-US" sz="1650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赋能学习</a:t>
              </a:r>
              <a:r>
                <a:rPr lang="zh-CN" sz="1650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而</a:t>
              </a:r>
              <a:r>
                <a:rPr lang="zh-CN" sz="165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不是替代学习。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11534204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14350" y="381000"/>
              <a:ext cx="800100" cy="762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8155" y="587692"/>
            <a:ext cx="3281476" cy="438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项目创新：</a:t>
            </a:r>
            <a:r>
              <a:rPr 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E</a:t>
            </a:r>
            <a:r>
              <a:rPr lang="zh-CN" sz="2850" b="1" dirty="0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VO</a:t>
            </a:r>
            <a:r>
              <a:rPr 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LV</a:t>
            </a:r>
            <a:r>
              <a:rPr lang="en-US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E</a:t>
            </a:r>
            <a:endParaRPr lang="zh-CN" sz="2850" b="1" dirty="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514350" y="1676400"/>
            <a:ext cx="2571750" cy="3429000"/>
            <a:chOff x="514350" y="1676400"/>
            <a:chExt cx="2571750" cy="3429000"/>
          </a:xfrm>
        </p:grpSpPr>
        <p:sp>
          <p:nvSpPr>
            <p:cNvPr id="8" name="Rectangle 8"/>
            <p:cNvSpPr/>
            <p:nvPr/>
          </p:nvSpPr>
          <p:spPr>
            <a:xfrm>
              <a:off x="514350" y="1676400"/>
              <a:ext cx="2571750" cy="3429000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C9D4DF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14350" y="1676400"/>
              <a:ext cx="2571750" cy="9525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1515" y="1972628"/>
              <a:ext cx="414759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E8842C"/>
                  </a:solidFill>
                  <a:latin typeface="Arial"/>
                  <a:ea typeface="Microsoft YaHei"/>
                  <a:cs typeface="Arial"/>
                </a:rPr>
                <a:t>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6280" y="2554605"/>
              <a:ext cx="120008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Evolving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42950" y="3009900"/>
              <a:ext cx="2114550" cy="9525"/>
            </a:xfrm>
            <a:custGeom>
              <a:avLst/>
              <a:gdLst/>
              <a:ahLst/>
              <a:cxnLst/>
              <a:rect l="l" t="t" r="r" b="b"/>
              <a:pathLst>
                <a:path w="2114550" h="9525">
                  <a:moveTo>
                    <a:pt x="0" y="0"/>
                  </a:moveTo>
                  <a:lnTo>
                    <a:pt x="2114550" y="0"/>
                  </a:lnTo>
                </a:path>
              </a:pathLst>
            </a:custGeom>
            <a:noFill/>
            <a:ln w="19050">
              <a:solidFill>
                <a:srgbClr val="C9D4D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21995" y="3241358"/>
              <a:ext cx="148117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渐进</a:t>
              </a:r>
              <a:r>
                <a:rPr lang="zh-CN" altLang="en-US" sz="1650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式内核训练</a:t>
              </a:r>
              <a:endParaRPr lang="zh-CN" sz="1650" b="1" dirty="0">
                <a:solidFill>
                  <a:srgbClr val="1B4B8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5805" y="3635692"/>
              <a:ext cx="10334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Lab1 → Lab8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5805" y="3921442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能力递归包含</a:t>
              </a:r>
              <a:endParaRPr lang="zh-CN" sz="1350" dirty="0">
                <a:solidFill>
                  <a:srgbClr val="5B6673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7710" y="4432935"/>
              <a:ext cx="107721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>
                  <a:solidFill>
                    <a:srgbClr val="8993A1"/>
                  </a:solidFill>
                  <a:latin typeface="Arial"/>
                  <a:ea typeface="Microsoft YaHei"/>
                  <a:cs typeface="Arial"/>
                </a:rPr>
                <a:t>“</a:t>
              </a:r>
              <a:r>
                <a:rPr lang="zh-CN" sz="1200" dirty="0">
                  <a:solidFill>
                    <a:srgbClr val="8993A1"/>
                  </a:solidFill>
                  <a:latin typeface="Arial"/>
                  <a:ea typeface="Microsoft YaHei"/>
                  <a:cs typeface="Arial"/>
                </a:rPr>
                <a:t>原理与实践”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371850" y="1676400"/>
            <a:ext cx="2571750" cy="3429000"/>
            <a:chOff x="3371850" y="1676400"/>
            <a:chExt cx="2571750" cy="34290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76400"/>
              <a:ext cx="2571750" cy="3429000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C9D4DF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371850" y="1676400"/>
              <a:ext cx="2571750" cy="95250"/>
            </a:xfrm>
            <a:prstGeom prst="rect">
              <a:avLst/>
            </a:prstGeom>
            <a:solidFill>
              <a:srgbClr val="1B4B8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549015" y="1972628"/>
              <a:ext cx="414759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V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73780" y="2554605"/>
              <a:ext cx="103836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Virtual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600450" y="3009900"/>
              <a:ext cx="2114550" cy="9525"/>
            </a:xfrm>
            <a:custGeom>
              <a:avLst/>
              <a:gdLst/>
              <a:ahLst/>
              <a:cxnLst/>
              <a:rect l="l" t="t" r="r" b="b"/>
              <a:pathLst>
                <a:path w="2114550" h="9525">
                  <a:moveTo>
                    <a:pt x="0" y="0"/>
                  </a:moveTo>
                  <a:lnTo>
                    <a:pt x="2114550" y="0"/>
                  </a:lnTo>
                </a:path>
              </a:pathLst>
            </a:custGeom>
            <a:noFill/>
            <a:ln w="19050">
              <a:solidFill>
                <a:srgbClr val="C9D4D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579495" y="324135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统一虚拟环境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83305" y="3635692"/>
              <a:ext cx="9073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QEMU virt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83305" y="3921442"/>
              <a:ext cx="1465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OpenSBI + VirtIO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85210" y="4432935"/>
              <a:ext cx="107721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>
                  <a:solidFill>
                    <a:srgbClr val="8993A1"/>
                  </a:solidFill>
                  <a:latin typeface="Arial"/>
                  <a:ea typeface="Microsoft YaHei"/>
                  <a:cs typeface="Arial"/>
                </a:rPr>
                <a:t>“环境</a:t>
              </a:r>
              <a:r>
                <a:rPr lang="zh-CN" altLang="en-US" sz="1200">
                  <a:solidFill>
                    <a:srgbClr val="8993A1"/>
                  </a:solidFill>
                  <a:latin typeface="Arial"/>
                  <a:ea typeface="Microsoft YaHei"/>
                  <a:cs typeface="Arial"/>
                </a:rPr>
                <a:t>低成本</a:t>
              </a:r>
              <a:r>
                <a:rPr lang="zh-CN" sz="1200">
                  <a:solidFill>
                    <a:srgbClr val="8993A1"/>
                  </a:solidFill>
                  <a:latin typeface="Arial"/>
                  <a:ea typeface="Microsoft YaHei"/>
                  <a:cs typeface="Arial"/>
                </a:rPr>
                <a:t>”</a:t>
              </a:r>
              <a:endParaRPr lang="zh-CN" sz="1200" dirty="0">
                <a:solidFill>
                  <a:srgbClr val="8993A1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29350" y="1676400"/>
            <a:ext cx="2571750" cy="3429000"/>
            <a:chOff x="6229350" y="1676400"/>
            <a:chExt cx="2571750" cy="3429000"/>
          </a:xfrm>
        </p:grpSpPr>
        <p:sp>
          <p:nvSpPr>
            <p:cNvPr id="28" name="Rectangle 28"/>
            <p:cNvSpPr/>
            <p:nvPr/>
          </p:nvSpPr>
          <p:spPr>
            <a:xfrm>
              <a:off x="6229350" y="1676400"/>
              <a:ext cx="2571750" cy="3429000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C9D4DF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29350" y="1676400"/>
              <a:ext cx="2571750" cy="95250"/>
            </a:xfrm>
            <a:prstGeom prst="rect">
              <a:avLst/>
            </a:prstGeom>
            <a:solidFill>
              <a:srgbClr val="3E7CB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06515" y="1972628"/>
              <a:ext cx="721351" cy="6232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O</a:t>
              </a:r>
              <a:r>
                <a:rPr lang="en-US" altLang="zh-CN" sz="4050" b="1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L</a:t>
              </a:r>
              <a:endParaRPr lang="zh-CN" sz="4050" b="1" dirty="0">
                <a:solidFill>
                  <a:srgbClr val="3E7CB1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31280" y="2554605"/>
              <a:ext cx="1603003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2100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OS </a:t>
              </a:r>
              <a:r>
                <a:rPr lang="zh-CN" sz="2100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L</a:t>
              </a:r>
              <a:r>
                <a:rPr lang="zh-CN" sz="210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earning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457950" y="3009900"/>
              <a:ext cx="2114550" cy="9525"/>
            </a:xfrm>
            <a:custGeom>
              <a:avLst/>
              <a:gdLst/>
              <a:ahLst/>
              <a:cxnLst/>
              <a:rect l="l" t="t" r="r" b="b"/>
              <a:pathLst>
                <a:path w="2114550" h="9525">
                  <a:moveTo>
                    <a:pt x="0" y="0"/>
                  </a:moveTo>
                  <a:lnTo>
                    <a:pt x="2114550" y="0"/>
                  </a:lnTo>
                </a:path>
              </a:pathLst>
            </a:custGeom>
            <a:noFill/>
            <a:ln w="19050">
              <a:solidFill>
                <a:srgbClr val="C9D4D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36995" y="3241358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文档与实践变体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40805" y="3635692"/>
              <a:ext cx="1465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Lab 规格与脚手架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40805" y="3921442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教师统一发布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42710" y="4432935"/>
              <a:ext cx="107721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>
                  <a:solidFill>
                    <a:srgbClr val="8993A1"/>
                  </a:solidFill>
                  <a:latin typeface="Arial"/>
                  <a:ea typeface="Microsoft YaHei"/>
                  <a:cs typeface="Arial"/>
                </a:rPr>
                <a:t>“过程</a:t>
              </a:r>
              <a:r>
                <a:rPr lang="zh-CN" altLang="en-US" sz="1200">
                  <a:solidFill>
                    <a:srgbClr val="8993A1"/>
                  </a:solidFill>
                  <a:latin typeface="Arial"/>
                  <a:ea typeface="Microsoft YaHei"/>
                  <a:cs typeface="Arial"/>
                </a:rPr>
                <a:t>性</a:t>
              </a:r>
              <a:r>
                <a:rPr lang="zh-CN" sz="1200">
                  <a:solidFill>
                    <a:srgbClr val="8993A1"/>
                  </a:solidFill>
                  <a:latin typeface="Arial"/>
                  <a:ea typeface="Microsoft YaHei"/>
                  <a:cs typeface="Arial"/>
                </a:rPr>
                <a:t>教</a:t>
              </a:r>
              <a:r>
                <a:rPr lang="zh-CN" sz="1200" dirty="0">
                  <a:solidFill>
                    <a:srgbClr val="8993A1"/>
                  </a:solidFill>
                  <a:latin typeface="Arial"/>
                  <a:ea typeface="Microsoft YaHei"/>
                  <a:cs typeface="Arial"/>
                </a:rPr>
                <a:t>学”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086850" y="1676400"/>
            <a:ext cx="2590800" cy="3429000"/>
            <a:chOff x="9086850" y="1676400"/>
            <a:chExt cx="2590800" cy="3429000"/>
          </a:xfrm>
        </p:grpSpPr>
        <p:sp>
          <p:nvSpPr>
            <p:cNvPr id="38" name="Rectangle 38"/>
            <p:cNvSpPr/>
            <p:nvPr/>
          </p:nvSpPr>
          <p:spPr>
            <a:xfrm>
              <a:off x="9086850" y="1676400"/>
              <a:ext cx="2590800" cy="3429000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C9D4DF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9086850" y="1676400"/>
              <a:ext cx="2590800" cy="95250"/>
            </a:xfrm>
            <a:prstGeom prst="rect">
              <a:avLst/>
            </a:prstGeom>
            <a:solidFill>
              <a:srgbClr val="168C5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64015" y="1972628"/>
              <a:ext cx="726648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168C5A"/>
                  </a:solidFill>
                  <a:latin typeface="Arial"/>
                  <a:ea typeface="Microsoft YaHei"/>
                  <a:cs typeface="Arial"/>
                </a:rPr>
                <a:t>VE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92590" y="2586990"/>
              <a:ext cx="21501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Verification Env.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9315450" y="3009900"/>
              <a:ext cx="2133600" cy="9525"/>
            </a:xfrm>
            <a:custGeom>
              <a:avLst/>
              <a:gdLst/>
              <a:ahLst/>
              <a:cxnLst/>
              <a:rect l="l" t="t" r="r" b="b"/>
              <a:pathLst>
                <a:path w="2133600" h="9525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noFill/>
            <a:ln w="19050">
              <a:solidFill>
                <a:srgbClr val="C9D4D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294495" y="3241358"/>
              <a:ext cx="180357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可信证</a:t>
              </a:r>
              <a:r>
                <a:rPr lang="zh-CN" sz="1650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据与</a:t>
              </a:r>
              <a:r>
                <a:rPr lang="en-US" altLang="zh-CN" sz="1650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 AI </a:t>
              </a:r>
              <a:r>
                <a:rPr lang="zh-CN" altLang="en-US" sz="1650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协作</a:t>
              </a:r>
              <a:endParaRPr lang="zh-CN" sz="1650" b="1" dirty="0">
                <a:solidFill>
                  <a:srgbClr val="1B4B8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98305" y="3635692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受控断言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298305" y="3921442"/>
              <a:ext cx="1009892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A</a:t>
              </a:r>
              <a:r>
                <a:rPr lang="zh-CN" sz="135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gent Server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00210" y="4432935"/>
              <a:ext cx="107721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>
                  <a:solidFill>
                    <a:srgbClr val="8993A1"/>
                  </a:solidFill>
                  <a:latin typeface="Arial"/>
                  <a:ea typeface="Microsoft YaHei"/>
                  <a:cs typeface="Arial"/>
                </a:rPr>
                <a:t>“</a:t>
              </a:r>
              <a:r>
                <a:rPr lang="zh-CN" altLang="en-US" sz="1200">
                  <a:solidFill>
                    <a:srgbClr val="8993A1"/>
                  </a:solidFill>
                  <a:latin typeface="Arial"/>
                  <a:ea typeface="Microsoft YaHei"/>
                  <a:cs typeface="Arial"/>
                </a:rPr>
                <a:t>可信</a:t>
              </a:r>
              <a:r>
                <a:rPr lang="zh-CN" sz="1200">
                  <a:solidFill>
                    <a:srgbClr val="8993A1"/>
                  </a:solidFill>
                  <a:latin typeface="Arial"/>
                  <a:ea typeface="Microsoft YaHei"/>
                  <a:cs typeface="Arial"/>
                </a:rPr>
                <a:t>可</a:t>
              </a:r>
              <a:r>
                <a:rPr lang="zh-CN" sz="1200" dirty="0">
                  <a:solidFill>
                    <a:srgbClr val="8993A1"/>
                  </a:solidFill>
                  <a:latin typeface="Arial"/>
                  <a:ea typeface="Microsoft YaHei"/>
                  <a:cs typeface="Arial"/>
                </a:rPr>
                <a:t>复核”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14350" y="5505450"/>
            <a:ext cx="11174731" cy="1247775"/>
            <a:chOff x="514350" y="5505450"/>
            <a:chExt cx="11174731" cy="1247775"/>
          </a:xfrm>
        </p:grpSpPr>
        <p:sp>
          <p:nvSpPr>
            <p:cNvPr id="48" name="Line 48"/>
            <p:cNvSpPr/>
            <p:nvPr/>
          </p:nvSpPr>
          <p:spPr>
            <a:xfrm>
              <a:off x="514350" y="5505450"/>
              <a:ext cx="11163300" cy="9525"/>
            </a:xfrm>
            <a:custGeom>
              <a:avLst/>
              <a:gdLst/>
              <a:ahLst/>
              <a:cxnLst/>
              <a:rect l="l" t="t" r="r" b="b"/>
              <a:pathLst>
                <a:path w="11163300" h="9525">
                  <a:moveTo>
                    <a:pt x="0" y="0"/>
                  </a:moveTo>
                  <a:lnTo>
                    <a:pt x="11163300" y="0"/>
                  </a:lnTo>
                </a:path>
              </a:pathLst>
            </a:custGeom>
            <a:noFill/>
            <a:ln w="28575">
              <a:solidFill>
                <a:srgbClr val="1B4B8F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471610" y="5748880"/>
              <a:ext cx="7248779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100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发布 → 实践 → 验证 → 辅导 → 复盘 → 评价 → 验收 → 进阶</a:t>
              </a:r>
              <a:endParaRPr lang="zh-CN" sz="2100" b="1" dirty="0">
                <a:solidFill>
                  <a:srgbClr val="1B4B8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34204" y="6570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993A1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</p:grp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D2AB5829-8E5D-3C2C-6258-01EA5CFDC409}"/>
              </a:ext>
            </a:extLst>
          </p:cNvPr>
          <p:cNvCxnSpPr/>
          <p:nvPr/>
        </p:nvCxnSpPr>
        <p:spPr>
          <a:xfrm>
            <a:off x="9374002" y="6072045"/>
            <a:ext cx="0" cy="396073"/>
          </a:xfrm>
          <a:prstGeom prst="line">
            <a:avLst/>
          </a:prstGeom>
          <a:ln>
            <a:solidFill>
              <a:srgbClr val="1B4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86E63B27-05B9-6770-A222-12858265C86B}"/>
              </a:ext>
            </a:extLst>
          </p:cNvPr>
          <p:cNvCxnSpPr>
            <a:cxnSpLocks/>
          </p:cNvCxnSpPr>
          <p:nvPr/>
        </p:nvCxnSpPr>
        <p:spPr>
          <a:xfrm flipH="1">
            <a:off x="2760029" y="6468118"/>
            <a:ext cx="6613973" cy="0"/>
          </a:xfrm>
          <a:prstGeom prst="line">
            <a:avLst/>
          </a:prstGeom>
          <a:ln>
            <a:solidFill>
              <a:srgbClr val="1B4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BE4FC15A-F60A-6B58-55B2-D9986BBA4D4B}"/>
              </a:ext>
            </a:extLst>
          </p:cNvPr>
          <p:cNvCxnSpPr>
            <a:cxnSpLocks/>
          </p:cNvCxnSpPr>
          <p:nvPr/>
        </p:nvCxnSpPr>
        <p:spPr>
          <a:xfrm flipV="1">
            <a:off x="2760029" y="6072045"/>
            <a:ext cx="0" cy="396073"/>
          </a:xfrm>
          <a:prstGeom prst="straightConnector1">
            <a:avLst/>
          </a:prstGeom>
          <a:ln>
            <a:solidFill>
              <a:srgbClr val="1B4B8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6">
            <a:extLst>
              <a:ext uri="{FF2B5EF4-FFF2-40B4-BE49-F238E27FC236}">
                <a16:creationId xmlns:a16="http://schemas.microsoft.com/office/drawing/2014/main" id="{A5675DC3-4A1B-4B96-27F8-97D7A5A0C8E9}"/>
              </a:ext>
            </a:extLst>
          </p:cNvPr>
          <p:cNvSpPr txBox="1"/>
          <p:nvPr/>
        </p:nvSpPr>
        <p:spPr>
          <a:xfrm>
            <a:off x="828526" y="1155516"/>
            <a:ext cx="10849124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b="1">
                <a:solidFill>
                  <a:srgbClr val="1B4B8F"/>
                </a:solidFill>
                <a:latin typeface="Arial"/>
                <a:ea typeface="Microsoft YaHei"/>
                <a:cs typeface="Arial"/>
              </a:rPr>
              <a:t>本项目未直接借鉴或复用其他项目成果，整体架构、核心功能与实验内容均由团队独立设计并自主实现。</a:t>
            </a:r>
            <a:endParaRPr lang="zh-CN" b="1" dirty="0">
              <a:solidFill>
                <a:srgbClr val="1B4B8F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14350" y="381000"/>
              <a:ext cx="800100" cy="762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8155" y="587692"/>
            <a:ext cx="3404906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600" b="1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ea typeface="Microsoft YaHei"/>
                <a:cs typeface="Arial"/>
              </a:rPr>
              <a:t>E</a:t>
            </a:r>
            <a:r>
              <a:rPr lang="en-US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VOLVE</a:t>
            </a:r>
            <a:r>
              <a:rPr lang="zh-CN" altLang="en-US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：</a:t>
            </a:r>
            <a:r>
              <a:rPr 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E</a:t>
            </a:r>
            <a:r>
              <a:rPr lang="zh-CN" sz="2850" b="1" dirty="0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volvi</a:t>
            </a:r>
            <a:r>
              <a:rPr 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ng</a:t>
            </a:r>
            <a:endParaRPr lang="zh-CN" sz="2850" b="1" dirty="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409575" y="2919412"/>
            <a:ext cx="2162175" cy="1977658"/>
            <a:chOff x="409575" y="2919412"/>
            <a:chExt cx="2162175" cy="1977658"/>
          </a:xfrm>
        </p:grpSpPr>
        <p:sp>
          <p:nvSpPr>
            <p:cNvPr id="8" name="TextBox 8"/>
            <p:cNvSpPr txBox="1"/>
            <p:nvPr/>
          </p:nvSpPr>
          <p:spPr>
            <a:xfrm>
              <a:off x="409575" y="2919412"/>
              <a:ext cx="844879" cy="1676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E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33400" y="4076700"/>
              <a:ext cx="2038350" cy="9525"/>
            </a:xfrm>
            <a:custGeom>
              <a:avLst/>
              <a:gdLst/>
              <a:ahLst/>
              <a:cxnLst/>
              <a:rect l="l" t="t" r="r" b="b"/>
              <a:pathLst>
                <a:path w="2038350" h="9525">
                  <a:moveTo>
                    <a:pt x="0" y="0"/>
                  </a:moveTo>
                  <a:lnTo>
                    <a:pt x="2038350" y="0"/>
                  </a:lnTo>
                </a:path>
              </a:pathLst>
            </a:custGeom>
            <a:noFill/>
            <a:ln w="19050">
              <a:solidFill>
                <a:srgbClr val="1B4B8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14350" y="4295775"/>
              <a:ext cx="8572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Evolving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6730" y="4573905"/>
              <a:ext cx="807913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100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渐</a:t>
              </a:r>
              <a:r>
                <a:rPr lang="zh-CN" sz="2100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进</a:t>
              </a:r>
              <a:r>
                <a:rPr lang="zh-CN" sz="210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式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963DF53-FA7A-3129-B19D-DBDDA557707D}"/>
              </a:ext>
            </a:extLst>
          </p:cNvPr>
          <p:cNvGrpSpPr/>
          <p:nvPr/>
        </p:nvGrpSpPr>
        <p:grpSpPr>
          <a:xfrm>
            <a:off x="3143250" y="1590675"/>
            <a:ext cx="8178206" cy="3212157"/>
            <a:chOff x="3143250" y="1590675"/>
            <a:chExt cx="7243215" cy="2550319"/>
          </a:xfrm>
        </p:grpSpPr>
        <p:grpSp>
          <p:nvGrpSpPr>
            <p:cNvPr id="18" name="Group 18"/>
            <p:cNvGrpSpPr/>
            <p:nvPr/>
          </p:nvGrpSpPr>
          <p:grpSpPr>
            <a:xfrm>
              <a:off x="3143250" y="1590675"/>
              <a:ext cx="7243215" cy="1121569"/>
              <a:chOff x="3143250" y="1590675"/>
              <a:chExt cx="7243215" cy="1121569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3143250" y="1638300"/>
                <a:ext cx="114300" cy="114300"/>
              </a:xfrm>
              <a:prstGeom prst="rect">
                <a:avLst/>
              </a:prstGeom>
              <a:solidFill>
                <a:srgbClr val="E8842C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3371850" y="1590675"/>
                <a:ext cx="1644681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 </a:t>
                </a:r>
                <a:r>
                  <a:rPr lang="zh-CN" sz="1500" b="1" dirty="0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① 渐</a:t>
                </a:r>
                <a:r>
                  <a:rPr lang="zh-CN" sz="1500" b="1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进式</a:t>
                </a:r>
                <a:r>
                  <a:rPr lang="zh-CN" altLang="en-US" sz="1500" b="1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教学</a:t>
                </a:r>
                <a:r>
                  <a:rPr lang="zh-CN" sz="1500" b="1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内</a:t>
                </a:r>
                <a:r>
                  <a:rPr lang="zh-CN" sz="1500" b="1" dirty="0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核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374708" y="1919764"/>
                <a:ext cx="701175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A37"/>
                    </a:solidFill>
                    <a:latin typeface="Arial"/>
                    <a:ea typeface="Microsoft YaHei"/>
                    <a:cs typeface="Arial"/>
                  </a:rPr>
                  <a:t>一套内核通过 feature 链从最小启动逐层长出 Trap、虚拟内存、进程、文件、信号、线程——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374708" y="2186464"/>
                <a:ext cx="651019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A37"/>
                    </a:solidFill>
                    <a:latin typeface="Arial"/>
                    <a:ea typeface="Microsoft YaHei"/>
                    <a:cs typeface="Arial"/>
                  </a:rPr>
                  <a:t>复现"操作系统如何被需求一步步逼出来"的历史脉络。学生看到的不是八份静态代码，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374708" y="2453164"/>
                <a:ext cx="241268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A37"/>
                    </a:solidFill>
                    <a:latin typeface="Arial"/>
                    <a:ea typeface="Microsoft YaHei"/>
                    <a:cs typeface="Arial"/>
                  </a:rPr>
                  <a:t>而是同一个系统生长的全过程。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3143250" y="3019425"/>
              <a:ext cx="6767156" cy="1121569"/>
              <a:chOff x="3143250" y="3019425"/>
              <a:chExt cx="6767156" cy="1121569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143250" y="3067050"/>
                <a:ext cx="114300" cy="114300"/>
              </a:xfrm>
              <a:prstGeom prst="rect">
                <a:avLst/>
              </a:prstGeom>
              <a:solidFill>
                <a:srgbClr val="E8842C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371850" y="3019425"/>
                <a:ext cx="2551981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② </a:t>
                </a:r>
                <a:r>
                  <a:rPr lang="zh-CN" sz="1500" b="1" dirty="0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渐进式的 lab </a:t>
                </a:r>
                <a:r>
                  <a:rPr lang="zh-CN" sz="1500" b="1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学习</a:t>
                </a:r>
                <a:r>
                  <a:rPr lang="zh-CN" altLang="en-US" sz="1500" b="1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开展</a:t>
                </a:r>
                <a:r>
                  <a:rPr lang="zh-CN" sz="1500" b="1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流</a:t>
                </a:r>
                <a:r>
                  <a:rPr lang="zh-CN" sz="1500" b="1" dirty="0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程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374708" y="3348514"/>
                <a:ext cx="653569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A37"/>
                    </a:solidFill>
                    <a:latin typeface="Arial"/>
                    <a:ea typeface="Microsoft YaHei"/>
                    <a:cs typeface="Arial"/>
                  </a:rPr>
                  <a:t>学生始终在同一份系统上叠加机制：每个 Lab 只打开该层需要的模块，升级只补充该层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374708" y="3615214"/>
                <a:ext cx="615315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A37"/>
                    </a:solidFill>
                    <a:latin typeface="Arial"/>
                    <a:ea typeface="Microsoft YaHei"/>
                    <a:cs typeface="Arial"/>
                  </a:rPr>
                  <a:t>文件、从不覆盖已完成的工作；任何修改都要自动接受全部前序能力的回归检验，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374708" y="3881914"/>
                <a:ext cx="326278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A37"/>
                    </a:solidFill>
                    <a:latin typeface="Arial"/>
                    <a:ea typeface="Microsoft YaHei"/>
                    <a:cs typeface="Arial"/>
                  </a:rPr>
                  <a:t>认知负担随分层受控，成就感随能力累积。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514350" y="5543550"/>
            <a:ext cx="11163300" cy="573732"/>
            <a:chOff x="514350" y="5543550"/>
            <a:chExt cx="11163300" cy="573732"/>
          </a:xfrm>
        </p:grpSpPr>
        <p:sp>
          <p:nvSpPr>
            <p:cNvPr id="26" name="Line 26"/>
            <p:cNvSpPr/>
            <p:nvPr/>
          </p:nvSpPr>
          <p:spPr>
            <a:xfrm>
              <a:off x="514350" y="5543550"/>
              <a:ext cx="11163300" cy="9525"/>
            </a:xfrm>
            <a:custGeom>
              <a:avLst/>
              <a:gdLst/>
              <a:ahLst/>
              <a:cxnLst/>
              <a:rect l="l" t="t" r="r" b="b"/>
              <a:pathLst>
                <a:path w="11163300" h="9525">
                  <a:moveTo>
                    <a:pt x="0" y="0"/>
                  </a:moveTo>
                  <a:lnTo>
                    <a:pt x="11163300" y="0"/>
                  </a:lnTo>
                </a:path>
              </a:pathLst>
            </a:custGeom>
            <a:noFill/>
            <a:ln w="19050">
              <a:solidFill>
                <a:srgbClr val="DFE7E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962400" y="5886450"/>
              <a:ext cx="6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500" dirty="0">
                <a:solidFill>
                  <a:srgbClr val="8993A1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560841" y="6570345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0</a:t>
            </a:r>
            <a:r>
              <a:rPr lang="en-US" alt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5</a:t>
            </a:r>
            <a:endParaRPr lang="zh-CN" sz="900" dirty="0">
              <a:solidFill>
                <a:srgbClr val="8993A1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14350" y="381000"/>
              <a:ext cx="800100" cy="762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8155" y="587692"/>
            <a:ext cx="5886227" cy="438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Evolving</a:t>
            </a:r>
            <a:r>
              <a:rPr lang="zh-CN" altLang="en-US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：渐进式 </a:t>
            </a:r>
            <a:r>
              <a:rPr lang="en-US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RISC-V </a:t>
            </a:r>
            <a:r>
              <a:rPr lang="zh-CN" altLang="en-US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教学内核</a:t>
            </a:r>
            <a:endParaRPr lang="zh-CN" sz="2850" b="1" dirty="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2724150" y="2381250"/>
            <a:ext cx="8172450" cy="2095500"/>
            <a:chOff x="2724150" y="2381250"/>
            <a:chExt cx="8172450" cy="2095500"/>
          </a:xfrm>
        </p:grpSpPr>
        <p:sp>
          <p:nvSpPr>
            <p:cNvPr id="8" name="Freeform 8"/>
            <p:cNvSpPr/>
            <p:nvPr/>
          </p:nvSpPr>
          <p:spPr>
            <a:xfrm>
              <a:off x="2724150" y="2457450"/>
              <a:ext cx="8096250" cy="1943100"/>
            </a:xfrm>
            <a:custGeom>
              <a:avLst/>
              <a:gdLst/>
              <a:ahLst/>
              <a:cxnLst/>
              <a:rect l="l" t="t" r="r" b="b"/>
              <a:pathLst>
                <a:path w="8096250" h="1943100">
                  <a:moveTo>
                    <a:pt x="0" y="0"/>
                  </a:moveTo>
                  <a:lnTo>
                    <a:pt x="628650" y="0"/>
                  </a:lnTo>
                  <a:moveTo>
                    <a:pt x="2800350" y="0"/>
                  </a:moveTo>
                  <a:lnTo>
                    <a:pt x="3429000" y="0"/>
                  </a:lnTo>
                  <a:moveTo>
                    <a:pt x="5600700" y="0"/>
                  </a:moveTo>
                  <a:lnTo>
                    <a:pt x="6229350" y="0"/>
                  </a:lnTo>
                  <a:moveTo>
                    <a:pt x="8096250" y="609600"/>
                  </a:moveTo>
                  <a:lnTo>
                    <a:pt x="8096250" y="1333500"/>
                  </a:lnTo>
                  <a:moveTo>
                    <a:pt x="6229350" y="1943100"/>
                  </a:moveTo>
                  <a:lnTo>
                    <a:pt x="5600700" y="1943100"/>
                  </a:lnTo>
                  <a:moveTo>
                    <a:pt x="3429000" y="1943100"/>
                  </a:moveTo>
                  <a:lnTo>
                    <a:pt x="2800350" y="1943100"/>
                  </a:lnTo>
                  <a:moveTo>
                    <a:pt x="628650" y="1943100"/>
                  </a:moveTo>
                  <a:lnTo>
                    <a:pt x="0" y="1943100"/>
                  </a:lnTo>
                </a:path>
              </a:pathLst>
            </a:custGeom>
            <a:noFill/>
            <a:ln w="38100">
              <a:solidFill>
                <a:srgbClr val="1B4B8F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3219450" y="23812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1B4B8F"/>
            </a:solidFill>
            <a:ln>
              <a:noFill/>
            </a:ln>
          </p:spPr>
        </p:sp>
        <p:sp>
          <p:nvSpPr>
            <p:cNvPr id="10" name="Polygon 10"/>
            <p:cNvSpPr/>
            <p:nvPr/>
          </p:nvSpPr>
          <p:spPr>
            <a:xfrm>
              <a:off x="6019800" y="23812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1B4B8F"/>
            </a:solidFill>
            <a:ln>
              <a:noFill/>
            </a:ln>
          </p:spPr>
        </p:sp>
        <p:sp>
          <p:nvSpPr>
            <p:cNvPr id="11" name="Polygon 11"/>
            <p:cNvSpPr/>
            <p:nvPr/>
          </p:nvSpPr>
          <p:spPr>
            <a:xfrm>
              <a:off x="8820150" y="23812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1B4B8F"/>
            </a:solidFill>
            <a:ln>
              <a:noFill/>
            </a:ln>
          </p:spPr>
        </p:sp>
        <p:sp>
          <p:nvSpPr>
            <p:cNvPr id="12" name="Polygon 12"/>
            <p:cNvSpPr/>
            <p:nvPr/>
          </p:nvSpPr>
          <p:spPr>
            <a:xfrm>
              <a:off x="10744200" y="365760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76200" y="13335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B4B8F"/>
            </a:solidFill>
            <a:ln>
              <a:noFill/>
            </a:ln>
          </p:spPr>
        </p:sp>
        <p:sp>
          <p:nvSpPr>
            <p:cNvPr id="13" name="Polygon 13"/>
            <p:cNvSpPr/>
            <p:nvPr/>
          </p:nvSpPr>
          <p:spPr>
            <a:xfrm>
              <a:off x="8324850" y="43243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1B4B8F"/>
            </a:solidFill>
            <a:ln>
              <a:noFill/>
            </a:ln>
          </p:spPr>
        </p:sp>
        <p:sp>
          <p:nvSpPr>
            <p:cNvPr id="14" name="Polygon 14"/>
            <p:cNvSpPr/>
            <p:nvPr/>
          </p:nvSpPr>
          <p:spPr>
            <a:xfrm>
              <a:off x="5524500" y="43243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1B4B8F"/>
            </a:solidFill>
            <a:ln>
              <a:noFill/>
            </a:ln>
          </p:spPr>
        </p:sp>
        <p:sp>
          <p:nvSpPr>
            <p:cNvPr id="15" name="Polygon 15"/>
            <p:cNvSpPr/>
            <p:nvPr/>
          </p:nvSpPr>
          <p:spPr>
            <a:xfrm>
              <a:off x="2724150" y="43243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1B4B8F"/>
            </a:solidFill>
            <a:ln>
              <a:noFill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514350" y="1790700"/>
            <a:ext cx="11163300" cy="3333750"/>
            <a:chOff x="514350" y="1790700"/>
            <a:chExt cx="11163300" cy="3333750"/>
          </a:xfrm>
        </p:grpSpPr>
        <p:sp>
          <p:nvSpPr>
            <p:cNvPr id="17" name="Rectangle 17"/>
            <p:cNvSpPr/>
            <p:nvPr/>
          </p:nvSpPr>
          <p:spPr>
            <a:xfrm>
              <a:off x="514350" y="1790700"/>
              <a:ext cx="2209800" cy="1333500"/>
            </a:xfrm>
            <a:prstGeom prst="rect">
              <a:avLst/>
            </a:prstGeom>
            <a:solidFill>
              <a:srgbClr val="F8FAFC"/>
            </a:solidFill>
            <a:ln w="28575">
              <a:solidFill>
                <a:srgbClr val="E8842C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8660" y="2023110"/>
              <a:ext cx="4505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842C"/>
                  </a:solidFill>
                  <a:latin typeface="Arial"/>
                  <a:ea typeface="Microsoft YaHei"/>
                  <a:cs typeface="Arial"/>
                </a:rPr>
                <a:t>LAB 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1040" y="2348865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裸机启动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8660" y="2747010"/>
              <a:ext cx="17426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SBI · 链接脚本 · 启动栈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314700" y="1790700"/>
              <a:ext cx="2209800" cy="1333500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1B4B8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509010" y="2023110"/>
              <a:ext cx="4505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LAB 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01390" y="2348865"/>
              <a:ext cx="173433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Trap / Syscall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09010" y="2747010"/>
              <a:ext cx="14946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上下文 · 协作式调度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115050" y="1790700"/>
              <a:ext cx="2209800" cy="1333500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1B4B8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09360" y="2023110"/>
              <a:ext cx="4505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LAB 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01740" y="2348865"/>
              <a:ext cx="117986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Sv39 虚存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09360" y="2747010"/>
              <a:ext cx="14946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页表 · 地址空间隔离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915400" y="1790700"/>
              <a:ext cx="2762250" cy="1333500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1B4B8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109710" y="2023110"/>
              <a:ext cx="4505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LAB 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102090" y="2348865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进程生命周期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09710" y="2747010"/>
              <a:ext cx="14466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fork · exec · wait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915400" y="3790950"/>
              <a:ext cx="2762250" cy="1333500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3E7CB1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09710" y="4023360"/>
              <a:ext cx="4505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LAB 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02090" y="4349115"/>
              <a:ext cx="191075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fd / 文件 / 管道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09710" y="4747260"/>
              <a:ext cx="13346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共享引用 · 自旋锁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115050" y="3790950"/>
              <a:ext cx="2209800" cy="1333500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3E7CB1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09360" y="4023360"/>
              <a:ext cx="4505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LAB 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01740" y="4349115"/>
              <a:ext cx="138148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VirtIO 磁盘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09360" y="4747260"/>
              <a:ext cx="19187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easy-fs · mmap · stride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314700" y="3790950"/>
              <a:ext cx="2209800" cy="1333500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3E7CB1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509010" y="4023360"/>
              <a:ext cx="4505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LAB 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01390" y="4349115"/>
              <a:ext cx="169652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统一 fd / 信号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509010" y="4747260"/>
              <a:ext cx="12786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dup · 异步控制流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14350" y="3790950"/>
              <a:ext cx="2209800" cy="1333500"/>
            </a:xfrm>
            <a:prstGeom prst="rect">
              <a:avLst/>
            </a:prstGeom>
            <a:solidFill>
              <a:srgbClr val="F8FAFC"/>
            </a:solidFill>
            <a:ln w="28575">
              <a:solidFill>
                <a:srgbClr val="E8842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8660" y="4023360"/>
              <a:ext cx="4505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842C"/>
                  </a:solidFill>
                  <a:latin typeface="Arial"/>
                  <a:ea typeface="Microsoft YaHei"/>
                  <a:cs typeface="Arial"/>
                </a:rPr>
                <a:t>LAB 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1040" y="4349115"/>
              <a:ext cx="18099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线程与阻塞同步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8660" y="4747260"/>
              <a:ext cx="11746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唤醒 · 死锁检测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14350" y="5486400"/>
            <a:ext cx="11163300" cy="857250"/>
            <a:chOff x="514350" y="5486400"/>
            <a:chExt cx="11163300" cy="614362"/>
          </a:xfrm>
        </p:grpSpPr>
        <p:sp>
          <p:nvSpPr>
            <p:cNvPr id="50" name="Rectangle 50"/>
            <p:cNvSpPr/>
            <p:nvPr/>
          </p:nvSpPr>
          <p:spPr>
            <a:xfrm>
              <a:off x="514350" y="5486400"/>
              <a:ext cx="11163300" cy="590550"/>
            </a:xfrm>
            <a:prstGeom prst="rect">
              <a:avLst/>
            </a:prstGeom>
            <a:solidFill>
              <a:srgbClr val="1B4B8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27710" y="5604510"/>
              <a:ext cx="2858709" cy="15440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PERSISTENT KERNEL BASELINE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5805" y="5826442"/>
              <a:ext cx="64520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后序能力复用 Trap、页表、进程与 fd；每次变更都接受 Lab1–Lab(n-1) 回归。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1560841" y="6570345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0</a:t>
            </a:r>
            <a:r>
              <a:rPr lang="en-US" alt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6</a:t>
            </a:r>
            <a:endParaRPr lang="zh-CN" sz="900" dirty="0">
              <a:solidFill>
                <a:srgbClr val="8993A1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14350" y="381000"/>
              <a:ext cx="800100" cy="762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8155" y="587692"/>
            <a:ext cx="5907066" cy="438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Evolving</a:t>
            </a:r>
            <a:r>
              <a:rPr lang="zh-CN" altLang="en-US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：</a:t>
            </a:r>
            <a:r>
              <a:rPr 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可</a:t>
            </a:r>
            <a:r>
              <a:rPr lang="zh-CN" sz="2850" b="1" dirty="0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测机制与内核</a:t>
            </a:r>
            <a:r>
              <a:rPr 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策略</a:t>
            </a:r>
            <a:r>
              <a:rPr lang="zh-CN" altLang="en-US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分离</a:t>
            </a:r>
            <a:endParaRPr lang="zh-CN" sz="2850" b="1" dirty="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1809750" y="1581150"/>
            <a:ext cx="9867900" cy="4438650"/>
            <a:chOff x="1809750" y="1581150"/>
            <a:chExt cx="9867900" cy="4438650"/>
          </a:xfrm>
        </p:grpSpPr>
        <p:sp>
          <p:nvSpPr>
            <p:cNvPr id="8" name="Rectangle 8"/>
            <p:cNvSpPr/>
            <p:nvPr/>
          </p:nvSpPr>
          <p:spPr>
            <a:xfrm>
              <a:off x="1809750" y="1581150"/>
              <a:ext cx="9867900" cy="838200"/>
            </a:xfrm>
            <a:prstGeom prst="rect">
              <a:avLst/>
            </a:prstGeom>
            <a:solidFill>
              <a:srgbClr val="F2F6FA"/>
            </a:solidFill>
            <a:ln w="19050">
              <a:solidFill>
                <a:srgbClr val="C9D4D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080260" y="179451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L4 · USER / ABI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74545" y="2060258"/>
              <a:ext cx="358820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用户程序 · syscall ABI · 教学测试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809750" y="2571750"/>
              <a:ext cx="9867900" cy="838200"/>
            </a:xfrm>
            <a:prstGeom prst="rect">
              <a:avLst/>
            </a:prstGeom>
            <a:solidFill>
              <a:srgbClr val="1B4B8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080260" y="2785110"/>
              <a:ext cx="19795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L3 · KERNEL INTEGRATION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74545" y="3050858"/>
              <a:ext cx="63258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feature 选择 · Trap 分派 · 调度策略 · 设备集成 · Lab 回归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809750" y="3562350"/>
              <a:ext cx="9867900" cy="1504950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1B4B8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080260" y="3775710"/>
              <a:ext cx="19459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L2 · COMPONENT CRATES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095500" y="4114800"/>
              <a:ext cx="2133600" cy="3238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4D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03029" y="4204335"/>
              <a:ext cx="5185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A37"/>
                  </a:solidFill>
                  <a:latin typeface="Consolas"/>
                  <a:ea typeface="Microsoft YaHei"/>
                  <a:cs typeface="Consolas"/>
                </a:rPr>
                <a:t>os-sbi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362450" y="4114800"/>
              <a:ext cx="2133600" cy="3238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4D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973955" y="4204335"/>
              <a:ext cx="9105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A37"/>
                  </a:solidFill>
                  <a:latin typeface="Consolas"/>
                  <a:ea typeface="Microsoft YaHei"/>
                  <a:cs typeface="Consolas"/>
                </a:rPr>
                <a:t>os-context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629400" y="4114800"/>
              <a:ext cx="2133600" cy="3238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4D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280910" y="4204335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A37"/>
                  </a:solidFill>
                  <a:latin typeface="Consolas"/>
                  <a:ea typeface="Microsoft YaHei"/>
                  <a:cs typeface="Consolas"/>
                </a:rPr>
                <a:t>os-syscall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896350" y="4114800"/>
              <a:ext cx="2495550" cy="3238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4D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816846" y="4204335"/>
              <a:ext cx="6545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A37"/>
                  </a:solidFill>
                  <a:latin typeface="Consolas"/>
                  <a:ea typeface="Microsoft YaHei"/>
                  <a:cs typeface="Consolas"/>
                </a:rPr>
                <a:t>os-alloc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095500" y="4572000"/>
              <a:ext cx="2133600" cy="3238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4D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911030" y="4661535"/>
              <a:ext cx="5025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A37"/>
                  </a:solidFill>
                  <a:latin typeface="Consolas"/>
                  <a:ea typeface="Microsoft YaHei"/>
                  <a:cs typeface="Consolas"/>
                </a:rPr>
                <a:t>os-vm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362450" y="4572000"/>
              <a:ext cx="2133600" cy="3238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4D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193982" y="4661535"/>
              <a:ext cx="4705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A37"/>
                  </a:solidFill>
                  <a:latin typeface="Consolas"/>
                  <a:ea typeface="Microsoft YaHei"/>
                  <a:cs typeface="Consolas"/>
                </a:rPr>
                <a:t>os-fs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629400" y="4572000"/>
              <a:ext cx="2133600" cy="3238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4D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24916" y="4661535"/>
              <a:ext cx="7425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A37"/>
                  </a:solidFill>
                  <a:latin typeface="Consolas"/>
                  <a:ea typeface="Microsoft YaHei"/>
                  <a:cs typeface="Consolas"/>
                </a:rPr>
                <a:t>os-signal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896350" y="4572000"/>
              <a:ext cx="2495550" cy="3238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4D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820847" y="4661535"/>
              <a:ext cx="6465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A37"/>
                  </a:solidFill>
                  <a:latin typeface="Consolas"/>
                  <a:ea typeface="Microsoft YaHei"/>
                  <a:cs typeface="Consolas"/>
                </a:rPr>
                <a:t>os-sync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809750" y="5219700"/>
              <a:ext cx="9867900" cy="800100"/>
            </a:xfrm>
            <a:prstGeom prst="rect">
              <a:avLst/>
            </a:prstGeom>
            <a:solidFill>
              <a:srgbClr val="F2F6FA"/>
            </a:solidFill>
            <a:ln w="19050">
              <a:solidFill>
                <a:srgbClr val="C9D4D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080260" y="5414010"/>
              <a:ext cx="15678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68C5A"/>
                  </a:solidFill>
                  <a:latin typeface="Arial"/>
                  <a:ea typeface="Microsoft YaHei"/>
                  <a:cs typeface="Arial"/>
                </a:rPr>
                <a:t>L1 · TEST SURFACES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074545" y="5670232"/>
              <a:ext cx="339182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Host 单元测试：纯逻辑快速回归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524625" y="5381625"/>
              <a:ext cx="9525" cy="485775"/>
            </a:xfrm>
            <a:custGeom>
              <a:avLst/>
              <a:gdLst/>
              <a:ahLst/>
              <a:cxnLst/>
              <a:rect l="l" t="t" r="r" b="b"/>
              <a:pathLst>
                <a:path w="9525" h="485775">
                  <a:moveTo>
                    <a:pt x="0" y="0"/>
                  </a:moveTo>
                  <a:lnTo>
                    <a:pt x="0" y="485775"/>
                  </a:lnTo>
                </a:path>
              </a:pathLst>
            </a:custGeom>
            <a:noFill/>
            <a:ln w="19050">
              <a:solidFill>
                <a:srgbClr val="C9D4DF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79895" y="5670232"/>
              <a:ext cx="372682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QEMU Recipe：硬件与调度可信验证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68630" y="1687830"/>
            <a:ext cx="797128" cy="4331970"/>
            <a:chOff x="468630" y="1687830"/>
            <a:chExt cx="797128" cy="4331970"/>
          </a:xfrm>
        </p:grpSpPr>
        <p:sp>
          <p:nvSpPr>
            <p:cNvPr id="38" name="TextBox 38"/>
            <p:cNvSpPr txBox="1"/>
            <p:nvPr/>
          </p:nvSpPr>
          <p:spPr>
            <a:xfrm>
              <a:off x="468630" y="1687830"/>
              <a:ext cx="797128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API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8630" y="2678430"/>
              <a:ext cx="36867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K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8630" y="3973830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E8842C"/>
                  </a:solidFill>
                  <a:latin typeface="Arial"/>
                  <a:ea typeface="Microsoft YaHei"/>
                  <a:cs typeface="Arial"/>
                </a:rPr>
                <a:t>8×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8630" y="5288280"/>
              <a:ext cx="36867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68C5A"/>
                  </a:solidFill>
                  <a:latin typeface="Arial"/>
                  <a:ea typeface="Microsoft YaHei"/>
                  <a:cs typeface="Arial"/>
                </a:rPr>
                <a:t>T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1560841" y="6570345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07</a:t>
            </a:r>
            <a:endParaRPr lang="zh-CN" sz="900" dirty="0">
              <a:solidFill>
                <a:srgbClr val="8993A1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14350" y="381000"/>
              <a:ext cx="800100" cy="762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8155" y="587692"/>
            <a:ext cx="3114571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E</a:t>
            </a:r>
            <a:r>
              <a:rPr lang="en-US" altLang="zh-CN" sz="3600" b="1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ea typeface="Microsoft YaHei"/>
                <a:cs typeface="Arial"/>
              </a:rPr>
              <a:t>V</a:t>
            </a:r>
            <a:r>
              <a:rPr lang="en-US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OLVE</a:t>
            </a:r>
            <a:r>
              <a:rPr lang="zh-CN" altLang="en-US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：</a:t>
            </a:r>
            <a:r>
              <a:rPr 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V</a:t>
            </a:r>
            <a:r>
              <a:rPr lang="zh-CN" sz="2850" b="1" dirty="0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irtua</a:t>
            </a:r>
            <a:r>
              <a:rPr 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l </a:t>
            </a:r>
            <a:endParaRPr lang="zh-CN" sz="2850" b="1" dirty="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409575" y="2919412"/>
            <a:ext cx="2162175" cy="1977658"/>
            <a:chOff x="409575" y="2919412"/>
            <a:chExt cx="2162175" cy="1977658"/>
          </a:xfrm>
        </p:grpSpPr>
        <p:sp>
          <p:nvSpPr>
            <p:cNvPr id="8" name="TextBox 8"/>
            <p:cNvSpPr txBox="1"/>
            <p:nvPr/>
          </p:nvSpPr>
          <p:spPr>
            <a:xfrm>
              <a:off x="409575" y="2919412"/>
              <a:ext cx="844879" cy="1676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V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33400" y="4076700"/>
              <a:ext cx="2038350" cy="9525"/>
            </a:xfrm>
            <a:custGeom>
              <a:avLst/>
              <a:gdLst/>
              <a:ahLst/>
              <a:cxnLst/>
              <a:rect l="l" t="t" r="r" b="b"/>
              <a:pathLst>
                <a:path w="2038350" h="9525">
                  <a:moveTo>
                    <a:pt x="0" y="0"/>
                  </a:moveTo>
                  <a:lnTo>
                    <a:pt x="2038350" y="0"/>
                  </a:lnTo>
                </a:path>
              </a:pathLst>
            </a:custGeom>
            <a:noFill/>
            <a:ln w="19050">
              <a:solidFill>
                <a:srgbClr val="1B4B8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14350" y="4295775"/>
              <a:ext cx="74168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Virtual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6730" y="4573905"/>
              <a:ext cx="1077218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虚拟</a:t>
              </a:r>
              <a:r>
                <a:rPr lang="zh-CN" altLang="en-US" sz="2100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环境</a:t>
              </a:r>
              <a:endParaRPr lang="zh-CN" sz="2100" b="1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4E1FF637-8638-757D-4C99-AC7A920D2FC1}"/>
              </a:ext>
            </a:extLst>
          </p:cNvPr>
          <p:cNvGrpSpPr/>
          <p:nvPr/>
        </p:nvGrpSpPr>
        <p:grpSpPr>
          <a:xfrm>
            <a:off x="3143250" y="1590675"/>
            <a:ext cx="7408814" cy="3392536"/>
            <a:chOff x="3143250" y="1590675"/>
            <a:chExt cx="6631139" cy="2550319"/>
          </a:xfrm>
        </p:grpSpPr>
        <p:grpSp>
          <p:nvGrpSpPr>
            <p:cNvPr id="18" name="Group 18"/>
            <p:cNvGrpSpPr/>
            <p:nvPr/>
          </p:nvGrpSpPr>
          <p:grpSpPr>
            <a:xfrm>
              <a:off x="3143250" y="1590675"/>
              <a:ext cx="6631139" cy="1121569"/>
              <a:chOff x="3143250" y="1590675"/>
              <a:chExt cx="6631139" cy="1121569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3143250" y="1638300"/>
                <a:ext cx="114300" cy="114300"/>
              </a:xfrm>
              <a:prstGeom prst="rect">
                <a:avLst/>
              </a:prstGeom>
              <a:solidFill>
                <a:srgbClr val="E8842C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3371850" y="1590675"/>
                <a:ext cx="1014701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① 环</a:t>
                </a:r>
                <a:r>
                  <a:rPr lang="zh-CN" sz="1500" b="1" dirty="0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境配置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374708" y="1919764"/>
                <a:ext cx="639968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A37"/>
                    </a:solidFill>
                    <a:latin typeface="Arial"/>
                    <a:ea typeface="Microsoft YaHei"/>
                    <a:cs typeface="Arial"/>
                  </a:rPr>
                  <a:t>全部实验运行于 QEMU `virt` 虚拟机：OpenSBI 固件、Sv39 分页、VirtIO 块设备，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374708" y="2186464"/>
                <a:ext cx="609364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A37"/>
                    </a:solidFill>
                    <a:latin typeface="Arial"/>
                    <a:ea typeface="Microsoft YaHei"/>
                    <a:cs typeface="Arial"/>
                  </a:rPr>
                  <a:t>全链路 RISC-V 64。交叉工具链、QEMU 版本、磁盘镜像的配置差异被整体收编，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374708" y="2453164"/>
                <a:ext cx="327979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A37"/>
                    </a:solidFill>
                    <a:latin typeface="Arial"/>
                    <a:ea typeface="Microsoft YaHei"/>
                    <a:cs typeface="Arial"/>
                  </a:rPr>
                  <a:t>"首周耗在环境搭建"的传统开销不复存在。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3143250" y="3019425"/>
              <a:ext cx="6384608" cy="1121569"/>
              <a:chOff x="3143250" y="3019425"/>
              <a:chExt cx="6384608" cy="1121569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143250" y="3067050"/>
                <a:ext cx="114300" cy="114300"/>
              </a:xfrm>
              <a:prstGeom prst="rect">
                <a:avLst/>
              </a:prstGeom>
              <a:solidFill>
                <a:srgbClr val="E8842C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371850" y="3019425"/>
                <a:ext cx="2369238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 </a:t>
                </a:r>
                <a:r>
                  <a:rPr lang="zh-CN" sz="1500" b="1" dirty="0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② 零差异 · 可重复 · 可回滚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374708" y="3348514"/>
                <a:ext cx="615315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A37"/>
                    </a:solidFill>
                    <a:latin typeface="Arial"/>
                    <a:ea typeface="Microsoft YaHei"/>
                    <a:cs typeface="Arial"/>
                  </a:rPr>
                  <a:t>零差异——所有人面对同一组硬件事实；可重复——受控 Runner 以子进程驱动 QEMU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374708" y="3615214"/>
                <a:ext cx="600013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A37"/>
                    </a:solidFill>
                    <a:latin typeface="Arial"/>
                    <a:ea typeface="Microsoft YaHei"/>
                    <a:cs typeface="Arial"/>
                  </a:rPr>
                  <a:t>并捕获串口输出，同一份代码随时重演同一行为；可回滚——工作区快照支持整份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374708" y="3881914"/>
                <a:ext cx="326278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A37"/>
                    </a:solidFill>
                    <a:latin typeface="Arial"/>
                    <a:ea typeface="Microsoft YaHei"/>
                    <a:cs typeface="Arial"/>
                  </a:rPr>
                  <a:t>恢复，实验永远可以从已知状态重新开始。</a:t>
                </a:r>
              </a:p>
            </p:txBody>
          </p:sp>
        </p:grpSp>
      </p:grpSp>
      <p:sp>
        <p:nvSpPr>
          <p:cNvPr id="26" name="Line 26"/>
          <p:cNvSpPr/>
          <p:nvPr/>
        </p:nvSpPr>
        <p:spPr>
          <a:xfrm>
            <a:off x="514350" y="55435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19050">
            <a:solidFill>
              <a:srgbClr val="DFE7EF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1560841" y="6570345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08</a:t>
            </a:r>
            <a:endParaRPr lang="zh-CN" sz="900" dirty="0">
              <a:solidFill>
                <a:srgbClr val="8993A1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14350" y="381000"/>
              <a:ext cx="800100" cy="762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8155" y="587692"/>
            <a:ext cx="4419287" cy="438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Virtual</a:t>
            </a:r>
            <a:r>
              <a:rPr lang="zh-CN" altLang="en-US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：统一虚拟环境配置</a:t>
            </a:r>
            <a:endParaRPr lang="zh-CN" sz="2850" b="1" dirty="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852139" y="1804873"/>
            <a:ext cx="10487721" cy="1614488"/>
            <a:chOff x="882634" y="2343150"/>
            <a:chExt cx="10487721" cy="1614488"/>
          </a:xfrm>
        </p:grpSpPr>
        <p:sp>
          <p:nvSpPr>
            <p:cNvPr id="8" name="Line 8"/>
            <p:cNvSpPr/>
            <p:nvPr/>
          </p:nvSpPr>
          <p:spPr>
            <a:xfrm>
              <a:off x="1466850" y="2971800"/>
              <a:ext cx="9201150" cy="9525"/>
            </a:xfrm>
            <a:custGeom>
              <a:avLst/>
              <a:gdLst/>
              <a:ahLst/>
              <a:cxnLst/>
              <a:rect l="l" t="t" r="r" b="b"/>
              <a:pathLst>
                <a:path w="9201150" h="9525">
                  <a:moveTo>
                    <a:pt x="0" y="0"/>
                  </a:moveTo>
                  <a:lnTo>
                    <a:pt x="9201150" y="0"/>
                  </a:lnTo>
                </a:path>
              </a:pathLst>
            </a:custGeom>
            <a:noFill/>
            <a:ln w="57150">
              <a:solidFill>
                <a:srgbClr val="C9D4DF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933450" y="2438400"/>
              <a:ext cx="1066800" cy="1066800"/>
            </a:xfrm>
            <a:prstGeom prst="ellipse">
              <a:avLst/>
            </a:prstGeom>
            <a:solidFill>
              <a:srgbClr val="1B4B8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59198" y="2756535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91323" y="3007042"/>
              <a:ext cx="9510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QEMU virt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2634" y="36833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统一硬件模型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3228975" y="2438400"/>
              <a:ext cx="1066800" cy="1066800"/>
            </a:xfrm>
            <a:prstGeom prst="ellipse">
              <a:avLst/>
            </a:prstGeom>
            <a:solidFill>
              <a:srgbClr val="3E7CB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54723" y="2756535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86085" y="3007042"/>
              <a:ext cx="7525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OpenSBI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67183" y="36833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固件交权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534025" y="2438400"/>
              <a:ext cx="1066800" cy="1066800"/>
            </a:xfrm>
            <a:prstGeom prst="ellipse">
              <a:avLst/>
            </a:prstGeom>
            <a:solidFill>
              <a:srgbClr val="1B4B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59773" y="2756535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63544" y="3007042"/>
              <a:ext cx="10077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entry.asm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483209" y="36833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启动栈与入口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39075" y="2438400"/>
              <a:ext cx="1066800" cy="1066800"/>
            </a:xfrm>
            <a:prstGeom prst="ellipse">
              <a:avLst/>
            </a:prstGeom>
            <a:solidFill>
              <a:srgbClr val="3E7CB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64823" y="2756535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92222" y="3007042"/>
              <a:ext cx="9605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rust_main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82771" y="36833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内核初始化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10039350" y="2343150"/>
              <a:ext cx="1257300" cy="1257300"/>
            </a:xfrm>
            <a:prstGeom prst="ellipse">
              <a:avLst/>
            </a:prstGeom>
            <a:solidFill>
              <a:srgbClr val="E8842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60348" y="2718435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86985" y="2968942"/>
              <a:ext cx="7620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feature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67320" y="318801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子系统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965644" y="3683318"/>
              <a:ext cx="14047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按 Lab 选择能力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14350" y="4232434"/>
            <a:ext cx="11189970" cy="1716811"/>
            <a:chOff x="487680" y="4495800"/>
            <a:chExt cx="11189970" cy="1716811"/>
          </a:xfrm>
        </p:grpSpPr>
        <p:sp>
          <p:nvSpPr>
            <p:cNvPr id="31" name="Line 31"/>
            <p:cNvSpPr/>
            <p:nvPr/>
          </p:nvSpPr>
          <p:spPr>
            <a:xfrm>
              <a:off x="514350" y="4495800"/>
              <a:ext cx="11163300" cy="9525"/>
            </a:xfrm>
            <a:custGeom>
              <a:avLst/>
              <a:gdLst/>
              <a:ahLst/>
              <a:cxnLst/>
              <a:rect l="l" t="t" r="r" b="b"/>
              <a:pathLst>
                <a:path w="11163300" h="9525">
                  <a:moveTo>
                    <a:pt x="0" y="0"/>
                  </a:moveTo>
                  <a:lnTo>
                    <a:pt x="11163300" y="0"/>
                  </a:lnTo>
                </a:path>
              </a:pathLst>
            </a:custGeom>
            <a:noFill/>
            <a:ln w="28575">
              <a:solidFill>
                <a:srgbClr val="1B4B8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99110" y="4747260"/>
              <a:ext cx="8033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993A1"/>
                  </a:solidFill>
                  <a:latin typeface="Arial"/>
                  <a:ea typeface="Microsoft YaHei"/>
                  <a:cs typeface="Arial"/>
                </a:rPr>
                <a:t>ISA / MMU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7680" y="5040630"/>
              <a:ext cx="234682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RISC-V 64 · Sv39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118610" y="4747260"/>
              <a:ext cx="10890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993A1"/>
                  </a:solidFill>
                  <a:latin typeface="Arial"/>
                  <a:ea typeface="Microsoft YaHei"/>
                  <a:cs typeface="Arial"/>
                </a:rPr>
                <a:t>BLOCK DEVICE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107180" y="5040630"/>
              <a:ext cx="364058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B4B8F"/>
                  </a:solidFill>
                  <a:latin typeface="Consolas"/>
                  <a:ea typeface="Microsoft YaHei"/>
                  <a:cs typeface="Consolas"/>
                </a:rPr>
                <a:t>VirtIO MMIO 0x1000_1000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728710" y="4747260"/>
              <a:ext cx="11814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993A1"/>
                  </a:solidFill>
                  <a:latin typeface="Arial"/>
                  <a:ea typeface="Microsoft YaHei"/>
                  <a:cs typeface="Arial"/>
                </a:rPr>
                <a:t>RECOVERY UNIT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17280" y="5040630"/>
              <a:ext cx="246444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固定镜像 + Recipe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040478" y="5736361"/>
              <a:ext cx="3724260" cy="4762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200219" y="5847528"/>
              <a:ext cx="346248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零差异</a:t>
              </a:r>
              <a:r>
                <a:rPr lang="en-US" altLang="zh-CN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		</a:t>
              </a:r>
              <a:r>
                <a:rPr lang="zh-CN" altLang="en-US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可重复</a:t>
              </a:r>
              <a:r>
                <a:rPr lang="en-US" altLang="zh-CN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		</a:t>
              </a:r>
              <a:r>
                <a:rPr lang="zh-CN" altLang="en-US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可回滚</a:t>
              </a:r>
              <a:endParaRPr lang="zh-CN" b="1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587511" y="6306979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09</a:t>
            </a:r>
            <a:endParaRPr lang="zh-CN" sz="900" dirty="0">
              <a:solidFill>
                <a:srgbClr val="8993A1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14350" y="381000"/>
              <a:ext cx="800100" cy="762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8155" y="587692"/>
            <a:ext cx="4151778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EV</a:t>
            </a:r>
            <a:r>
              <a:rPr lang="en-US" altLang="zh-CN" sz="3600" b="1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ea typeface="Microsoft YaHei"/>
                <a:cs typeface="Arial"/>
              </a:rPr>
              <a:t>OL</a:t>
            </a:r>
            <a:r>
              <a:rPr lang="en-US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VE</a:t>
            </a:r>
            <a:r>
              <a:rPr lang="zh-CN" altLang="en-US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：</a:t>
            </a:r>
            <a:r>
              <a:rPr 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O</a:t>
            </a:r>
            <a:r>
              <a:rPr lang="zh-CN" sz="2850" b="1" dirty="0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S Learni</a:t>
            </a:r>
            <a:r>
              <a:rPr 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ng</a:t>
            </a:r>
            <a:endParaRPr lang="zh-CN" sz="2850" b="1" dirty="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409575" y="2919412"/>
            <a:ext cx="2257425" cy="2081213"/>
            <a:chOff x="409575" y="2919412"/>
            <a:chExt cx="2257425" cy="2081213"/>
          </a:xfrm>
        </p:grpSpPr>
        <p:sp>
          <p:nvSpPr>
            <p:cNvPr id="8" name="TextBox 8"/>
            <p:cNvSpPr txBox="1"/>
            <p:nvPr/>
          </p:nvSpPr>
          <p:spPr>
            <a:xfrm>
              <a:off x="409575" y="2919412"/>
              <a:ext cx="1468351" cy="126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0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OL</a:t>
              </a:r>
              <a:endParaRPr lang="zh-CN" sz="8250" b="1" dirty="0">
                <a:solidFill>
                  <a:srgbClr val="1B4B8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533400" y="4076700"/>
              <a:ext cx="2133600" cy="9525"/>
            </a:xfrm>
            <a:custGeom>
              <a:avLst/>
              <a:gdLst/>
              <a:ahLst/>
              <a:cxnLst/>
              <a:rect l="l" t="t" r="r" b="b"/>
              <a:pathLst>
                <a:path w="2133600" h="9525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noFill/>
            <a:ln w="19050">
              <a:solidFill>
                <a:srgbClr val="1B4B8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14350" y="4295775"/>
              <a:ext cx="124575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OS Learning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6730" y="4573905"/>
              <a:ext cx="18175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操作系统学习</a:t>
              </a: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1F6F3861-BAB8-3F46-258A-E0C72FDBF81C}"/>
              </a:ext>
            </a:extLst>
          </p:cNvPr>
          <p:cNvGrpSpPr/>
          <p:nvPr/>
        </p:nvGrpSpPr>
        <p:grpSpPr>
          <a:xfrm>
            <a:off x="3251531" y="1533524"/>
            <a:ext cx="8641280" cy="3543299"/>
            <a:chOff x="3429000" y="1533525"/>
            <a:chExt cx="7719822" cy="2619375"/>
          </a:xfrm>
        </p:grpSpPr>
        <p:grpSp>
          <p:nvGrpSpPr>
            <p:cNvPr id="17" name="Group 17"/>
            <p:cNvGrpSpPr/>
            <p:nvPr/>
          </p:nvGrpSpPr>
          <p:grpSpPr>
            <a:xfrm>
              <a:off x="3429000" y="1533525"/>
              <a:ext cx="7535799" cy="790575"/>
              <a:chOff x="3429000" y="1533525"/>
              <a:chExt cx="7535799" cy="790575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3429000" y="1581150"/>
                <a:ext cx="114300" cy="114300"/>
              </a:xfrm>
              <a:prstGeom prst="rect">
                <a:avLst/>
              </a:prstGeom>
              <a:solidFill>
                <a:srgbClr val="E8842C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3657600" y="1533525"/>
                <a:ext cx="1765740" cy="1706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① </a:t>
                </a:r>
                <a:r>
                  <a:rPr lang="zh-CN" altLang="en-US" sz="1500" b="1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教学编排的</a:t>
                </a:r>
                <a:r>
                  <a:rPr lang="zh-CN" sz="1500" b="1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实</a:t>
                </a:r>
                <a:r>
                  <a:rPr lang="zh-CN" sz="1500" b="1" dirty="0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验文档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661410" y="1851660"/>
                <a:ext cx="730338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A37"/>
                    </a:solidFill>
                    <a:latin typeface="Arial"/>
                    <a:ea typeface="Microsoft YaHei"/>
                    <a:cs typeface="Arial"/>
                  </a:rPr>
                  <a:t>8 册 Lab 手册按"机制为何被逼出"的动机线组织；答案与正文分离、不进学生检索；每 Lab 附概念目录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661410" y="2080260"/>
                <a:ext cx="641527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A37"/>
                    </a:solidFill>
                    <a:latin typeface="Arial"/>
                    <a:ea typeface="Microsoft YaHei"/>
                    <a:cs typeface="Arial"/>
                  </a:rPr>
                  <a:t>与误区说明；lab.yaml 机器可读规格让手册、脚手架、Prompt、验证命令共享一份契约。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429000" y="2447925"/>
              <a:ext cx="7719822" cy="790575"/>
              <a:chOff x="3429000" y="2447925"/>
              <a:chExt cx="7719822" cy="79057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3429000" y="2495550"/>
                <a:ext cx="114300" cy="114300"/>
              </a:xfrm>
              <a:prstGeom prst="rect">
                <a:avLst/>
              </a:prstGeom>
              <a:solidFill>
                <a:srgbClr val="E8842C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3657600" y="2447925"/>
                <a:ext cx="906499" cy="1706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② </a:t>
                </a:r>
                <a:r>
                  <a:rPr lang="zh-CN" sz="1500" b="1" dirty="0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实践变体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661410" y="2766060"/>
                <a:ext cx="748741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A37"/>
                    </a:solidFill>
                    <a:latin typeface="Arial"/>
                    <a:ea typeface="Microsoft YaHei"/>
                    <a:cs typeface="Arial"/>
                  </a:rPr>
                  <a:t>fill 补全代码 / debug 定位错误 / remedial 补救练习三种形态；教师下发 random 时，服务端为每名学生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661410" y="2994660"/>
                <a:ext cx="582320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A37"/>
                    </a:solidFill>
                    <a:latin typeface="Arial"/>
                    <a:ea typeface="Microsoft YaHei"/>
                    <a:cs typeface="Arial"/>
                  </a:rPr>
                  <a:t>写死一个具体变体；负向断言保证变体基线"应失败"——整段抄来的代码无法通过。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3429000" y="3362325"/>
              <a:ext cx="6535674" cy="790575"/>
              <a:chOff x="3429000" y="3362325"/>
              <a:chExt cx="6535674" cy="790575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3429000" y="3409950"/>
                <a:ext cx="114300" cy="114300"/>
              </a:xfrm>
              <a:prstGeom prst="rect">
                <a:avLst/>
              </a:prstGeom>
              <a:solidFill>
                <a:srgbClr val="E8842C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3657600" y="3362325"/>
                <a:ext cx="1593892" cy="1706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③ </a:t>
                </a:r>
                <a:r>
                  <a:rPr lang="zh-CN" sz="1500" b="1" dirty="0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以学生学习为中心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661410" y="3680460"/>
                <a:ext cx="63032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A37"/>
                    </a:solidFill>
                    <a:latin typeface="Arial"/>
                    <a:ea typeface="Microsoft YaHei"/>
                    <a:cs typeface="Arial"/>
                  </a:rPr>
                  <a:t>手册、脚手架、诊断、提示、复盘，全部指向同一个目标——推动学生"形成自己的判断"，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661410" y="3909060"/>
                <a:ext cx="25908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A37"/>
                    </a:solidFill>
                    <a:latin typeface="Arial"/>
                    <a:ea typeface="Microsoft YaHei"/>
                    <a:cs typeface="Arial"/>
                  </a:rPr>
                  <a:t>而不是更快地拿到一份能跑的代码。</a:t>
                </a: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514350" y="5543550"/>
            <a:ext cx="11163300" cy="573732"/>
            <a:chOff x="514350" y="5543550"/>
            <a:chExt cx="11163300" cy="573732"/>
          </a:xfrm>
        </p:grpSpPr>
        <p:sp>
          <p:nvSpPr>
            <p:cNvPr id="29" name="Line 29"/>
            <p:cNvSpPr/>
            <p:nvPr/>
          </p:nvSpPr>
          <p:spPr>
            <a:xfrm>
              <a:off x="514350" y="5543550"/>
              <a:ext cx="11163300" cy="9525"/>
            </a:xfrm>
            <a:custGeom>
              <a:avLst/>
              <a:gdLst/>
              <a:ahLst/>
              <a:cxnLst/>
              <a:rect l="l" t="t" r="r" b="b"/>
              <a:pathLst>
                <a:path w="11163300" h="9525">
                  <a:moveTo>
                    <a:pt x="0" y="0"/>
                  </a:moveTo>
                  <a:lnTo>
                    <a:pt x="11163300" y="0"/>
                  </a:lnTo>
                </a:path>
              </a:pathLst>
            </a:custGeom>
            <a:noFill/>
            <a:ln w="19050">
              <a:solidFill>
                <a:srgbClr val="DFE7E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962400" y="5886450"/>
              <a:ext cx="6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500" dirty="0">
                <a:solidFill>
                  <a:srgbClr val="8993A1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15250" y="5886450"/>
              <a:ext cx="6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500" dirty="0">
                <a:solidFill>
                  <a:srgbClr val="8993A1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560841" y="6570345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1</a:t>
            </a:r>
            <a:r>
              <a:rPr lang="en-US" alt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0</a:t>
            </a:r>
            <a:endParaRPr lang="zh-CN" sz="900" dirty="0">
              <a:solidFill>
                <a:srgbClr val="8993A1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14350" y="381000"/>
              <a:ext cx="800100" cy="762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8155" y="587692"/>
            <a:ext cx="5281895" cy="438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OS Learning</a:t>
            </a:r>
            <a:r>
              <a:rPr lang="zh-CN" altLang="en-US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：教学编排与设计</a:t>
            </a:r>
            <a:endParaRPr lang="zh-CN" sz="2850" b="1" dirty="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657350" y="2447925"/>
            <a:ext cx="8877300" cy="190500"/>
            <a:chOff x="1657350" y="3009900"/>
            <a:chExt cx="8877300" cy="190500"/>
          </a:xfrm>
        </p:grpSpPr>
        <p:sp>
          <p:nvSpPr>
            <p:cNvPr id="8" name="Line 8"/>
            <p:cNvSpPr/>
            <p:nvPr/>
          </p:nvSpPr>
          <p:spPr>
            <a:xfrm>
              <a:off x="1657350" y="3105150"/>
              <a:ext cx="8877300" cy="9525"/>
            </a:xfrm>
            <a:custGeom>
              <a:avLst/>
              <a:gdLst/>
              <a:ahLst/>
              <a:cxnLst/>
              <a:rect l="l" t="t" r="r" b="b"/>
              <a:pathLst>
                <a:path w="8877300" h="9525">
                  <a:moveTo>
                    <a:pt x="0" y="0"/>
                  </a:moveTo>
                  <a:lnTo>
                    <a:pt x="8877300" y="0"/>
                  </a:lnTo>
                </a:path>
              </a:pathLst>
            </a:custGeom>
            <a:noFill/>
            <a:ln w="38100">
              <a:solidFill>
                <a:srgbClr val="C9D4DF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10363200" y="3009900"/>
              <a:ext cx="171450" cy="190500"/>
            </a:xfrm>
            <a:custGeom>
              <a:avLst/>
              <a:gdLst/>
              <a:ahLst/>
              <a:cxnLst/>
              <a:rect l="l" t="t" r="r" b="b"/>
              <a:pathLst>
                <a:path w="171450" h="190500">
                  <a:moveTo>
                    <a:pt x="171450" y="95250"/>
                  </a:moveTo>
                  <a:lnTo>
                    <a:pt x="0" y="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C9D4DF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514350" y="1381125"/>
            <a:ext cx="11163300" cy="2068640"/>
            <a:chOff x="514350" y="1943100"/>
            <a:chExt cx="11163300" cy="2324100"/>
          </a:xfrm>
        </p:grpSpPr>
        <p:sp>
          <p:nvSpPr>
            <p:cNvPr id="11" name="Rectangle 11"/>
            <p:cNvSpPr/>
            <p:nvPr/>
          </p:nvSpPr>
          <p:spPr>
            <a:xfrm>
              <a:off x="514350" y="1943100"/>
              <a:ext cx="1981200" cy="2324100"/>
            </a:xfrm>
            <a:prstGeom prst="rect">
              <a:avLst/>
            </a:prstGeom>
            <a:solidFill>
              <a:srgbClr val="1B4B8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1515" y="2153602"/>
              <a:ext cx="1293624" cy="18153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</a:t>
              </a:r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OURCE OF TRUTH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0085" y="2513648"/>
              <a:ext cx="116897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lab.yaml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04850" y="2952750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89610" y="3175635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知识前置关系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9610" y="34518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任务与起始文件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9610" y="3728085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验证与量规引用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724150" y="2190750"/>
              <a:ext cx="1981200" cy="1828800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C9D4D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01315" y="2401252"/>
              <a:ext cx="464871" cy="18153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L</a:t>
              </a:r>
              <a:r>
                <a:rPr lang="zh-CN" sz="1050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EARN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91790" y="2720340"/>
              <a:ext cx="144911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800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实验指导</a:t>
              </a:r>
              <a:r>
                <a:rPr lang="zh-CN" sz="1800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手册 </a:t>
              </a:r>
              <a:endParaRPr lang="zh-CN" sz="1800" b="1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99410" y="3185160"/>
              <a:ext cx="10146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概念 · 检查点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99410" y="34613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Tutor context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933950" y="2190750"/>
              <a:ext cx="1981200" cy="1828800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C9D4D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111115" y="2401252"/>
              <a:ext cx="448841" cy="18153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S</a:t>
              </a:r>
              <a:r>
                <a:rPr lang="zh-CN" sz="1050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TART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01590" y="2720340"/>
              <a:ext cx="138499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800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实验代码文件</a:t>
              </a:r>
              <a:endParaRPr lang="zh-CN" sz="1800" b="1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09210" y="3185160"/>
              <a:ext cx="13506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当前 Lab 新增文件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09210" y="3461385"/>
              <a:ext cx="10626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Scaffold 基线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143750" y="2190750"/>
              <a:ext cx="1981200" cy="18288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sp>
        <p:sp>
          <p:nvSpPr>
            <p:cNvPr id="29" name="TextBox 29"/>
            <p:cNvSpPr txBox="1"/>
            <p:nvPr/>
          </p:nvSpPr>
          <p:spPr>
            <a:xfrm>
              <a:off x="7320915" y="2401252"/>
              <a:ext cx="689291" cy="18153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P</a:t>
              </a:r>
              <a:r>
                <a:rPr lang="zh-CN" sz="1050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RACTICE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11390" y="2720340"/>
              <a:ext cx="138499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800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实验</a:t>
              </a:r>
              <a:r>
                <a:rPr lang="zh-CN" sz="1800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任</a:t>
              </a:r>
              <a:r>
                <a:rPr lang="zh-CN" sz="180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务变体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19010" y="3185160"/>
              <a:ext cx="8865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fill · debug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19010" y="3461385"/>
              <a:ext cx="519373" cy="2074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random</a:t>
              </a:r>
              <a:endParaRPr lang="zh-CN" sz="1200" dirty="0">
                <a:solidFill>
                  <a:srgbClr val="5B6673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353550" y="1943100"/>
              <a:ext cx="2324100" cy="2324100"/>
            </a:xfrm>
            <a:prstGeom prst="rect">
              <a:avLst/>
            </a:prstGeom>
            <a:solidFill>
              <a:srgbClr val="F2F6FA"/>
            </a:solidFill>
            <a:ln w="19050">
              <a:solidFill>
                <a:srgbClr val="1B4B8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530715" y="2153602"/>
              <a:ext cx="485710" cy="18153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V</a:t>
              </a:r>
              <a:r>
                <a:rPr lang="zh-CN" sz="105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ERIFY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21190" y="2529840"/>
              <a:ext cx="18099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验证与教学判据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9544050" y="2952750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19050">
              <a:solidFill>
                <a:srgbClr val="C9D4D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528810" y="3175635"/>
              <a:ext cx="8865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受控 Recipe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28810" y="34518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误区与负向断言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28810" y="3728085"/>
              <a:ext cx="13666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Rubric 与证据要求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1560841" y="6570345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1</a:t>
            </a:r>
            <a:r>
              <a:rPr lang="en-US" alt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1</a:t>
            </a:r>
            <a:endParaRPr lang="zh-CN" sz="900" dirty="0">
              <a:solidFill>
                <a:srgbClr val="8993A1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98" name="Group 38">
            <a:extLst>
              <a:ext uri="{FF2B5EF4-FFF2-40B4-BE49-F238E27FC236}">
                <a16:creationId xmlns:a16="http://schemas.microsoft.com/office/drawing/2014/main" id="{65C1AD74-F8FD-02FA-D238-B1BDA6859F49}"/>
              </a:ext>
            </a:extLst>
          </p:cNvPr>
          <p:cNvGrpSpPr/>
          <p:nvPr/>
        </p:nvGrpSpPr>
        <p:grpSpPr>
          <a:xfrm>
            <a:off x="546164" y="3665108"/>
            <a:ext cx="10988040" cy="1413752"/>
            <a:chOff x="499110" y="1584960"/>
            <a:chExt cx="10988040" cy="1463040"/>
          </a:xfrm>
        </p:grpSpPr>
        <p:sp>
          <p:nvSpPr>
            <p:cNvPr id="99" name="TextBox 8">
              <a:extLst>
                <a:ext uri="{FF2B5EF4-FFF2-40B4-BE49-F238E27FC236}">
                  <a16:creationId xmlns:a16="http://schemas.microsoft.com/office/drawing/2014/main" id="{3A0A7548-8041-D5CC-8993-78FC3DD5F662}"/>
                </a:ext>
              </a:extLst>
            </p:cNvPr>
            <p:cNvSpPr txBox="1"/>
            <p:nvPr/>
          </p:nvSpPr>
          <p:spPr>
            <a:xfrm>
              <a:off x="499110" y="1584960"/>
              <a:ext cx="1085938" cy="1911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LAB FACT</a:t>
              </a:r>
              <a:r>
                <a:rPr lang="zh-CN" sz="1200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OR</a:t>
              </a:r>
              <a:r>
                <a:rPr lang="en-US" altLang="zh-CN" sz="1200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Y</a:t>
              </a:r>
              <a:endParaRPr lang="zh-CN" sz="1200" b="1" dirty="0">
                <a:solidFill>
                  <a:srgbClr val="1B4B8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00" name="Line 9">
              <a:extLst>
                <a:ext uri="{FF2B5EF4-FFF2-40B4-BE49-F238E27FC236}">
                  <a16:creationId xmlns:a16="http://schemas.microsoft.com/office/drawing/2014/main" id="{684B0186-E525-96EC-DF97-E701DC9688B8}"/>
                </a:ext>
              </a:extLst>
            </p:cNvPr>
            <p:cNvSpPr/>
            <p:nvPr/>
          </p:nvSpPr>
          <p:spPr>
            <a:xfrm>
              <a:off x="1228725" y="2543175"/>
              <a:ext cx="9544050" cy="9525"/>
            </a:xfrm>
            <a:custGeom>
              <a:avLst/>
              <a:gdLst/>
              <a:ahLst/>
              <a:cxnLst/>
              <a:rect l="l" t="t" r="r" b="b"/>
              <a:pathLst>
                <a:path w="9544050" h="9525">
                  <a:moveTo>
                    <a:pt x="0" y="0"/>
                  </a:moveTo>
                  <a:lnTo>
                    <a:pt x="9544050" y="0"/>
                  </a:lnTo>
                </a:path>
              </a:pathLst>
            </a:custGeom>
            <a:noFill/>
            <a:ln w="38100">
              <a:solidFill>
                <a:srgbClr val="C9D4DF"/>
              </a:solidFill>
            </a:ln>
          </p:spPr>
        </p:sp>
        <p:sp>
          <p:nvSpPr>
            <p:cNvPr id="101" name="Rectangle 10">
              <a:extLst>
                <a:ext uri="{FF2B5EF4-FFF2-40B4-BE49-F238E27FC236}">
                  <a16:creationId xmlns:a16="http://schemas.microsoft.com/office/drawing/2014/main" id="{DAE496B3-3A9A-EF71-9835-5D5EC8A72518}"/>
                </a:ext>
              </a:extLst>
            </p:cNvPr>
            <p:cNvSpPr/>
            <p:nvPr/>
          </p:nvSpPr>
          <p:spPr>
            <a:xfrm>
              <a:off x="514350" y="2038350"/>
              <a:ext cx="1428750" cy="1009650"/>
            </a:xfrm>
            <a:prstGeom prst="rect">
              <a:avLst/>
            </a:prstGeom>
            <a:solidFill>
              <a:srgbClr val="1B4B8F"/>
            </a:solidFill>
            <a:ln>
              <a:noFill/>
            </a:ln>
          </p:spPr>
        </p:sp>
        <p:sp>
          <p:nvSpPr>
            <p:cNvPr id="102" name="TextBox 11">
              <a:extLst>
                <a:ext uri="{FF2B5EF4-FFF2-40B4-BE49-F238E27FC236}">
                  <a16:creationId xmlns:a16="http://schemas.microsoft.com/office/drawing/2014/main" id="{03FA3E7C-231D-4CAA-E0CD-9463ACB22653}"/>
                </a:ext>
              </a:extLst>
            </p:cNvPr>
            <p:cNvSpPr txBox="1"/>
            <p:nvPr/>
          </p:nvSpPr>
          <p:spPr>
            <a:xfrm>
              <a:off x="654368" y="219979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3" name="TextBox 12">
              <a:extLst>
                <a:ext uri="{FF2B5EF4-FFF2-40B4-BE49-F238E27FC236}">
                  <a16:creationId xmlns:a16="http://schemas.microsoft.com/office/drawing/2014/main" id="{E280330E-321F-4B55-CD7F-B2B213735822}"/>
                </a:ext>
              </a:extLst>
            </p:cNvPr>
            <p:cNvSpPr txBox="1"/>
            <p:nvPr/>
          </p:nvSpPr>
          <p:spPr>
            <a:xfrm>
              <a:off x="649605" y="2473642"/>
              <a:ext cx="13196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Lab / 变体规格</a:t>
              </a:r>
            </a:p>
          </p:txBody>
        </p:sp>
        <p:sp>
          <p:nvSpPr>
            <p:cNvPr id="104" name="TextBox 13">
              <a:extLst>
                <a:ext uri="{FF2B5EF4-FFF2-40B4-BE49-F238E27FC236}">
                  <a16:creationId xmlns:a16="http://schemas.microsoft.com/office/drawing/2014/main" id="{AE9117CA-50CC-AE68-586F-FBBE6101A198}"/>
                </a:ext>
              </a:extLst>
            </p:cNvPr>
            <p:cNvSpPr txBox="1"/>
            <p:nvPr/>
          </p:nvSpPr>
          <p:spPr>
            <a:xfrm>
              <a:off x="655320" y="2750820"/>
              <a:ext cx="5149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lab.yaml</a:t>
              </a:r>
            </a:p>
          </p:txBody>
        </p:sp>
        <p:sp>
          <p:nvSpPr>
            <p:cNvPr id="105" name="Rectangle 14">
              <a:extLst>
                <a:ext uri="{FF2B5EF4-FFF2-40B4-BE49-F238E27FC236}">
                  <a16:creationId xmlns:a16="http://schemas.microsoft.com/office/drawing/2014/main" id="{7ADD571F-2B99-7510-87DD-6C4565492CB9}"/>
                </a:ext>
              </a:extLst>
            </p:cNvPr>
            <p:cNvSpPr/>
            <p:nvPr/>
          </p:nvSpPr>
          <p:spPr>
            <a:xfrm>
              <a:off x="2105025" y="2038350"/>
              <a:ext cx="1428750" cy="1009650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C9D4DF"/>
              </a:solidFill>
            </a:ln>
          </p:spPr>
        </p:sp>
        <p:sp>
          <p:nvSpPr>
            <p:cNvPr id="106" name="TextBox 15">
              <a:extLst>
                <a:ext uri="{FF2B5EF4-FFF2-40B4-BE49-F238E27FC236}">
                  <a16:creationId xmlns:a16="http://schemas.microsoft.com/office/drawing/2014/main" id="{2CD3BB5F-FCD0-E418-7BD5-67A02F0B606F}"/>
                </a:ext>
              </a:extLst>
            </p:cNvPr>
            <p:cNvSpPr txBox="1"/>
            <p:nvPr/>
          </p:nvSpPr>
          <p:spPr>
            <a:xfrm>
              <a:off x="2245042" y="219979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07" name="TextBox 16">
              <a:extLst>
                <a:ext uri="{FF2B5EF4-FFF2-40B4-BE49-F238E27FC236}">
                  <a16:creationId xmlns:a16="http://schemas.microsoft.com/office/drawing/2014/main" id="{D2040C8E-C7E2-8761-14A4-8A5842F8F2B4}"/>
                </a:ext>
              </a:extLst>
            </p:cNvPr>
            <p:cNvSpPr txBox="1"/>
            <p:nvPr/>
          </p:nvSpPr>
          <p:spPr>
            <a:xfrm>
              <a:off x="2240280" y="2473642"/>
              <a:ext cx="11306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Schema 校验</a:t>
              </a:r>
            </a:p>
          </p:txBody>
        </p:sp>
        <p:sp>
          <p:nvSpPr>
            <p:cNvPr id="108" name="TextBox 17">
              <a:extLst>
                <a:ext uri="{FF2B5EF4-FFF2-40B4-BE49-F238E27FC236}">
                  <a16:creationId xmlns:a16="http://schemas.microsoft.com/office/drawing/2014/main" id="{54220868-65E9-01B0-214D-92F03FB554A2}"/>
                </a:ext>
              </a:extLst>
            </p:cNvPr>
            <p:cNvSpPr txBox="1"/>
            <p:nvPr/>
          </p:nvSpPr>
          <p:spPr>
            <a:xfrm>
              <a:off x="2245995" y="2750820"/>
              <a:ext cx="6409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字段 / 路径</a:t>
              </a:r>
            </a:p>
          </p:txBody>
        </p:sp>
        <p:sp>
          <p:nvSpPr>
            <p:cNvPr id="109" name="Rectangle 18">
              <a:extLst>
                <a:ext uri="{FF2B5EF4-FFF2-40B4-BE49-F238E27FC236}">
                  <a16:creationId xmlns:a16="http://schemas.microsoft.com/office/drawing/2014/main" id="{B6479468-4BD6-3459-B8D9-647CC1772900}"/>
                </a:ext>
              </a:extLst>
            </p:cNvPr>
            <p:cNvSpPr/>
            <p:nvPr/>
          </p:nvSpPr>
          <p:spPr>
            <a:xfrm>
              <a:off x="3695700" y="2038350"/>
              <a:ext cx="1428750" cy="1009650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C9D4DF"/>
              </a:solidFill>
            </a:ln>
          </p:spPr>
        </p:sp>
        <p:sp>
          <p:nvSpPr>
            <p:cNvPr id="110" name="TextBox 19">
              <a:extLst>
                <a:ext uri="{FF2B5EF4-FFF2-40B4-BE49-F238E27FC236}">
                  <a16:creationId xmlns:a16="http://schemas.microsoft.com/office/drawing/2014/main" id="{27C5A147-3AA8-93E4-98C9-AC80281FF49E}"/>
                </a:ext>
              </a:extLst>
            </p:cNvPr>
            <p:cNvSpPr txBox="1"/>
            <p:nvPr/>
          </p:nvSpPr>
          <p:spPr>
            <a:xfrm>
              <a:off x="3835718" y="219979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111" name="TextBox 20">
              <a:extLst>
                <a:ext uri="{FF2B5EF4-FFF2-40B4-BE49-F238E27FC236}">
                  <a16:creationId xmlns:a16="http://schemas.microsoft.com/office/drawing/2014/main" id="{39672504-7426-8A36-116B-675693F19344}"/>
                </a:ext>
              </a:extLst>
            </p:cNvPr>
            <p:cNvSpPr txBox="1"/>
            <p:nvPr/>
          </p:nvSpPr>
          <p:spPr>
            <a:xfrm>
              <a:off x="3830955" y="2473642"/>
              <a:ext cx="114952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隔离 dry run</a:t>
              </a:r>
            </a:p>
          </p:txBody>
        </p:sp>
        <p:sp>
          <p:nvSpPr>
            <p:cNvPr id="112" name="TextBox 21">
              <a:extLst>
                <a:ext uri="{FF2B5EF4-FFF2-40B4-BE49-F238E27FC236}">
                  <a16:creationId xmlns:a16="http://schemas.microsoft.com/office/drawing/2014/main" id="{3921EBC8-C8AE-1364-06DF-0CBE372BF217}"/>
                </a:ext>
              </a:extLst>
            </p:cNvPr>
            <p:cNvSpPr txBox="1"/>
            <p:nvPr/>
          </p:nvSpPr>
          <p:spPr>
            <a:xfrm>
              <a:off x="3836670" y="2750820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无副作用预检</a:t>
              </a:r>
            </a:p>
          </p:txBody>
        </p:sp>
        <p:sp>
          <p:nvSpPr>
            <p:cNvPr id="113" name="Rectangle 22">
              <a:extLst>
                <a:ext uri="{FF2B5EF4-FFF2-40B4-BE49-F238E27FC236}">
                  <a16:creationId xmlns:a16="http://schemas.microsoft.com/office/drawing/2014/main" id="{7549AB6E-C897-3DC1-AFD7-BA84670B778F}"/>
                </a:ext>
              </a:extLst>
            </p:cNvPr>
            <p:cNvSpPr/>
            <p:nvPr/>
          </p:nvSpPr>
          <p:spPr>
            <a:xfrm>
              <a:off x="5286375" y="2038350"/>
              <a:ext cx="1428750" cy="1009650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C9D4DF"/>
              </a:solidFill>
            </a:ln>
          </p:spPr>
        </p:sp>
        <p:sp>
          <p:nvSpPr>
            <p:cNvPr id="114" name="TextBox 23">
              <a:extLst>
                <a:ext uri="{FF2B5EF4-FFF2-40B4-BE49-F238E27FC236}">
                  <a16:creationId xmlns:a16="http://schemas.microsoft.com/office/drawing/2014/main" id="{FA705E4A-9C89-9320-9C4E-6F1B77C5506E}"/>
                </a:ext>
              </a:extLst>
            </p:cNvPr>
            <p:cNvSpPr txBox="1"/>
            <p:nvPr/>
          </p:nvSpPr>
          <p:spPr>
            <a:xfrm>
              <a:off x="5426392" y="219979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115" name="TextBox 24">
              <a:extLst>
                <a:ext uri="{FF2B5EF4-FFF2-40B4-BE49-F238E27FC236}">
                  <a16:creationId xmlns:a16="http://schemas.microsoft.com/office/drawing/2014/main" id="{A8FC2B87-F9C6-B59E-C582-36165A017D3A}"/>
                </a:ext>
              </a:extLst>
            </p:cNvPr>
            <p:cNvSpPr txBox="1"/>
            <p:nvPr/>
          </p:nvSpPr>
          <p:spPr>
            <a:xfrm>
              <a:off x="5421630" y="24736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基线运行</a:t>
              </a:r>
            </a:p>
          </p:txBody>
        </p:sp>
        <p:sp>
          <p:nvSpPr>
            <p:cNvPr id="116" name="TextBox 25">
              <a:extLst>
                <a:ext uri="{FF2B5EF4-FFF2-40B4-BE49-F238E27FC236}">
                  <a16:creationId xmlns:a16="http://schemas.microsoft.com/office/drawing/2014/main" id="{7F271626-FAD9-1970-565B-999400B6A6B3}"/>
                </a:ext>
              </a:extLst>
            </p:cNvPr>
            <p:cNvSpPr txBox="1"/>
            <p:nvPr/>
          </p:nvSpPr>
          <p:spPr>
            <a:xfrm>
              <a:off x="5427345" y="2750820"/>
              <a:ext cx="622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应全部通过</a:t>
              </a:r>
            </a:p>
          </p:txBody>
        </p:sp>
        <p:sp>
          <p:nvSpPr>
            <p:cNvPr id="117" name="Rectangle 26">
              <a:extLst>
                <a:ext uri="{FF2B5EF4-FFF2-40B4-BE49-F238E27FC236}">
                  <a16:creationId xmlns:a16="http://schemas.microsoft.com/office/drawing/2014/main" id="{86A84E27-3971-23A8-B0F0-6DD102764F5D}"/>
                </a:ext>
              </a:extLst>
            </p:cNvPr>
            <p:cNvSpPr/>
            <p:nvPr/>
          </p:nvSpPr>
          <p:spPr>
            <a:xfrm>
              <a:off x="6877050" y="2038350"/>
              <a:ext cx="1428750" cy="1009650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C9D4DF"/>
              </a:solidFill>
            </a:ln>
          </p:spPr>
        </p:sp>
        <p:sp>
          <p:nvSpPr>
            <p:cNvPr id="118" name="TextBox 27">
              <a:extLst>
                <a:ext uri="{FF2B5EF4-FFF2-40B4-BE49-F238E27FC236}">
                  <a16:creationId xmlns:a16="http://schemas.microsoft.com/office/drawing/2014/main" id="{EBFC6A2F-65CF-0AFA-FB88-75BAC2C443A6}"/>
                </a:ext>
              </a:extLst>
            </p:cNvPr>
            <p:cNvSpPr txBox="1"/>
            <p:nvPr/>
          </p:nvSpPr>
          <p:spPr>
            <a:xfrm>
              <a:off x="7017068" y="219979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119" name="TextBox 28">
              <a:extLst>
                <a:ext uri="{FF2B5EF4-FFF2-40B4-BE49-F238E27FC236}">
                  <a16:creationId xmlns:a16="http://schemas.microsoft.com/office/drawing/2014/main" id="{6C800FDC-DC44-9200-5CE3-5BF82106E754}"/>
                </a:ext>
              </a:extLst>
            </p:cNvPr>
            <p:cNvSpPr txBox="1"/>
            <p:nvPr/>
          </p:nvSpPr>
          <p:spPr>
            <a:xfrm>
              <a:off x="7012305" y="2473642"/>
              <a:ext cx="692497" cy="2533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350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新建</a:t>
              </a:r>
              <a:r>
                <a:rPr lang="zh-CN" sz="1350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变</a:t>
              </a:r>
              <a:r>
                <a:rPr lang="zh-CN" sz="13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体</a:t>
              </a:r>
            </a:p>
          </p:txBody>
        </p:sp>
        <p:sp>
          <p:nvSpPr>
            <p:cNvPr id="120" name="TextBox 29">
              <a:extLst>
                <a:ext uri="{FF2B5EF4-FFF2-40B4-BE49-F238E27FC236}">
                  <a16:creationId xmlns:a16="http://schemas.microsoft.com/office/drawing/2014/main" id="{A1057A37-D104-8E16-557A-7837BA8F3E9D}"/>
                </a:ext>
              </a:extLst>
            </p:cNvPr>
            <p:cNvSpPr txBox="1"/>
            <p:nvPr/>
          </p:nvSpPr>
          <p:spPr>
            <a:xfrm>
              <a:off x="7018020" y="2750820"/>
              <a:ext cx="737381" cy="168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fill / debug</a:t>
              </a:r>
              <a:r>
                <a:rPr lang="en-US" altLang="zh-CN" sz="90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 / ···</a:t>
              </a:r>
              <a:endParaRPr lang="zh-CN" sz="900" dirty="0">
                <a:solidFill>
                  <a:srgbClr val="5B6673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21" name="Rectangle 30">
              <a:extLst>
                <a:ext uri="{FF2B5EF4-FFF2-40B4-BE49-F238E27FC236}">
                  <a16:creationId xmlns:a16="http://schemas.microsoft.com/office/drawing/2014/main" id="{C85760DA-23F5-3202-84AA-AC9BF0C05380}"/>
                </a:ext>
              </a:extLst>
            </p:cNvPr>
            <p:cNvSpPr/>
            <p:nvPr/>
          </p:nvSpPr>
          <p:spPr>
            <a:xfrm>
              <a:off x="8467725" y="2038350"/>
              <a:ext cx="1428750" cy="1009650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C9D4DF"/>
              </a:solidFill>
            </a:ln>
          </p:spPr>
        </p:sp>
        <p:sp>
          <p:nvSpPr>
            <p:cNvPr id="122" name="TextBox 31">
              <a:extLst>
                <a:ext uri="{FF2B5EF4-FFF2-40B4-BE49-F238E27FC236}">
                  <a16:creationId xmlns:a16="http://schemas.microsoft.com/office/drawing/2014/main" id="{7940592E-83FA-A2CB-0167-299D67360008}"/>
                </a:ext>
              </a:extLst>
            </p:cNvPr>
            <p:cNvSpPr txBox="1"/>
            <p:nvPr/>
          </p:nvSpPr>
          <p:spPr>
            <a:xfrm>
              <a:off x="8607742" y="2199799"/>
              <a:ext cx="137858" cy="1829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123" name="TextBox 32">
              <a:extLst>
                <a:ext uri="{FF2B5EF4-FFF2-40B4-BE49-F238E27FC236}">
                  <a16:creationId xmlns:a16="http://schemas.microsoft.com/office/drawing/2014/main" id="{36505005-8612-0428-0287-6D19746DA550}"/>
                </a:ext>
              </a:extLst>
            </p:cNvPr>
            <p:cNvSpPr txBox="1"/>
            <p:nvPr/>
          </p:nvSpPr>
          <p:spPr>
            <a:xfrm>
              <a:off x="8602980" y="24736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负向断言</a:t>
              </a:r>
            </a:p>
          </p:txBody>
        </p:sp>
        <p:sp>
          <p:nvSpPr>
            <p:cNvPr id="124" name="TextBox 33">
              <a:extLst>
                <a:ext uri="{FF2B5EF4-FFF2-40B4-BE49-F238E27FC236}">
                  <a16:creationId xmlns:a16="http://schemas.microsoft.com/office/drawing/2014/main" id="{D2DDB6C9-DFDB-ED3A-E1CD-715734B0B75D}"/>
                </a:ext>
              </a:extLst>
            </p:cNvPr>
            <p:cNvSpPr txBox="1"/>
            <p:nvPr/>
          </p:nvSpPr>
          <p:spPr>
            <a:xfrm>
              <a:off x="8608695" y="2750820"/>
              <a:ext cx="807913" cy="168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latin typeface="Arial"/>
                  <a:ea typeface="Microsoft YaHei"/>
                  <a:cs typeface="Arial"/>
                </a:rPr>
                <a:t>必须按预期失败</a:t>
              </a:r>
            </a:p>
          </p:txBody>
        </p:sp>
        <p:sp>
          <p:nvSpPr>
            <p:cNvPr id="125" name="Rectangle 34">
              <a:extLst>
                <a:ext uri="{FF2B5EF4-FFF2-40B4-BE49-F238E27FC236}">
                  <a16:creationId xmlns:a16="http://schemas.microsoft.com/office/drawing/2014/main" id="{DAF452C8-9F33-9B4F-37D8-F586930E3639}"/>
                </a:ext>
              </a:extLst>
            </p:cNvPr>
            <p:cNvSpPr/>
            <p:nvPr/>
          </p:nvSpPr>
          <p:spPr>
            <a:xfrm>
              <a:off x="10058400" y="2038350"/>
              <a:ext cx="1428750" cy="100965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  <p:sp>
          <p:nvSpPr>
            <p:cNvPr id="126" name="TextBox 35">
              <a:extLst>
                <a:ext uri="{FF2B5EF4-FFF2-40B4-BE49-F238E27FC236}">
                  <a16:creationId xmlns:a16="http://schemas.microsoft.com/office/drawing/2014/main" id="{B9935E69-BFE3-28C8-9FD9-2C5B87A7D603}"/>
                </a:ext>
              </a:extLst>
            </p:cNvPr>
            <p:cNvSpPr txBox="1"/>
            <p:nvPr/>
          </p:nvSpPr>
          <p:spPr>
            <a:xfrm>
              <a:off x="10198418" y="219979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  <p:sp>
          <p:nvSpPr>
            <p:cNvPr id="127" name="TextBox 36">
              <a:extLst>
                <a:ext uri="{FF2B5EF4-FFF2-40B4-BE49-F238E27FC236}">
                  <a16:creationId xmlns:a16="http://schemas.microsoft.com/office/drawing/2014/main" id="{BC2ED565-37F5-0859-8FC5-6E7E6C30A20E}"/>
                </a:ext>
              </a:extLst>
            </p:cNvPr>
            <p:cNvSpPr txBox="1"/>
            <p:nvPr/>
          </p:nvSpPr>
          <p:spPr>
            <a:xfrm>
              <a:off x="10193655" y="2473642"/>
              <a:ext cx="692497" cy="2533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发布</a:t>
              </a:r>
              <a:r>
                <a:rPr lang="zh-CN" altLang="en-US" sz="1350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版本</a:t>
              </a:r>
              <a:endPara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28" name="TextBox 37">
              <a:extLst>
                <a:ext uri="{FF2B5EF4-FFF2-40B4-BE49-F238E27FC236}">
                  <a16:creationId xmlns:a16="http://schemas.microsoft.com/office/drawing/2014/main" id="{5C34D308-8C8C-4075-0C19-7699E7972C1F}"/>
                </a:ext>
              </a:extLst>
            </p:cNvPr>
            <p:cNvSpPr txBox="1"/>
            <p:nvPr/>
          </p:nvSpPr>
          <p:spPr>
            <a:xfrm>
              <a:off x="10199370" y="2750820"/>
              <a:ext cx="856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published.json</a:t>
              </a:r>
            </a:p>
          </p:txBody>
        </p:sp>
      </p:grpSp>
      <p:grpSp>
        <p:nvGrpSpPr>
          <p:cNvPr id="129" name="Group 54">
            <a:extLst>
              <a:ext uri="{FF2B5EF4-FFF2-40B4-BE49-F238E27FC236}">
                <a16:creationId xmlns:a16="http://schemas.microsoft.com/office/drawing/2014/main" id="{8BC6BCC4-1250-35CB-12CF-449802AB7FB9}"/>
              </a:ext>
            </a:extLst>
          </p:cNvPr>
          <p:cNvGrpSpPr/>
          <p:nvPr/>
        </p:nvGrpSpPr>
        <p:grpSpPr>
          <a:xfrm>
            <a:off x="541852" y="5266372"/>
            <a:ext cx="10988040" cy="1340167"/>
            <a:chOff x="499110" y="3509010"/>
            <a:chExt cx="10988040" cy="1634490"/>
          </a:xfrm>
        </p:grpSpPr>
        <p:sp>
          <p:nvSpPr>
            <p:cNvPr id="130" name="TextBox 39">
              <a:extLst>
                <a:ext uri="{FF2B5EF4-FFF2-40B4-BE49-F238E27FC236}">
                  <a16:creationId xmlns:a16="http://schemas.microsoft.com/office/drawing/2014/main" id="{2B90E131-DCCD-C033-7275-10C880197FF3}"/>
                </a:ext>
              </a:extLst>
            </p:cNvPr>
            <p:cNvSpPr txBox="1"/>
            <p:nvPr/>
          </p:nvSpPr>
          <p:spPr>
            <a:xfrm>
              <a:off x="499110" y="3509010"/>
              <a:ext cx="1546898" cy="225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TEACHER CONTR</a:t>
              </a:r>
              <a:r>
                <a:rPr lang="zh-CN" sz="1200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OL</a:t>
              </a:r>
              <a:endParaRPr lang="zh-CN" sz="1200" b="1" dirty="0">
                <a:solidFill>
                  <a:srgbClr val="1B4B8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31" name="Rectangle 40">
              <a:extLst>
                <a:ext uri="{FF2B5EF4-FFF2-40B4-BE49-F238E27FC236}">
                  <a16:creationId xmlns:a16="http://schemas.microsoft.com/office/drawing/2014/main" id="{4394EC44-1F74-EEEC-5B0F-1CE7F1DA24F8}"/>
                </a:ext>
              </a:extLst>
            </p:cNvPr>
            <p:cNvSpPr/>
            <p:nvPr/>
          </p:nvSpPr>
          <p:spPr>
            <a:xfrm>
              <a:off x="514350" y="3943350"/>
              <a:ext cx="3200400" cy="1200150"/>
            </a:xfrm>
            <a:prstGeom prst="rect">
              <a:avLst/>
            </a:prstGeom>
            <a:solidFill>
              <a:srgbClr val="F2F6FA"/>
            </a:solidFill>
            <a:ln w="19050">
              <a:solidFill>
                <a:srgbClr val="C9D4DF"/>
              </a:solidFill>
            </a:ln>
          </p:spPr>
        </p:sp>
        <p:sp>
          <p:nvSpPr>
            <p:cNvPr id="132" name="TextBox 41">
              <a:extLst>
                <a:ext uri="{FF2B5EF4-FFF2-40B4-BE49-F238E27FC236}">
                  <a16:creationId xmlns:a16="http://schemas.microsoft.com/office/drawing/2014/main" id="{C4AD1AC7-E34B-6E10-E66E-3DE05191882A}"/>
                </a:ext>
              </a:extLst>
            </p:cNvPr>
            <p:cNvSpPr txBox="1"/>
            <p:nvPr/>
          </p:nvSpPr>
          <p:spPr>
            <a:xfrm>
              <a:off x="727710" y="4166235"/>
              <a:ext cx="6185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993A1"/>
                  </a:solidFill>
                  <a:latin typeface="Arial"/>
                  <a:ea typeface="Microsoft YaHei"/>
                  <a:cs typeface="Arial"/>
                </a:rPr>
                <a:t>GLOBAL</a:t>
              </a:r>
            </a:p>
          </p:txBody>
        </p:sp>
        <p:sp>
          <p:nvSpPr>
            <p:cNvPr id="133" name="TextBox 42">
              <a:extLst>
                <a:ext uri="{FF2B5EF4-FFF2-40B4-BE49-F238E27FC236}">
                  <a16:creationId xmlns:a16="http://schemas.microsoft.com/office/drawing/2014/main" id="{B5D83DA3-CB40-AE0A-F136-7D23F520AD85}"/>
                </a:ext>
              </a:extLst>
            </p:cNvPr>
            <p:cNvSpPr txBox="1"/>
            <p:nvPr/>
          </p:nvSpPr>
          <p:spPr>
            <a:xfrm>
              <a:off x="721995" y="446055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课程默认设置</a:t>
              </a:r>
            </a:p>
          </p:txBody>
        </p:sp>
        <p:sp>
          <p:nvSpPr>
            <p:cNvPr id="134" name="TextBox 43">
              <a:extLst>
                <a:ext uri="{FF2B5EF4-FFF2-40B4-BE49-F238E27FC236}">
                  <a16:creationId xmlns:a16="http://schemas.microsoft.com/office/drawing/2014/main" id="{B66053BE-368D-6520-F38D-E7FCA146CBAF}"/>
                </a:ext>
              </a:extLst>
            </p:cNvPr>
            <p:cNvSpPr txBox="1"/>
            <p:nvPr/>
          </p:nvSpPr>
          <p:spPr>
            <a:xfrm>
              <a:off x="728662" y="4793456"/>
              <a:ext cx="13937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开放 Lab · 默认变体</a:t>
              </a:r>
            </a:p>
          </p:txBody>
        </p:sp>
        <p:sp>
          <p:nvSpPr>
            <p:cNvPr id="135" name="Polygon 44">
              <a:extLst>
                <a:ext uri="{FF2B5EF4-FFF2-40B4-BE49-F238E27FC236}">
                  <a16:creationId xmlns:a16="http://schemas.microsoft.com/office/drawing/2014/main" id="{8D0FB1DD-0536-BB10-C545-EAA137BDAA33}"/>
                </a:ext>
              </a:extLst>
            </p:cNvPr>
            <p:cNvSpPr/>
            <p:nvPr/>
          </p:nvSpPr>
          <p:spPr>
            <a:xfrm rot="10800000">
              <a:off x="3886200" y="4429125"/>
              <a:ext cx="209550" cy="228600"/>
            </a:xfrm>
            <a:custGeom>
              <a:avLst/>
              <a:gdLst/>
              <a:ahLst/>
              <a:cxnLst/>
              <a:rect l="l" t="t" r="r" b="b"/>
              <a:pathLst>
                <a:path w="209550" h="228600">
                  <a:moveTo>
                    <a:pt x="0" y="114300"/>
                  </a:moveTo>
                  <a:lnTo>
                    <a:pt x="209550" y="0"/>
                  </a:lnTo>
                  <a:lnTo>
                    <a:pt x="209550" y="228600"/>
                  </a:lnTo>
                  <a:close/>
                </a:path>
              </a:pathLst>
            </a:custGeom>
            <a:solidFill>
              <a:srgbClr val="C9D4DF"/>
            </a:solidFill>
            <a:ln>
              <a:noFill/>
            </a:ln>
          </p:spPr>
        </p:sp>
        <p:sp>
          <p:nvSpPr>
            <p:cNvPr id="136" name="Rectangle 45">
              <a:extLst>
                <a:ext uri="{FF2B5EF4-FFF2-40B4-BE49-F238E27FC236}">
                  <a16:creationId xmlns:a16="http://schemas.microsoft.com/office/drawing/2014/main" id="{7533D2CD-86AD-481D-CF2F-ED9D50F41E90}"/>
                </a:ext>
              </a:extLst>
            </p:cNvPr>
            <p:cNvSpPr/>
            <p:nvPr/>
          </p:nvSpPr>
          <p:spPr>
            <a:xfrm>
              <a:off x="4229100" y="3943350"/>
              <a:ext cx="3200400" cy="1200150"/>
            </a:xfrm>
            <a:prstGeom prst="rect">
              <a:avLst/>
            </a:prstGeom>
            <a:solidFill>
              <a:srgbClr val="F2F6FA"/>
            </a:solidFill>
            <a:ln w="19050">
              <a:solidFill>
                <a:srgbClr val="3E7CB1"/>
              </a:solidFill>
            </a:ln>
          </p:spPr>
        </p:sp>
        <p:sp>
          <p:nvSpPr>
            <p:cNvPr id="137" name="TextBox 46">
              <a:extLst>
                <a:ext uri="{FF2B5EF4-FFF2-40B4-BE49-F238E27FC236}">
                  <a16:creationId xmlns:a16="http://schemas.microsoft.com/office/drawing/2014/main" id="{3C4EA533-F882-CE2C-A24C-ECF46F10023F}"/>
                </a:ext>
              </a:extLst>
            </p:cNvPr>
            <p:cNvSpPr txBox="1"/>
            <p:nvPr/>
          </p:nvSpPr>
          <p:spPr>
            <a:xfrm>
              <a:off x="4442460" y="4166235"/>
              <a:ext cx="492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CLASS</a:t>
              </a:r>
            </a:p>
          </p:txBody>
        </p:sp>
        <p:sp>
          <p:nvSpPr>
            <p:cNvPr id="138" name="TextBox 47">
              <a:extLst>
                <a:ext uri="{FF2B5EF4-FFF2-40B4-BE49-F238E27FC236}">
                  <a16:creationId xmlns:a16="http://schemas.microsoft.com/office/drawing/2014/main" id="{5C6FF127-37A6-E58D-7768-44674D2C0214}"/>
                </a:ext>
              </a:extLst>
            </p:cNvPr>
            <p:cNvSpPr txBox="1"/>
            <p:nvPr/>
          </p:nvSpPr>
          <p:spPr>
            <a:xfrm>
              <a:off x="4436745" y="4460558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班级覆盖</a:t>
              </a:r>
            </a:p>
          </p:txBody>
        </p:sp>
        <p:sp>
          <p:nvSpPr>
            <p:cNvPr id="139" name="TextBox 48">
              <a:extLst>
                <a:ext uri="{FF2B5EF4-FFF2-40B4-BE49-F238E27FC236}">
                  <a16:creationId xmlns:a16="http://schemas.microsoft.com/office/drawing/2014/main" id="{9A3A2561-DFFF-9467-AC72-542251835529}"/>
                </a:ext>
              </a:extLst>
            </p:cNvPr>
            <p:cNvSpPr txBox="1"/>
            <p:nvPr/>
          </p:nvSpPr>
          <p:spPr>
            <a:xfrm>
              <a:off x="4443412" y="4793456"/>
              <a:ext cx="13712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指定 / random 变体</a:t>
              </a:r>
            </a:p>
          </p:txBody>
        </p:sp>
        <p:sp>
          <p:nvSpPr>
            <p:cNvPr id="140" name="Polygon 49">
              <a:extLst>
                <a:ext uri="{FF2B5EF4-FFF2-40B4-BE49-F238E27FC236}">
                  <a16:creationId xmlns:a16="http://schemas.microsoft.com/office/drawing/2014/main" id="{EB73826D-3C9F-26B6-333A-4A45480ECDA1}"/>
                </a:ext>
              </a:extLst>
            </p:cNvPr>
            <p:cNvSpPr/>
            <p:nvPr/>
          </p:nvSpPr>
          <p:spPr>
            <a:xfrm rot="10800000">
              <a:off x="7600950" y="4429125"/>
              <a:ext cx="209550" cy="228600"/>
            </a:xfrm>
            <a:custGeom>
              <a:avLst/>
              <a:gdLst/>
              <a:ahLst/>
              <a:cxnLst/>
              <a:rect l="l" t="t" r="r" b="b"/>
              <a:pathLst>
                <a:path w="209550" h="228600">
                  <a:moveTo>
                    <a:pt x="0" y="114300"/>
                  </a:moveTo>
                  <a:lnTo>
                    <a:pt x="209550" y="0"/>
                  </a:lnTo>
                  <a:lnTo>
                    <a:pt x="209550" y="228600"/>
                  </a:lnTo>
                  <a:close/>
                </a:path>
              </a:pathLst>
            </a:custGeom>
            <a:solidFill>
              <a:srgbClr val="C9D4DF"/>
            </a:solidFill>
            <a:ln>
              <a:noFill/>
            </a:ln>
          </p:spPr>
        </p:sp>
        <p:sp>
          <p:nvSpPr>
            <p:cNvPr id="141" name="Rectangle 50">
              <a:extLst>
                <a:ext uri="{FF2B5EF4-FFF2-40B4-BE49-F238E27FC236}">
                  <a16:creationId xmlns:a16="http://schemas.microsoft.com/office/drawing/2014/main" id="{7C089104-B48F-5764-A883-BB1CDEF6BAF7}"/>
                </a:ext>
              </a:extLst>
            </p:cNvPr>
            <p:cNvSpPr/>
            <p:nvPr/>
          </p:nvSpPr>
          <p:spPr>
            <a:xfrm>
              <a:off x="7943850" y="3943350"/>
              <a:ext cx="3543300" cy="12001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E8842C"/>
              </a:solidFill>
            </a:ln>
          </p:spPr>
        </p:sp>
        <p:sp>
          <p:nvSpPr>
            <p:cNvPr id="142" name="TextBox 51">
              <a:extLst>
                <a:ext uri="{FF2B5EF4-FFF2-40B4-BE49-F238E27FC236}">
                  <a16:creationId xmlns:a16="http://schemas.microsoft.com/office/drawing/2014/main" id="{13F0EE85-D04D-7B51-CB39-D76C6C59BCF6}"/>
                </a:ext>
              </a:extLst>
            </p:cNvPr>
            <p:cNvSpPr txBox="1"/>
            <p:nvPr/>
          </p:nvSpPr>
          <p:spPr>
            <a:xfrm>
              <a:off x="8157210" y="4166235"/>
              <a:ext cx="6773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842C"/>
                  </a:solidFill>
                  <a:latin typeface="Arial"/>
                  <a:ea typeface="Microsoft YaHei"/>
                  <a:cs typeface="Arial"/>
                </a:rPr>
                <a:t>STUDENT</a:t>
              </a:r>
            </a:p>
          </p:txBody>
        </p:sp>
        <p:sp>
          <p:nvSpPr>
            <p:cNvPr id="143" name="TextBox 52">
              <a:extLst>
                <a:ext uri="{FF2B5EF4-FFF2-40B4-BE49-F238E27FC236}">
                  <a16:creationId xmlns:a16="http://schemas.microsoft.com/office/drawing/2014/main" id="{7293D5DC-7FF2-8361-D7F5-36C6427470EE}"/>
                </a:ext>
              </a:extLst>
            </p:cNvPr>
            <p:cNvSpPr txBox="1"/>
            <p:nvPr/>
          </p:nvSpPr>
          <p:spPr>
            <a:xfrm>
              <a:off x="8151495" y="4460558"/>
              <a:ext cx="305683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学生级 assignment 最终生效</a:t>
              </a:r>
            </a:p>
          </p:txBody>
        </p:sp>
        <p:sp>
          <p:nvSpPr>
            <p:cNvPr id="144" name="TextBox 53">
              <a:extLst>
                <a:ext uri="{FF2B5EF4-FFF2-40B4-BE49-F238E27FC236}">
                  <a16:creationId xmlns:a16="http://schemas.microsoft.com/office/drawing/2014/main" id="{17C725EC-F163-4C2C-A18C-CC30F796C188}"/>
                </a:ext>
              </a:extLst>
            </p:cNvPr>
            <p:cNvSpPr txBox="1"/>
            <p:nvPr/>
          </p:nvSpPr>
          <p:spPr>
            <a:xfrm>
              <a:off x="8158162" y="47934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覆盖班级与全局设置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14350" y="381000"/>
              <a:ext cx="800100" cy="762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8155" y="587692"/>
            <a:ext cx="5094343" cy="438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OS Learning</a:t>
            </a:r>
            <a:r>
              <a:rPr lang="zh-CN" altLang="en-US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：统一</a:t>
            </a:r>
            <a:r>
              <a:rPr 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学</a:t>
            </a:r>
            <a:r>
              <a:rPr lang="zh-CN" sz="2850" b="1" dirty="0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生工</a:t>
            </a:r>
            <a:r>
              <a:rPr 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作台</a:t>
            </a:r>
            <a:endParaRPr lang="zh-CN" sz="2850" b="1" dirty="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514350" y="1504950"/>
            <a:ext cx="11163300" cy="4705350"/>
            <a:chOff x="514350" y="1504950"/>
            <a:chExt cx="11163300" cy="4705350"/>
          </a:xfrm>
        </p:grpSpPr>
        <p:sp>
          <p:nvSpPr>
            <p:cNvPr id="8" name="Rectangle 8"/>
            <p:cNvSpPr/>
            <p:nvPr/>
          </p:nvSpPr>
          <p:spPr>
            <a:xfrm>
              <a:off x="514350" y="1504950"/>
              <a:ext cx="11163300" cy="47053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B4B8F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14350" y="1504950"/>
              <a:ext cx="11163300" cy="45720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685800" y="1676400"/>
              <a:ext cx="114300" cy="114300"/>
            </a:xfrm>
            <a:prstGeom prst="ellipse">
              <a:avLst/>
            </a:prstGeom>
            <a:solidFill>
              <a:srgbClr val="C43D3D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895350" y="1676400"/>
              <a:ext cx="114300" cy="114300"/>
            </a:xfrm>
            <a:prstGeom prst="ellipse">
              <a:avLst/>
            </a:prstGeom>
            <a:solidFill>
              <a:srgbClr val="E8842C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104900" y="1676400"/>
              <a:ext cx="114300" cy="114300"/>
            </a:xfrm>
            <a:prstGeom prst="ellipse">
              <a:avLst/>
            </a:prstGeom>
            <a:solidFill>
              <a:srgbClr val="168C5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34465" y="1677352"/>
              <a:ext cx="13718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EVOLVE WORKBENCH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01751" y="1685449"/>
              <a:ext cx="335968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5B6673"/>
                  </a:solidFill>
                  <a:latin typeface="Consolas"/>
                  <a:ea typeface="Microsoft YaHei"/>
                  <a:cs typeface="Consolas"/>
                </a:rPr>
                <a:t>workspace: student/42/lab6 · runId: r-240816-1732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" y="2114550"/>
            <a:ext cx="2000250" cy="3924300"/>
            <a:chOff x="666750" y="2114550"/>
            <a:chExt cx="2000250" cy="3924300"/>
          </a:xfrm>
        </p:grpSpPr>
        <p:sp>
          <p:nvSpPr>
            <p:cNvPr id="16" name="Rectangle 16"/>
            <p:cNvSpPr/>
            <p:nvPr/>
          </p:nvSpPr>
          <p:spPr>
            <a:xfrm>
              <a:off x="666750" y="2114550"/>
              <a:ext cx="2000250" cy="3924300"/>
            </a:xfrm>
            <a:prstGeom prst="rect">
              <a:avLst/>
            </a:prstGeom>
            <a:solidFill>
              <a:srgbClr val="F8FAFC"/>
            </a:solidFill>
            <a:ln w="9525">
              <a:solidFill>
                <a:srgbClr val="C9D4D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910" y="2261235"/>
              <a:ext cx="9125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01 · 读手册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19150" y="2571750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/>
            <a:ln w="9525">
              <a:solidFill>
                <a:srgbClr val="C9D4D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4862" y="2755106"/>
              <a:ext cx="17061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Lab6 · VirtIO 文件系统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5815" y="3058478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目标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5815" y="329660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从内嵌文件走向块设备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5815" y="3696652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检查点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5815" y="3934778"/>
              <a:ext cx="7057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MMIO 映射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5815" y="4172902"/>
              <a:ext cx="8037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fs.img 挂载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5815" y="441102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文件断言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19150" y="5295900"/>
              <a:ext cx="1638300" cy="45720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21068" y="5400199"/>
              <a:ext cx="9933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Scaffold 只加入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1068" y="5571649"/>
              <a:ext cx="1014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当前 Lab 新文件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819400" y="2114550"/>
            <a:ext cx="5467350" cy="2457450"/>
            <a:chOff x="2819400" y="2114550"/>
            <a:chExt cx="5467350" cy="2457450"/>
          </a:xfrm>
        </p:grpSpPr>
        <p:sp>
          <p:nvSpPr>
            <p:cNvPr id="30" name="Rectangle 30"/>
            <p:cNvSpPr/>
            <p:nvPr/>
          </p:nvSpPr>
          <p:spPr>
            <a:xfrm>
              <a:off x="2819400" y="2114550"/>
              <a:ext cx="5467350" cy="24574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4DF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819400" y="2114550"/>
              <a:ext cx="5467350" cy="342900"/>
            </a:xfrm>
            <a:prstGeom prst="rect">
              <a:avLst/>
            </a:prstGeom>
            <a:solidFill>
              <a:srgbClr val="1B4B8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958465" y="2229802"/>
              <a:ext cx="14821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 · 改代码 / Monaco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90596" y="2245995"/>
              <a:ext cx="18170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kernel/src/fs/virtio_block.rs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819400" y="2457450"/>
              <a:ext cx="419100" cy="21145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930700" y="26665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993A1"/>
                  </a:solidFill>
                  <a:latin typeface="Consolas"/>
                  <a:ea typeface="Microsoft YaHei"/>
                  <a:cs typeface="Consolas"/>
                </a:rPr>
                <a:t>41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930700" y="29332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993A1"/>
                  </a:solidFill>
                  <a:latin typeface="Consolas"/>
                  <a:ea typeface="Microsoft YaHei"/>
                  <a:cs typeface="Consolas"/>
                </a:rPr>
                <a:t>42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930700" y="31999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993A1"/>
                  </a:solidFill>
                  <a:latin typeface="Consolas"/>
                  <a:ea typeface="Microsoft YaHei"/>
                  <a:cs typeface="Consolas"/>
                </a:rPr>
                <a:t>43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930700" y="3466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993A1"/>
                  </a:solidFill>
                  <a:latin typeface="Consolas"/>
                  <a:ea typeface="Microsoft YaHei"/>
                  <a:cs typeface="Consolas"/>
                </a:rPr>
                <a:t>44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395662" y="2650331"/>
              <a:ext cx="39365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B4B8F"/>
                  </a:solidFill>
                  <a:latin typeface="Consolas"/>
                  <a:ea typeface="Microsoft YaHei"/>
                  <a:cs typeface="Consolas"/>
                </a:rPr>
                <a:t>pub fn read_block(block_id: usize, buf: &amp;mut [u8]) {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86162" y="2917031"/>
              <a:ext cx="32539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A37"/>
                  </a:solidFill>
                  <a:latin typeface="Consolas"/>
                  <a:ea typeface="Microsoft YaHei"/>
                  <a:cs typeface="Consolas"/>
                </a:rPr>
                <a:t>let sector = block_id * SECTORS_PER_BLOCK;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333750" y="3162300"/>
              <a:ext cx="4667250" cy="26670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586162" y="3231356"/>
              <a:ext cx="26764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43D3D"/>
                  </a:solidFill>
                  <a:latin typeface="Consolas"/>
                  <a:ea typeface="Microsoft YaHei"/>
                  <a:cs typeface="Consolas"/>
                </a:rPr>
                <a:t>device.read_sector(sector, buf)?;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395662" y="3498056"/>
              <a:ext cx="1110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B4B8F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397568" y="4047649"/>
              <a:ext cx="24365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当前文件 hash 与 Scaffold 基线持续比较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2819400" y="4724400"/>
            <a:ext cx="5467350" cy="1314450"/>
            <a:chOff x="2819400" y="4724400"/>
            <a:chExt cx="5467350" cy="1314450"/>
          </a:xfrm>
        </p:grpSpPr>
        <p:sp>
          <p:nvSpPr>
            <p:cNvPr id="46" name="Rectangle 46"/>
            <p:cNvSpPr/>
            <p:nvPr/>
          </p:nvSpPr>
          <p:spPr>
            <a:xfrm>
              <a:off x="2819400" y="4724400"/>
              <a:ext cx="5467350" cy="1314450"/>
            </a:xfrm>
            <a:prstGeom prst="rect">
              <a:avLst/>
            </a:prstGeom>
            <a:solidFill>
              <a:srgbClr val="1F2A3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958465" y="4858702"/>
              <a:ext cx="17688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 · 跑 Recipe / Terminal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958465" y="5134928"/>
              <a:ext cx="11818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FE7EF"/>
                  </a:solidFill>
                  <a:latin typeface="Consolas"/>
                  <a:ea typeface="Microsoft YaHei"/>
                  <a:cs typeface="Consolas"/>
                </a:rPr>
                <a:t>$ make test-lab6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958465" y="5392102"/>
              <a:ext cx="28690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68C5A"/>
                  </a:solidFill>
                  <a:latin typeface="Consolas"/>
                  <a:ea typeface="Microsoft YaHei"/>
                  <a:cs typeface="Consolas"/>
                </a:rPr>
                <a:t>PASS fs_create · PASS mmap · PASS spawn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958465" y="5649278"/>
              <a:ext cx="33450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FE7EF"/>
                  </a:solidFill>
                  <a:latin typeface="Consolas"/>
                  <a:ea typeface="Microsoft YaHei"/>
                  <a:cs typeface="Consolas"/>
                </a:rPr>
                <a:t>TRACE_V1 qemu_exit=success · assertions=12/12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439150" y="2114550"/>
            <a:ext cx="3086100" cy="3924300"/>
            <a:chOff x="8439150" y="2114550"/>
            <a:chExt cx="3086100" cy="3924300"/>
          </a:xfrm>
        </p:grpSpPr>
        <p:sp>
          <p:nvSpPr>
            <p:cNvPr id="52" name="Rectangle 52"/>
            <p:cNvSpPr/>
            <p:nvPr/>
          </p:nvSpPr>
          <p:spPr>
            <a:xfrm>
              <a:off x="8439150" y="2114550"/>
              <a:ext cx="3086100" cy="1162050"/>
            </a:xfrm>
            <a:prstGeom prst="rect">
              <a:avLst/>
            </a:prstGeom>
            <a:solidFill>
              <a:srgbClr val="F8FAFC"/>
            </a:solidFill>
            <a:ln w="9525">
              <a:solidFill>
                <a:srgbClr val="C9D4D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578215" y="2258378"/>
              <a:ext cx="11881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04 · 查 Problems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78215" y="2534602"/>
              <a:ext cx="12728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43D3D"/>
                  </a:solidFill>
                  <a:latin typeface="Arial"/>
                  <a:ea typeface="Microsoft YaHei"/>
                  <a:cs typeface="Arial"/>
                </a:rPr>
                <a:t>E0308 · 类型不匹配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580120" y="2798445"/>
              <a:ext cx="13190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673"/>
                  </a:solidFill>
                  <a:latin typeface="Consolas"/>
                  <a:ea typeface="Microsoft YaHei"/>
                  <a:cs typeface="Consolas"/>
                </a:rPr>
                <a:t>virtio_block.rs:43:18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80120" y="3017520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点击回跳源码位置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439150" y="3429000"/>
              <a:ext cx="3086100" cy="1504950"/>
            </a:xfrm>
            <a:prstGeom prst="rect">
              <a:avLst/>
            </a:prstGeom>
            <a:solidFill>
              <a:srgbClr val="F2F6FA"/>
            </a:solidFill>
            <a:ln w="9525">
              <a:solidFill>
                <a:srgbClr val="C9D4DF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578215" y="3591878"/>
              <a:ext cx="9528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05 · 问 Tutor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578215" y="3877628"/>
              <a:ext cx="21619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“先比较 expected 与 observed。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578215" y="4106228"/>
              <a:ext cx="21479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你的 MMIO 映射发生在页表激活前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78215" y="4334828"/>
              <a:ext cx="8037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还是之后？”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580120" y="4665345"/>
              <a:ext cx="20211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673"/>
                  </a:solidFill>
                  <a:latin typeface="Consolas"/>
                  <a:ea typeface="Microsoft YaHei"/>
                  <a:cs typeface="Consolas"/>
                </a:rPr>
                <a:t>refs: run:... · diag:... · kb:...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439150" y="5086350"/>
              <a:ext cx="3086100" cy="952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168C5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578215" y="5249228"/>
              <a:ext cx="1420261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68C5A"/>
                  </a:solidFill>
                  <a:latin typeface="Arial"/>
                  <a:ea typeface="Microsoft YaHei"/>
                  <a:cs typeface="Arial"/>
                </a:rPr>
                <a:t>06 · 复</a:t>
              </a:r>
              <a:r>
                <a:rPr lang="zh-CN" sz="1050" b="1">
                  <a:solidFill>
                    <a:srgbClr val="168C5A"/>
                  </a:solidFill>
                  <a:latin typeface="Arial"/>
                  <a:ea typeface="Microsoft YaHei"/>
                  <a:cs typeface="Arial"/>
                </a:rPr>
                <a:t>验 </a:t>
              </a:r>
              <a:r>
                <a:rPr lang="en-US" altLang="zh-CN" sz="1050" b="1">
                  <a:solidFill>
                    <a:srgbClr val="168C5A"/>
                  </a:solidFill>
                  <a:latin typeface="Arial"/>
                  <a:ea typeface="Microsoft YaHei"/>
                  <a:cs typeface="Arial"/>
                </a:rPr>
                <a:t>&amp;</a:t>
              </a:r>
              <a:r>
                <a:rPr lang="zh-CN" sz="1050" b="1">
                  <a:solidFill>
                    <a:srgbClr val="168C5A"/>
                  </a:solidFill>
                  <a:latin typeface="Arial"/>
                  <a:ea typeface="Microsoft YaHei"/>
                  <a:cs typeface="Arial"/>
                </a:rPr>
                <a:t> 报告</a:t>
              </a:r>
              <a:r>
                <a:rPr lang="en-US" altLang="zh-CN" sz="1050" b="1">
                  <a:solidFill>
                    <a:srgbClr val="168C5A"/>
                  </a:solidFill>
                  <a:latin typeface="Arial"/>
                  <a:ea typeface="Microsoft YaHei"/>
                  <a:cs typeface="Arial"/>
                </a:rPr>
                <a:t> &amp; </a:t>
              </a:r>
              <a:r>
                <a:rPr lang="zh-CN" altLang="en-US" sz="1050" b="1">
                  <a:solidFill>
                    <a:srgbClr val="168C5A"/>
                  </a:solidFill>
                  <a:latin typeface="Arial"/>
                  <a:ea typeface="Microsoft YaHei"/>
                  <a:cs typeface="Arial"/>
                </a:rPr>
                <a:t>评分</a:t>
              </a:r>
              <a:endParaRPr lang="zh-CN" sz="1050" b="1" dirty="0">
                <a:solidFill>
                  <a:srgbClr val="168C5A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578215" y="5515928"/>
              <a:ext cx="209191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基于实验过程中行为进行复盘提问</a:t>
              </a:r>
              <a:endParaRPr lang="zh-CN" sz="1050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579168" y="5762149"/>
              <a:ext cx="1500411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975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基于预设报告模板进行填写</a:t>
              </a:r>
              <a:endParaRPr lang="zh-CN" sz="975" dirty="0">
                <a:solidFill>
                  <a:srgbClr val="5B6673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560841" y="6570345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1</a:t>
            </a:r>
            <a:r>
              <a:rPr lang="en-US" alt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2</a:t>
            </a:r>
            <a:endParaRPr lang="zh-CN" sz="900" dirty="0">
              <a:solidFill>
                <a:srgbClr val="8993A1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0CD48-B1FD-474B-7F33-CC99B2042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D4AF532C-4956-6ACE-759A-EC6203844AD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94669017-5935-59EE-EA08-401D496A298B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5E1AEFDF-701B-82EB-5CEA-9623AE055BC5}"/>
                </a:ext>
              </a:extLst>
            </p:cNvPr>
            <p:cNvSpPr/>
            <p:nvPr/>
          </p:nvSpPr>
          <p:spPr>
            <a:xfrm>
              <a:off x="514350" y="381000"/>
              <a:ext cx="800100" cy="762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8C2F18D3-E1F1-D20D-FC84-288CDFCE89E8}"/>
              </a:ext>
            </a:extLst>
          </p:cNvPr>
          <p:cNvSpPr txBox="1"/>
          <p:nvPr/>
        </p:nvSpPr>
        <p:spPr>
          <a:xfrm>
            <a:off x="478155" y="587692"/>
            <a:ext cx="5094343" cy="438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OS Learning</a:t>
            </a:r>
            <a:r>
              <a:rPr lang="zh-CN" altLang="en-US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：统一</a:t>
            </a:r>
            <a:r>
              <a:rPr 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学</a:t>
            </a:r>
            <a:r>
              <a:rPr lang="zh-CN" sz="2850" b="1" dirty="0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生工</a:t>
            </a:r>
            <a:r>
              <a:rPr 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作台</a:t>
            </a:r>
            <a:endParaRPr lang="zh-CN" sz="2850" b="1" dirty="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3381D25D-FCAA-CB39-FA4B-3EF30662ACE4}"/>
              </a:ext>
            </a:extLst>
          </p:cNvPr>
          <p:cNvSpPr txBox="1"/>
          <p:nvPr/>
        </p:nvSpPr>
        <p:spPr>
          <a:xfrm>
            <a:off x="11560841" y="6570345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1</a:t>
            </a:r>
            <a:r>
              <a:rPr lang="en-US" alt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3</a:t>
            </a:r>
            <a:endParaRPr lang="zh-CN" sz="900" dirty="0">
              <a:solidFill>
                <a:srgbClr val="8993A1"/>
              </a:solidFill>
              <a:latin typeface="Arial"/>
              <a:ea typeface="Microsoft YaHei"/>
              <a:cs typeface="Arial"/>
            </a:endParaRPr>
          </a:p>
        </p:txBody>
      </p:sp>
      <p:pic>
        <p:nvPicPr>
          <p:cNvPr id="68" name="图片 67">
            <a:extLst>
              <a:ext uri="{FF2B5EF4-FFF2-40B4-BE49-F238E27FC236}">
                <a16:creationId xmlns:a16="http://schemas.microsoft.com/office/drawing/2014/main" id="{D3593593-64CB-B8FB-3095-72A5242DE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122" y="1026274"/>
            <a:ext cx="9999755" cy="574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070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14350" y="381000"/>
              <a:ext cx="800100" cy="762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8155" y="587692"/>
            <a:ext cx="6278001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EVOL</a:t>
            </a:r>
            <a:r>
              <a:rPr lang="en-US" altLang="zh-CN" sz="3600" b="1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ea typeface="Microsoft YaHei"/>
                <a:cs typeface="Arial"/>
              </a:rPr>
              <a:t>V</a:t>
            </a:r>
            <a:r>
              <a:rPr lang="zh-CN" sz="3600" b="1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ea typeface="Microsoft YaHei"/>
                <a:cs typeface="Arial"/>
              </a:rPr>
              <a:t>E</a:t>
            </a:r>
            <a:r>
              <a:rPr lang="zh-CN" altLang="en-US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：</a:t>
            </a:r>
            <a:r>
              <a:rPr 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V</a:t>
            </a:r>
            <a:r>
              <a:rPr lang="zh-CN" sz="2850" b="1" dirty="0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erification Environme</a:t>
            </a:r>
            <a:r>
              <a:rPr 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nt</a:t>
            </a:r>
            <a:endParaRPr lang="zh-CN" sz="2850" b="1" dirty="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409575" y="2919412"/>
            <a:ext cx="1781175" cy="2206258"/>
            <a:chOff x="409575" y="2919412"/>
            <a:chExt cx="1781175" cy="2206258"/>
          </a:xfrm>
        </p:grpSpPr>
        <p:sp>
          <p:nvSpPr>
            <p:cNvPr id="8" name="TextBox 8"/>
            <p:cNvSpPr txBox="1"/>
            <p:nvPr/>
          </p:nvSpPr>
          <p:spPr>
            <a:xfrm>
              <a:off x="409575" y="2919412"/>
              <a:ext cx="1480209" cy="1676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VE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33400" y="4076700"/>
              <a:ext cx="1657350" cy="9525"/>
            </a:xfrm>
            <a:custGeom>
              <a:avLst/>
              <a:gdLst/>
              <a:ahLst/>
              <a:cxnLst/>
              <a:rect l="l" t="t" r="r" b="b"/>
              <a:pathLst>
                <a:path w="1657350" h="9525">
                  <a:moveTo>
                    <a:pt x="0" y="0"/>
                  </a:moveTo>
                  <a:lnTo>
                    <a:pt x="1657350" y="0"/>
                  </a:lnTo>
                </a:path>
              </a:pathLst>
            </a:custGeom>
            <a:noFill/>
            <a:ln w="19050">
              <a:solidFill>
                <a:srgbClr val="1B4B8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16255" y="4311968"/>
              <a:ext cx="11400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Verification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6255" y="45596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Environment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6730" y="4802505"/>
              <a:ext cx="1615827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100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可信</a:t>
              </a:r>
              <a:r>
                <a:rPr lang="zh-CN" sz="2100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验</a:t>
              </a:r>
              <a:r>
                <a:rPr lang="zh-CN" sz="210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证环境</a:t>
              </a: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3A5CF11F-E90D-814B-711A-D3138CC018FD}"/>
              </a:ext>
            </a:extLst>
          </p:cNvPr>
          <p:cNvGrpSpPr/>
          <p:nvPr/>
        </p:nvGrpSpPr>
        <p:grpSpPr>
          <a:xfrm>
            <a:off x="3141497" y="1533525"/>
            <a:ext cx="8246429" cy="3640455"/>
            <a:chOff x="3429000" y="1533525"/>
            <a:chExt cx="6919722" cy="2619375"/>
          </a:xfrm>
        </p:grpSpPr>
        <p:grpSp>
          <p:nvGrpSpPr>
            <p:cNvPr id="18" name="Group 18"/>
            <p:cNvGrpSpPr/>
            <p:nvPr/>
          </p:nvGrpSpPr>
          <p:grpSpPr>
            <a:xfrm>
              <a:off x="3429000" y="1533525"/>
              <a:ext cx="6919722" cy="790575"/>
              <a:chOff x="3429000" y="1533525"/>
              <a:chExt cx="6919722" cy="790575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429000" y="1581150"/>
                <a:ext cx="114300" cy="114300"/>
              </a:xfrm>
              <a:prstGeom prst="rect">
                <a:avLst/>
              </a:prstGeom>
              <a:solidFill>
                <a:srgbClr val="E8842C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3657600" y="1533525"/>
                <a:ext cx="1658518" cy="166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① </a:t>
                </a:r>
                <a:r>
                  <a:rPr lang="zh-CN" sz="1500" b="1" dirty="0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可信验证、受控断言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661410" y="1851660"/>
                <a:ext cx="668731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A37"/>
                    </a:solidFill>
                    <a:latin typeface="Arial"/>
                    <a:ea typeface="Microsoft YaHei"/>
                    <a:cs typeface="Arial"/>
                  </a:rPr>
                  <a:t>verified = trusted + 退出码 0 + 断言非空且全部通过；运行不经 shell、只允许白名单程序，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661410" y="2080260"/>
                <a:ext cx="590321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A37"/>
                    </a:solidFill>
                    <a:latin typeface="Arial"/>
                    <a:ea typeface="Microsoft YaHei"/>
                    <a:cs typeface="Arial"/>
                  </a:rPr>
                  <a:t>行为断言、Trace 机器帧与 SHA-256 制品哈希把"运行过"提升为"可信验证通过"。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3429000" y="2447925"/>
              <a:ext cx="4639437" cy="790575"/>
              <a:chOff x="3429000" y="2447925"/>
              <a:chExt cx="4639437" cy="790575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429000" y="2495550"/>
                <a:ext cx="114300" cy="114300"/>
              </a:xfrm>
              <a:prstGeom prst="rect">
                <a:avLst/>
              </a:prstGeom>
              <a:solidFill>
                <a:srgbClr val="E8842C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657600" y="2447925"/>
                <a:ext cx="1896010" cy="166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② </a:t>
                </a:r>
                <a:r>
                  <a:rPr lang="zh-CN" sz="1500" b="1" dirty="0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Agent Server 协作学习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661410" y="2766060"/>
                <a:ext cx="3431961" cy="1328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>
                    <a:solidFill>
                      <a:srgbClr val="1F2A37"/>
                    </a:solidFill>
                    <a:latin typeface="Arial"/>
                    <a:ea typeface="Microsoft YaHei"/>
                    <a:cs typeface="Arial"/>
                  </a:rPr>
                  <a:t>T</a:t>
                </a:r>
                <a:r>
                  <a:rPr lang="zh-CN" sz="1200" dirty="0">
                    <a:solidFill>
                      <a:srgbClr val="1F2A37"/>
                    </a:solidFill>
                    <a:latin typeface="Arial"/>
                    <a:ea typeface="Microsoft YaHei"/>
                    <a:cs typeface="Arial"/>
                  </a:rPr>
                  <a:t>uto</a:t>
                </a:r>
                <a:r>
                  <a:rPr lang="zh-CN" sz="1200">
                    <a:solidFill>
                      <a:srgbClr val="1F2A37"/>
                    </a:solidFill>
                    <a:latin typeface="Arial"/>
                    <a:ea typeface="Microsoft YaHei"/>
                    <a:cs typeface="Arial"/>
                  </a:rPr>
                  <a:t>r </a:t>
                </a:r>
                <a:r>
                  <a:rPr lang="zh-CN" altLang="en-US" sz="1200">
                    <a:solidFill>
                      <a:srgbClr val="1F2A37"/>
                    </a:solidFill>
                    <a:latin typeface="Arial"/>
                    <a:ea typeface="Microsoft YaHei"/>
                    <a:cs typeface="Arial"/>
                  </a:rPr>
                  <a:t>引导办学，拒绝直接给出答案，而是引导学生深入思考</a:t>
                </a:r>
                <a:endParaRPr lang="zh-CN" sz="1200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661410" y="2994660"/>
                <a:ext cx="440702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A37"/>
                    </a:solidFill>
                    <a:latin typeface="Arial"/>
                    <a:ea typeface="Microsoft YaHei"/>
                    <a:cs typeface="Arial"/>
                  </a:rPr>
                  <a:t>Assessment 依证据评分，双 Agent 协同完成苏格拉底复盘。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3429000" y="3362325"/>
              <a:ext cx="6023610" cy="790575"/>
              <a:chOff x="3429000" y="3362325"/>
              <a:chExt cx="6023610" cy="79057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429000" y="3409950"/>
                <a:ext cx="114300" cy="114300"/>
              </a:xfrm>
              <a:prstGeom prst="rect">
                <a:avLst/>
              </a:prstGeom>
              <a:solidFill>
                <a:srgbClr val="E8842C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657600" y="3362325"/>
                <a:ext cx="1012867" cy="166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③ </a:t>
                </a:r>
                <a:r>
                  <a:rPr lang="zh-CN" sz="1500" b="1" dirty="0">
                    <a:solidFill>
                      <a:srgbClr val="1B4B8F"/>
                    </a:solidFill>
                    <a:latin typeface="Arial"/>
                    <a:ea typeface="Microsoft YaHei"/>
                    <a:cs typeface="Arial"/>
                  </a:rPr>
                  <a:t>证据即边界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661410" y="3680460"/>
                <a:ext cx="57912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A37"/>
                    </a:solidFill>
                    <a:latin typeface="Arial"/>
                    <a:ea typeface="Microsoft YaHei"/>
                    <a:cs typeface="Arial"/>
                  </a:rPr>
                  <a:t>模型不得声称执行过不存在的运行；引用必须命中证据白名单；口头解释永远不能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661410" y="3909060"/>
                <a:ext cx="331889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A37"/>
                    </a:solidFill>
                    <a:latin typeface="Arial"/>
                    <a:ea typeface="Microsoft YaHei"/>
                    <a:cs typeface="Arial"/>
                  </a:rPr>
                  <a:t>覆盖可信运行——这是 AI 协作学习的安全底座。</a:t>
                </a:r>
              </a:p>
            </p:txBody>
          </p:sp>
        </p:grpSp>
      </p:grpSp>
      <p:grpSp>
        <p:nvGrpSpPr>
          <p:cNvPr id="45" name="Group 45"/>
          <p:cNvGrpSpPr/>
          <p:nvPr/>
        </p:nvGrpSpPr>
        <p:grpSpPr>
          <a:xfrm>
            <a:off x="514350" y="5543550"/>
            <a:ext cx="11163300" cy="566841"/>
            <a:chOff x="514350" y="5543550"/>
            <a:chExt cx="11163300" cy="566841"/>
          </a:xfrm>
        </p:grpSpPr>
        <p:sp>
          <p:nvSpPr>
            <p:cNvPr id="30" name="Line 30"/>
            <p:cNvSpPr/>
            <p:nvPr/>
          </p:nvSpPr>
          <p:spPr>
            <a:xfrm>
              <a:off x="514350" y="5543550"/>
              <a:ext cx="11163300" cy="9525"/>
            </a:xfrm>
            <a:custGeom>
              <a:avLst/>
              <a:gdLst/>
              <a:ahLst/>
              <a:cxnLst/>
              <a:rect l="l" t="t" r="r" b="b"/>
              <a:pathLst>
                <a:path w="11163300" h="9525">
                  <a:moveTo>
                    <a:pt x="0" y="0"/>
                  </a:moveTo>
                  <a:lnTo>
                    <a:pt x="11163300" y="0"/>
                  </a:lnTo>
                </a:path>
              </a:pathLst>
            </a:custGeom>
            <a:noFill/>
            <a:ln w="19050">
              <a:solidFill>
                <a:srgbClr val="DFE7E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516505" y="5902642"/>
              <a:ext cx="65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350" dirty="0">
                <a:solidFill>
                  <a:srgbClr val="8993A1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07255" y="5902642"/>
              <a:ext cx="65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350" dirty="0">
                <a:solidFill>
                  <a:srgbClr val="8993A1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88755" y="5902642"/>
              <a:ext cx="65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350" dirty="0">
                <a:solidFill>
                  <a:srgbClr val="8993A1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1560841" y="6570345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1</a:t>
            </a:r>
            <a:r>
              <a:rPr lang="en-US" alt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4</a:t>
            </a:r>
            <a:endParaRPr lang="zh-CN" sz="900" dirty="0">
              <a:solidFill>
                <a:srgbClr val="8993A1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14350" y="381000"/>
              <a:ext cx="800100" cy="762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8155" y="587692"/>
            <a:ext cx="5431743" cy="438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Verification Env</a:t>
            </a:r>
            <a:r>
              <a:rPr lang="en-US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.</a:t>
            </a:r>
            <a:r>
              <a:rPr lang="zh-CN" altLang="en-US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：证据与数据流</a:t>
            </a:r>
            <a:endParaRPr lang="zh-CN" sz="2850" b="1" dirty="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514350" y="1504950"/>
            <a:ext cx="7524750" cy="5019675"/>
            <a:chOff x="514350" y="1504950"/>
            <a:chExt cx="7524750" cy="5019675"/>
          </a:xfrm>
        </p:grpSpPr>
        <p:sp>
          <p:nvSpPr>
            <p:cNvPr id="8" name="Rectangle 8"/>
            <p:cNvSpPr/>
            <p:nvPr/>
          </p:nvSpPr>
          <p:spPr>
            <a:xfrm>
              <a:off x="514350" y="1504950"/>
              <a:ext cx="7524750" cy="5019675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C9D4DF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3406" y="1571625"/>
              <a:ext cx="7386638" cy="4924425"/>
            </a:xfrm>
            <a:prstGeom prst="rect">
              <a:avLst/>
            </a:prstGeom>
          </p:spPr>
        </p:pic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91C618EF-F544-337E-ABF4-CC62DD8290B2}"/>
              </a:ext>
            </a:extLst>
          </p:cNvPr>
          <p:cNvGrpSpPr/>
          <p:nvPr/>
        </p:nvGrpSpPr>
        <p:grpSpPr>
          <a:xfrm>
            <a:off x="8286750" y="1504950"/>
            <a:ext cx="3390900" cy="1257300"/>
            <a:chOff x="8286750" y="1504950"/>
            <a:chExt cx="3390900" cy="1257300"/>
          </a:xfrm>
        </p:grpSpPr>
        <p:sp>
          <p:nvSpPr>
            <p:cNvPr id="11" name="Rectangle 11"/>
            <p:cNvSpPr/>
            <p:nvPr/>
          </p:nvSpPr>
          <p:spPr>
            <a:xfrm>
              <a:off x="8286750" y="1504950"/>
              <a:ext cx="3390900" cy="1257300"/>
            </a:xfrm>
            <a:prstGeom prst="rect">
              <a:avLst/>
            </a:prstGeom>
            <a:solidFill>
              <a:srgbClr val="558ED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94395" y="1984058"/>
              <a:ext cx="102592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000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可信验证</a:t>
              </a:r>
              <a:endParaRPr lang="zh-CN" sz="2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02015" y="2344102"/>
              <a:ext cx="27150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objective · passCriteria · evidenceRefs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498205" y="6096952"/>
            <a:ext cx="2302574" cy="451486"/>
            <a:chOff x="8498205" y="6096952"/>
            <a:chExt cx="2302574" cy="451486"/>
          </a:xfrm>
        </p:grpSpPr>
        <p:sp>
          <p:nvSpPr>
            <p:cNvPr id="26" name="TextBox 26"/>
            <p:cNvSpPr txBox="1"/>
            <p:nvPr/>
          </p:nvSpPr>
          <p:spPr>
            <a:xfrm>
              <a:off x="8502015" y="6096952"/>
              <a:ext cx="12983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HUMAN IN CONTROL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98205" y="6274118"/>
              <a:ext cx="23025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教师保留最终判断与反馈权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560841" y="6627495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15</a:t>
            </a:r>
            <a:endParaRPr lang="zh-CN" sz="900" dirty="0">
              <a:solidFill>
                <a:srgbClr val="8993A1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63FA269-E232-C24C-70BA-93F5DFF53F37}"/>
              </a:ext>
            </a:extLst>
          </p:cNvPr>
          <p:cNvSpPr/>
          <p:nvPr/>
        </p:nvSpPr>
        <p:spPr>
          <a:xfrm>
            <a:off x="952728" y="1943100"/>
            <a:ext cx="4511770" cy="2228850"/>
          </a:xfrm>
          <a:custGeom>
            <a:avLst/>
            <a:gdLst>
              <a:gd name="csX0" fmla="*/ 0 w 4511770"/>
              <a:gd name="csY0" fmla="*/ 0 h 2228850"/>
              <a:gd name="csX1" fmla="*/ 4511770 w 4511770"/>
              <a:gd name="csY1" fmla="*/ 0 h 2228850"/>
              <a:gd name="csX2" fmla="*/ 4511770 w 4511770"/>
              <a:gd name="csY2" fmla="*/ 2228850 h 2228850"/>
              <a:gd name="csX3" fmla="*/ 0 w 4511770"/>
              <a:gd name="csY3" fmla="*/ 2228850 h 2228850"/>
              <a:gd name="csX4" fmla="*/ 0 w 4511770"/>
              <a:gd name="csY4" fmla="*/ 0 h 22288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11770" h="2228850" extrusionOk="0">
                <a:moveTo>
                  <a:pt x="0" y="0"/>
                </a:moveTo>
                <a:cubicBezTo>
                  <a:pt x="623789" y="-157583"/>
                  <a:pt x="2312742" y="59829"/>
                  <a:pt x="4511770" y="0"/>
                </a:cubicBezTo>
                <a:cubicBezTo>
                  <a:pt x="4646088" y="528199"/>
                  <a:pt x="4460872" y="1245460"/>
                  <a:pt x="4511770" y="2228850"/>
                </a:cubicBezTo>
                <a:cubicBezTo>
                  <a:pt x="3669084" y="2374130"/>
                  <a:pt x="1589039" y="2300591"/>
                  <a:pt x="0" y="2228850"/>
                </a:cubicBezTo>
                <a:cubicBezTo>
                  <a:pt x="29969" y="1546072"/>
                  <a:pt x="-93015" y="539738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tx2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406077822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CAB77CE-A5CB-D1FE-F6C1-67798B0A7E81}"/>
              </a:ext>
            </a:extLst>
          </p:cNvPr>
          <p:cNvSpPr/>
          <p:nvPr/>
        </p:nvSpPr>
        <p:spPr>
          <a:xfrm>
            <a:off x="3296220" y="4922429"/>
            <a:ext cx="1478372" cy="574922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8FE7F78-48EF-E889-ECB9-382E5FA4777C}"/>
              </a:ext>
            </a:extLst>
          </p:cNvPr>
          <p:cNvSpPr/>
          <p:nvPr/>
        </p:nvSpPr>
        <p:spPr>
          <a:xfrm>
            <a:off x="5628762" y="4324350"/>
            <a:ext cx="1659061" cy="882802"/>
          </a:xfrm>
          <a:custGeom>
            <a:avLst/>
            <a:gdLst>
              <a:gd name="csX0" fmla="*/ 0 w 1659061"/>
              <a:gd name="csY0" fmla="*/ 0 h 882802"/>
              <a:gd name="csX1" fmla="*/ 519839 w 1659061"/>
              <a:gd name="csY1" fmla="*/ 0 h 882802"/>
              <a:gd name="csX2" fmla="*/ 1056269 w 1659061"/>
              <a:gd name="csY2" fmla="*/ 0 h 882802"/>
              <a:gd name="csX3" fmla="*/ 1659061 w 1659061"/>
              <a:gd name="csY3" fmla="*/ 0 h 882802"/>
              <a:gd name="csX4" fmla="*/ 1659061 w 1659061"/>
              <a:gd name="csY4" fmla="*/ 459057 h 882802"/>
              <a:gd name="csX5" fmla="*/ 1659061 w 1659061"/>
              <a:gd name="csY5" fmla="*/ 882802 h 882802"/>
              <a:gd name="csX6" fmla="*/ 1139222 w 1659061"/>
              <a:gd name="csY6" fmla="*/ 882802 h 882802"/>
              <a:gd name="csX7" fmla="*/ 586202 w 1659061"/>
              <a:gd name="csY7" fmla="*/ 882802 h 882802"/>
              <a:gd name="csX8" fmla="*/ 0 w 1659061"/>
              <a:gd name="csY8" fmla="*/ 882802 h 882802"/>
              <a:gd name="csX9" fmla="*/ 0 w 1659061"/>
              <a:gd name="csY9" fmla="*/ 423745 h 882802"/>
              <a:gd name="csX10" fmla="*/ 0 w 1659061"/>
              <a:gd name="csY10" fmla="*/ 0 h 8828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659061" h="882802" extrusionOk="0">
                <a:moveTo>
                  <a:pt x="0" y="0"/>
                </a:moveTo>
                <a:cubicBezTo>
                  <a:pt x="159035" y="-31431"/>
                  <a:pt x="400814" y="46866"/>
                  <a:pt x="519839" y="0"/>
                </a:cubicBezTo>
                <a:cubicBezTo>
                  <a:pt x="638864" y="-46866"/>
                  <a:pt x="924575" y="14528"/>
                  <a:pt x="1056269" y="0"/>
                </a:cubicBezTo>
                <a:cubicBezTo>
                  <a:pt x="1187963" y="-14528"/>
                  <a:pt x="1518939" y="48568"/>
                  <a:pt x="1659061" y="0"/>
                </a:cubicBezTo>
                <a:cubicBezTo>
                  <a:pt x="1659157" y="96995"/>
                  <a:pt x="1654202" y="345788"/>
                  <a:pt x="1659061" y="459057"/>
                </a:cubicBezTo>
                <a:cubicBezTo>
                  <a:pt x="1663920" y="572326"/>
                  <a:pt x="1644674" y="718802"/>
                  <a:pt x="1659061" y="882802"/>
                </a:cubicBezTo>
                <a:cubicBezTo>
                  <a:pt x="1455594" y="908158"/>
                  <a:pt x="1350425" y="825334"/>
                  <a:pt x="1139222" y="882802"/>
                </a:cubicBezTo>
                <a:cubicBezTo>
                  <a:pt x="928019" y="940270"/>
                  <a:pt x="703863" y="816754"/>
                  <a:pt x="586202" y="882802"/>
                </a:cubicBezTo>
                <a:cubicBezTo>
                  <a:pt x="468541" y="948850"/>
                  <a:pt x="124003" y="830780"/>
                  <a:pt x="0" y="882802"/>
                </a:cubicBezTo>
                <a:cubicBezTo>
                  <a:pt x="-24413" y="717437"/>
                  <a:pt x="49121" y="520333"/>
                  <a:pt x="0" y="423745"/>
                </a:cubicBezTo>
                <a:cubicBezTo>
                  <a:pt x="-49121" y="327157"/>
                  <a:pt x="46259" y="129433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accent3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411607019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D6387E1-3CE7-C96C-63CC-7F7EA0B59C6D}"/>
              </a:ext>
            </a:extLst>
          </p:cNvPr>
          <p:cNvGrpSpPr/>
          <p:nvPr/>
        </p:nvGrpSpPr>
        <p:grpSpPr>
          <a:xfrm>
            <a:off x="8286750" y="3163252"/>
            <a:ext cx="3390900" cy="1257300"/>
            <a:chOff x="8286750" y="1504950"/>
            <a:chExt cx="3390900" cy="1257300"/>
          </a:xfrm>
          <a:solidFill>
            <a:srgbClr val="4F6228"/>
          </a:solidFill>
        </p:grpSpPr>
        <p:sp>
          <p:nvSpPr>
            <p:cNvPr id="37" name="Rectangle 11">
              <a:extLst>
                <a:ext uri="{FF2B5EF4-FFF2-40B4-BE49-F238E27FC236}">
                  <a16:creationId xmlns:a16="http://schemas.microsoft.com/office/drawing/2014/main" id="{C0865F6E-B38A-7DA7-6221-C6ABBA570474}"/>
                </a:ext>
              </a:extLst>
            </p:cNvPr>
            <p:cNvSpPr/>
            <p:nvPr/>
          </p:nvSpPr>
          <p:spPr>
            <a:xfrm>
              <a:off x="8286750" y="1504950"/>
              <a:ext cx="3390900" cy="1257300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39" name="TextBox 13">
              <a:extLst>
                <a:ext uri="{FF2B5EF4-FFF2-40B4-BE49-F238E27FC236}">
                  <a16:creationId xmlns:a16="http://schemas.microsoft.com/office/drawing/2014/main" id="{DB54A263-AEA7-5450-3224-AAAD1EDBB7DD}"/>
                </a:ext>
              </a:extLst>
            </p:cNvPr>
            <p:cNvSpPr txBox="1"/>
            <p:nvPr/>
          </p:nvSpPr>
          <p:spPr>
            <a:xfrm>
              <a:off x="8494395" y="1984058"/>
              <a:ext cx="1425390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2000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Tutor Agent</a:t>
              </a:r>
              <a:endParaRPr lang="zh-CN" sz="2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40" name="TextBox 14">
              <a:extLst>
                <a:ext uri="{FF2B5EF4-FFF2-40B4-BE49-F238E27FC236}">
                  <a16:creationId xmlns:a16="http://schemas.microsoft.com/office/drawing/2014/main" id="{B5420728-DFF9-0A6F-4DC2-61D8A404D251}"/>
                </a:ext>
              </a:extLst>
            </p:cNvPr>
            <p:cNvSpPr txBox="1"/>
            <p:nvPr/>
          </p:nvSpPr>
          <p:spPr>
            <a:xfrm>
              <a:off x="8502015" y="2344102"/>
              <a:ext cx="1349728" cy="161583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05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concepts · code · logic</a:t>
              </a:r>
              <a:endPara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D01121E0-7658-F41A-8B98-6C0BF93CF8B0}"/>
              </a:ext>
            </a:extLst>
          </p:cNvPr>
          <p:cNvGrpSpPr/>
          <p:nvPr/>
        </p:nvGrpSpPr>
        <p:grpSpPr>
          <a:xfrm>
            <a:off x="8286750" y="4821554"/>
            <a:ext cx="3390900" cy="1257300"/>
            <a:chOff x="8286750" y="1504950"/>
            <a:chExt cx="3390900" cy="1257300"/>
          </a:xfrm>
          <a:solidFill>
            <a:srgbClr val="953735"/>
          </a:solidFill>
        </p:grpSpPr>
        <p:sp>
          <p:nvSpPr>
            <p:cNvPr id="42" name="Rectangle 11">
              <a:extLst>
                <a:ext uri="{FF2B5EF4-FFF2-40B4-BE49-F238E27FC236}">
                  <a16:creationId xmlns:a16="http://schemas.microsoft.com/office/drawing/2014/main" id="{2049DF4F-F549-4ED0-4D8B-EEB5F52B1C4A}"/>
                </a:ext>
              </a:extLst>
            </p:cNvPr>
            <p:cNvSpPr/>
            <p:nvPr/>
          </p:nvSpPr>
          <p:spPr>
            <a:xfrm>
              <a:off x="8286750" y="1504950"/>
              <a:ext cx="3390900" cy="1257300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44" name="TextBox 13">
              <a:extLst>
                <a:ext uri="{FF2B5EF4-FFF2-40B4-BE49-F238E27FC236}">
                  <a16:creationId xmlns:a16="http://schemas.microsoft.com/office/drawing/2014/main" id="{3AD1E99B-D4CC-268A-3132-05433987713D}"/>
                </a:ext>
              </a:extLst>
            </p:cNvPr>
            <p:cNvSpPr txBox="1"/>
            <p:nvPr/>
          </p:nvSpPr>
          <p:spPr>
            <a:xfrm>
              <a:off x="8494395" y="1984058"/>
              <a:ext cx="2300438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2000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Assessment Agent</a:t>
              </a:r>
              <a:endParaRPr lang="zh-CN" sz="2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45" name="TextBox 14">
              <a:extLst>
                <a:ext uri="{FF2B5EF4-FFF2-40B4-BE49-F238E27FC236}">
                  <a16:creationId xmlns:a16="http://schemas.microsoft.com/office/drawing/2014/main" id="{F08DBEE0-F8B1-F8F5-3903-862534076160}"/>
                </a:ext>
              </a:extLst>
            </p:cNvPr>
            <p:cNvSpPr txBox="1"/>
            <p:nvPr/>
          </p:nvSpPr>
          <p:spPr>
            <a:xfrm>
              <a:off x="8502015" y="2344102"/>
              <a:ext cx="2269852" cy="161583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05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behavioral evidence · dialogue history</a:t>
              </a:r>
              <a:endPara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14350" y="381000"/>
              <a:ext cx="800100" cy="762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8155" y="587692"/>
            <a:ext cx="4641463" cy="438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Verification Env</a:t>
            </a:r>
            <a:r>
              <a:rPr lang="en-US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.</a:t>
            </a:r>
            <a:r>
              <a:rPr lang="zh-CN" altLang="en-US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：可信验证</a:t>
            </a:r>
            <a:endParaRPr lang="zh-CN" sz="2850" b="1" dirty="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514350" y="1752600"/>
            <a:ext cx="4953000" cy="1066800"/>
          </a:xfrm>
          <a:prstGeom prst="rect">
            <a:avLst/>
          </a:prstGeom>
          <a:solidFill>
            <a:srgbClr val="F8FAFC"/>
          </a:solidFill>
          <a:ln w="19050">
            <a:solidFill>
              <a:srgbClr val="1B4B8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27710" y="1946910"/>
            <a:ext cx="16938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842C"/>
                </a:solidFill>
                <a:latin typeface="Arial"/>
                <a:ea typeface="Microsoft YaHei"/>
                <a:cs typeface="Arial"/>
              </a:rPr>
              <a:t>01 · TRUSTED SOURCE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6280" y="2278380"/>
            <a:ext cx="233212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A37"/>
                </a:solidFill>
                <a:latin typeface="Consolas"/>
                <a:ea typeface="Microsoft YaHei"/>
                <a:cs typeface="Consolas"/>
              </a:rPr>
              <a:t>trusted == true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724650" y="1752600"/>
            <a:ext cx="4953000" cy="1066800"/>
          </a:xfrm>
          <a:prstGeom prst="rect">
            <a:avLst/>
          </a:prstGeom>
          <a:solidFill>
            <a:srgbClr val="F8FAFC"/>
          </a:solidFill>
          <a:ln w="19050">
            <a:solidFill>
              <a:srgbClr val="1B4B8F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938010" y="1946910"/>
            <a:ext cx="16938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842C"/>
                </a:solidFill>
                <a:latin typeface="Arial"/>
                <a:ea typeface="Microsoft YaHei"/>
                <a:cs typeface="Arial"/>
              </a:rPr>
              <a:t>02 · PROCESS STATUS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26580" y="2278380"/>
            <a:ext cx="193517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A37"/>
                </a:solidFill>
                <a:latin typeface="Consolas"/>
                <a:ea typeface="Microsoft YaHei"/>
                <a:cs typeface="Consolas"/>
              </a:rPr>
              <a:t>exitCode == 0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2990850" y="2819400"/>
            <a:ext cx="6219825" cy="2914650"/>
            <a:chOff x="2990850" y="2819400"/>
            <a:chExt cx="6219825" cy="2914650"/>
          </a:xfrm>
        </p:grpSpPr>
        <p:sp>
          <p:nvSpPr>
            <p:cNvPr id="21" name="Line 21"/>
            <p:cNvSpPr/>
            <p:nvPr/>
          </p:nvSpPr>
          <p:spPr>
            <a:xfrm>
              <a:off x="2990850" y="2819400"/>
              <a:ext cx="9525" cy="1866900"/>
            </a:xfrm>
            <a:custGeom>
              <a:avLst/>
              <a:gdLst/>
              <a:ahLst/>
              <a:cxnLst/>
              <a:rect l="l" t="t" r="r" b="b"/>
              <a:pathLst>
                <a:path w="9525" h="1866900">
                  <a:moveTo>
                    <a:pt x="0" y="0"/>
                  </a:moveTo>
                  <a:lnTo>
                    <a:pt x="0" y="1866900"/>
                  </a:lnTo>
                </a:path>
              </a:pathLst>
            </a:custGeom>
            <a:noFill/>
            <a:ln w="28575">
              <a:solidFill>
                <a:srgbClr val="C9D4DF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9201150" y="2819400"/>
              <a:ext cx="9525" cy="1866900"/>
            </a:xfrm>
            <a:custGeom>
              <a:avLst/>
              <a:gdLst/>
              <a:ahLst/>
              <a:cxnLst/>
              <a:rect l="l" t="t" r="r" b="b"/>
              <a:pathLst>
                <a:path w="9525" h="1866900">
                  <a:moveTo>
                    <a:pt x="0" y="0"/>
                  </a:moveTo>
                  <a:lnTo>
                    <a:pt x="0" y="1866900"/>
                  </a:lnTo>
                </a:path>
              </a:pathLst>
            </a:custGeom>
            <a:noFill/>
            <a:ln w="28575">
              <a:solidFill>
                <a:srgbClr val="C9D4DF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2990850" y="4686300"/>
              <a:ext cx="6210300" cy="9525"/>
            </a:xfrm>
            <a:custGeom>
              <a:avLst/>
              <a:gdLst/>
              <a:ahLst/>
              <a:cxnLst/>
              <a:rect l="l" t="t" r="r" b="b"/>
              <a:pathLst>
                <a:path w="6210300" h="9525">
                  <a:moveTo>
                    <a:pt x="0" y="0"/>
                  </a:moveTo>
                  <a:lnTo>
                    <a:pt x="6210300" y="0"/>
                  </a:lnTo>
                </a:path>
              </a:pathLst>
            </a:custGeom>
            <a:noFill/>
            <a:ln w="28575">
              <a:solidFill>
                <a:srgbClr val="C9D4DF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6096000" y="4686300"/>
              <a:ext cx="9525" cy="323850"/>
            </a:xfrm>
            <a:custGeom>
              <a:avLst/>
              <a:gdLst/>
              <a:ahLst/>
              <a:cxnLst/>
              <a:rect l="l" t="t" r="r" b="b"/>
              <a:pathLst>
                <a:path w="952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/>
            <a:ln w="38100">
              <a:solidFill>
                <a:srgbClr val="168C5A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860211" y="4524374"/>
              <a:ext cx="465827" cy="357187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B4B8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22911" y="4607242"/>
              <a:ext cx="3461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AND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381500" y="5010150"/>
              <a:ext cx="3429000" cy="723900"/>
            </a:xfrm>
            <a:prstGeom prst="rect">
              <a:avLst/>
            </a:prstGeom>
            <a:solidFill>
              <a:srgbClr val="168C5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47368" y="5208270"/>
              <a:ext cx="249726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verified = true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560841" y="6570345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16</a:t>
            </a:r>
            <a:endParaRPr lang="zh-CN" sz="900" dirty="0">
              <a:solidFill>
                <a:srgbClr val="8993A1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5C88A376-F13C-2764-1BB6-676BA2F447B7}"/>
              </a:ext>
            </a:extLst>
          </p:cNvPr>
          <p:cNvGrpSpPr/>
          <p:nvPr/>
        </p:nvGrpSpPr>
        <p:grpSpPr>
          <a:xfrm>
            <a:off x="6724650" y="3276600"/>
            <a:ext cx="4953000" cy="1066800"/>
            <a:chOff x="6724650" y="3276600"/>
            <a:chExt cx="4953000" cy="1066800"/>
          </a:xfrm>
        </p:grpSpPr>
        <p:sp>
          <p:nvSpPr>
            <p:cNvPr id="17" name="Rectangle 17"/>
            <p:cNvSpPr/>
            <p:nvPr/>
          </p:nvSpPr>
          <p:spPr>
            <a:xfrm>
              <a:off x="6724650" y="3276600"/>
              <a:ext cx="4953000" cy="1066800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1B4B8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38010" y="3470910"/>
              <a:ext cx="12906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842C"/>
                  </a:solidFill>
                  <a:latin typeface="Arial"/>
                  <a:ea typeface="Microsoft YaHei"/>
                  <a:cs typeface="Arial"/>
                </a:rPr>
                <a:t>04 · ALL PASSED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26580" y="3802380"/>
              <a:ext cx="346416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2A37"/>
                  </a:solidFill>
                  <a:latin typeface="Consolas"/>
                  <a:ea typeface="Microsoft YaHei"/>
                  <a:cs typeface="Consolas"/>
                </a:rPr>
                <a:t>every assertion.passed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171F5884-499E-433D-250D-0D8621EB0EAC}"/>
              </a:ext>
            </a:extLst>
          </p:cNvPr>
          <p:cNvGrpSpPr/>
          <p:nvPr/>
        </p:nvGrpSpPr>
        <p:grpSpPr>
          <a:xfrm>
            <a:off x="514350" y="3276600"/>
            <a:ext cx="4953000" cy="1066800"/>
            <a:chOff x="514350" y="3276600"/>
            <a:chExt cx="4953000" cy="1066800"/>
          </a:xfrm>
        </p:grpSpPr>
        <p:sp>
          <p:nvSpPr>
            <p:cNvPr id="14" name="Rectangle 14"/>
            <p:cNvSpPr/>
            <p:nvPr/>
          </p:nvSpPr>
          <p:spPr>
            <a:xfrm>
              <a:off x="514350" y="3276600"/>
              <a:ext cx="4953000" cy="1066800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1B4B8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7710" y="3470910"/>
              <a:ext cx="21475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842C"/>
                  </a:solidFill>
                  <a:latin typeface="Arial"/>
                  <a:ea typeface="Microsoft YaHei"/>
                  <a:cs typeface="Arial"/>
                </a:rPr>
                <a:t>03 · OBSERVABLE BEHAVIOR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6280" y="3802380"/>
              <a:ext cx="315542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2A37"/>
                  </a:solidFill>
                  <a:latin typeface="Consolas"/>
                  <a:ea typeface="Microsoft YaHei"/>
                  <a:cs typeface="Consolas"/>
                </a:rPr>
                <a:t>assertions.length &gt; 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14350" y="381000"/>
              <a:ext cx="800100" cy="762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8155" y="587692"/>
            <a:ext cx="5372433" cy="438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Verification Env</a:t>
            </a:r>
            <a:r>
              <a:rPr lang="en-US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.</a:t>
            </a:r>
            <a:r>
              <a:rPr lang="zh-CN" altLang="en-US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：过程行为</a:t>
            </a:r>
            <a:r>
              <a:rPr 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证</a:t>
            </a:r>
            <a:r>
              <a:rPr lang="zh-CN" sz="2850" b="1" dirty="0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据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14350" y="1714500"/>
            <a:ext cx="11163300" cy="1924050"/>
            <a:chOff x="514350" y="1714500"/>
            <a:chExt cx="11163300" cy="1924050"/>
          </a:xfrm>
        </p:grpSpPr>
        <p:sp>
          <p:nvSpPr>
            <p:cNvPr id="8" name="Rectangle 8"/>
            <p:cNvSpPr/>
            <p:nvPr/>
          </p:nvSpPr>
          <p:spPr>
            <a:xfrm>
              <a:off x="514350" y="1714500"/>
              <a:ext cx="1981200" cy="1924050"/>
            </a:xfrm>
            <a:prstGeom prst="rect">
              <a:avLst/>
            </a:prstGeom>
            <a:solidFill>
              <a:srgbClr val="1B4B8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91515" y="1934528"/>
              <a:ext cx="9675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 · VALIDATE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83895" y="2269808"/>
              <a:ext cx="127791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校验 Recipe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704850" y="2638425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9525">
              <a:solidFill>
                <a:srgbClr val="FFFFF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0562" y="2821781"/>
              <a:ext cx="12212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Lab / 权限 / 参数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0562" y="3098006"/>
              <a:ext cx="15212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计算 workspace hash</a:t>
              </a:r>
            </a:p>
          </p:txBody>
        </p:sp>
        <p:sp>
          <p:nvSpPr>
            <p:cNvPr id="14" name="Polygon 14"/>
            <p:cNvSpPr/>
            <p:nvPr/>
          </p:nvSpPr>
          <p:spPr>
            <a:xfrm rot="10800000">
              <a:off x="2657475" y="2590800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0" y="85725"/>
                  </a:moveTo>
                  <a:lnTo>
                    <a:pt x="152400" y="0"/>
                  </a:lnTo>
                  <a:lnTo>
                    <a:pt x="152400" y="171450"/>
                  </a:lnTo>
                  <a:close/>
                </a:path>
              </a:pathLst>
            </a:custGeom>
            <a:solidFill>
              <a:srgbClr val="C9D4D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809875" y="1714500"/>
              <a:ext cx="1981200" cy="1924050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C9D4D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987040" y="1934528"/>
              <a:ext cx="923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02 · EXECUTE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79420" y="226980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直接启动程序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000375" y="2638425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9525">
              <a:solidFill>
                <a:srgbClr val="C9D4D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86088" y="2821781"/>
              <a:ext cx="8611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不经过 shell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86088" y="3098006"/>
              <a:ext cx="9211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SSE 流式输出</a:t>
              </a:r>
            </a:p>
          </p:txBody>
        </p:sp>
        <p:sp>
          <p:nvSpPr>
            <p:cNvPr id="21" name="Polygon 21"/>
            <p:cNvSpPr/>
            <p:nvPr/>
          </p:nvSpPr>
          <p:spPr>
            <a:xfrm rot="10800000">
              <a:off x="4953000" y="2590800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0" y="85725"/>
                  </a:moveTo>
                  <a:lnTo>
                    <a:pt x="152400" y="0"/>
                  </a:lnTo>
                  <a:lnTo>
                    <a:pt x="152400" y="171450"/>
                  </a:lnTo>
                  <a:close/>
                </a:path>
              </a:pathLst>
            </a:custGeom>
            <a:solidFill>
              <a:srgbClr val="C9D4D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105400" y="1714500"/>
              <a:ext cx="1981200" cy="1924050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C9D4D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82565" y="1934528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03 · PARSE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74945" y="2269808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结构化解析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5295900" y="2638425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9525">
              <a:solidFill>
                <a:srgbClr val="C9D4D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81612" y="2821781"/>
              <a:ext cx="13187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Cargo diagnostics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81612" y="3098006"/>
              <a:ext cx="9586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QEMU output</a:t>
              </a:r>
            </a:p>
          </p:txBody>
        </p:sp>
        <p:sp>
          <p:nvSpPr>
            <p:cNvPr id="28" name="Polygon 28"/>
            <p:cNvSpPr/>
            <p:nvPr/>
          </p:nvSpPr>
          <p:spPr>
            <a:xfrm rot="10800000">
              <a:off x="7248525" y="2590800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0" y="85725"/>
                  </a:moveTo>
                  <a:lnTo>
                    <a:pt x="152400" y="0"/>
                  </a:lnTo>
                  <a:lnTo>
                    <a:pt x="152400" y="171450"/>
                  </a:lnTo>
                  <a:close/>
                </a:path>
              </a:pathLst>
            </a:custGeom>
            <a:solidFill>
              <a:srgbClr val="C9D4DF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400925" y="1714500"/>
              <a:ext cx="1981200" cy="1924050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C9D4D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78090" y="1934528"/>
              <a:ext cx="8058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04 · VERIFY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70470" y="226980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复算行为断言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7591425" y="2638425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9525">
              <a:solidFill>
                <a:srgbClr val="C9D4D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77138" y="2821781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普通输出断言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77138" y="3098006"/>
              <a:ext cx="1183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TRACE_V1 完整性</a:t>
              </a:r>
            </a:p>
          </p:txBody>
        </p:sp>
        <p:sp>
          <p:nvSpPr>
            <p:cNvPr id="35" name="Polygon 35"/>
            <p:cNvSpPr/>
            <p:nvPr/>
          </p:nvSpPr>
          <p:spPr>
            <a:xfrm rot="10800000">
              <a:off x="9544050" y="2590800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0" y="85725"/>
                  </a:moveTo>
                  <a:lnTo>
                    <a:pt x="152400" y="0"/>
                  </a:lnTo>
                  <a:lnTo>
                    <a:pt x="152400" y="171450"/>
                  </a:lnTo>
                  <a:close/>
                </a:path>
              </a:pathLst>
            </a:custGeom>
            <a:solidFill>
              <a:srgbClr val="C9D4DF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9696450" y="1714500"/>
              <a:ext cx="1981200" cy="192405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873615" y="1934528"/>
              <a:ext cx="7911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05 · STORE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65995" y="2269808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证据落盘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9886950" y="2638425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9525">
              <a:solidFill>
                <a:srgbClr val="FFFFFF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872662" y="2821781"/>
              <a:ext cx="17762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output / trace / events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872662" y="3098006"/>
              <a:ext cx="16937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assertions / artifacts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14350" y="3943350"/>
            <a:ext cx="11163300" cy="1009650"/>
            <a:chOff x="514350" y="3943350"/>
            <a:chExt cx="11163300" cy="1009650"/>
          </a:xfrm>
        </p:grpSpPr>
        <p:sp>
          <p:nvSpPr>
            <p:cNvPr id="43" name="Rectangle 43"/>
            <p:cNvSpPr/>
            <p:nvPr/>
          </p:nvSpPr>
          <p:spPr>
            <a:xfrm>
              <a:off x="514350" y="3943350"/>
              <a:ext cx="11163300" cy="100965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29615" y="4163378"/>
              <a:ext cx="14821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ONE EVIDENCE LEDGER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3900" y="4476750"/>
              <a:ext cx="96257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A37"/>
                  </a:solidFill>
                  <a:latin typeface="Consolas"/>
                  <a:ea typeface="Microsoft YaHei"/>
                  <a:cs typeface="Consolas"/>
                </a:rPr>
                <a:t>runId · userId · labId · workspaceHash · trusted · verified · diagnostics · events · artifacts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93395" y="5213985"/>
            <a:ext cx="11184255" cy="1177290"/>
            <a:chOff x="493395" y="5213985"/>
            <a:chExt cx="11184255" cy="1177290"/>
          </a:xfrm>
        </p:grpSpPr>
        <p:sp>
          <p:nvSpPr>
            <p:cNvPr id="47" name="TextBox 47"/>
            <p:cNvSpPr txBox="1"/>
            <p:nvPr/>
          </p:nvSpPr>
          <p:spPr>
            <a:xfrm>
              <a:off x="499110" y="5213985"/>
              <a:ext cx="20467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993A1"/>
                  </a:solidFill>
                  <a:latin typeface="Arial"/>
                  <a:ea typeface="Microsoft YaHei"/>
                  <a:cs typeface="Arial"/>
                </a:rPr>
                <a:t>同一份结果被三个角色消费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93395" y="5603558"/>
              <a:ext cx="209806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Tutor · 解释与追问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150995" y="5603558"/>
              <a:ext cx="25485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Assessment · 独立评价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08645" y="5603558"/>
              <a:ext cx="19247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教师 · 复核与反馈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514350" y="6000750"/>
              <a:ext cx="11163300" cy="9525"/>
            </a:xfrm>
            <a:custGeom>
              <a:avLst/>
              <a:gdLst/>
              <a:ahLst/>
              <a:cxnLst/>
              <a:rect l="l" t="t" r="r" b="b"/>
              <a:pathLst>
                <a:path w="11163300" h="9525">
                  <a:moveTo>
                    <a:pt x="0" y="0"/>
                  </a:moveTo>
                  <a:lnTo>
                    <a:pt x="11163300" y="0"/>
                  </a:lnTo>
                </a:path>
              </a:pathLst>
            </a:custGeom>
            <a:noFill/>
            <a:ln w="19050">
              <a:solidFill>
                <a:srgbClr val="C9D4DF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99110" y="6147435"/>
              <a:ext cx="3825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842C"/>
                  </a:solidFill>
                  <a:latin typeface="Consolas"/>
                  <a:ea typeface="Microsoft YaHei"/>
                  <a:cs typeface="Consolas"/>
                </a:rPr>
                <a:t>run: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7260" y="6147435"/>
              <a:ext cx="350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3"/>
                  </a:solidFill>
                  <a:latin typeface="Consolas"/>
                  <a:ea typeface="Microsoft YaHei"/>
                  <a:cs typeface="Consolas"/>
                </a:rPr>
                <a:t>运行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499360" y="6147435"/>
              <a:ext cx="5585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842C"/>
                  </a:solidFill>
                  <a:latin typeface="Consolas"/>
                  <a:ea typeface="Microsoft YaHei"/>
                  <a:cs typeface="Consolas"/>
                </a:rPr>
                <a:t>trace: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108960" y="6147435"/>
              <a:ext cx="350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3"/>
                  </a:solidFill>
                  <a:latin typeface="Consolas"/>
                  <a:ea typeface="Microsoft YaHei"/>
                  <a:cs typeface="Consolas"/>
                </a:rPr>
                <a:t>轨迹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804410" y="6147435"/>
              <a:ext cx="4305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842C"/>
                  </a:solidFill>
                  <a:latin typeface="Consolas"/>
                  <a:ea typeface="Microsoft YaHei"/>
                  <a:cs typeface="Consolas"/>
                </a:rPr>
                <a:t>diag: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337810" y="6147435"/>
              <a:ext cx="350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3"/>
                  </a:solidFill>
                  <a:latin typeface="Consolas"/>
                  <a:ea typeface="Microsoft YaHei"/>
                  <a:cs typeface="Consolas"/>
                </a:rPr>
                <a:t>诊断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71360" y="6147435"/>
              <a:ext cx="2945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842C"/>
                  </a:solidFill>
                  <a:latin typeface="Consolas"/>
                  <a:ea typeface="Microsoft YaHei"/>
                  <a:cs typeface="Consolas"/>
                </a:rPr>
                <a:t>kb: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471410" y="6147435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3"/>
                  </a:solidFill>
                  <a:latin typeface="Consolas"/>
                  <a:ea typeface="Microsoft YaHei"/>
                  <a:cs typeface="Consolas"/>
                </a:rPr>
                <a:t>知识引用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1560841" y="6570345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17</a:t>
            </a:r>
            <a:endParaRPr lang="zh-CN" sz="900" dirty="0">
              <a:solidFill>
                <a:srgbClr val="8993A1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05044-38FC-87B8-E1E0-BDAE8CE21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C02FF57F-6A8A-E914-688D-328A6D9B2CD6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E2B77042-4F29-1645-1AFE-655FD8350B09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BF084B81-F30C-195B-794C-E88FF201E158}"/>
                </a:ext>
              </a:extLst>
            </p:cNvPr>
            <p:cNvSpPr/>
            <p:nvPr/>
          </p:nvSpPr>
          <p:spPr>
            <a:xfrm>
              <a:off x="514350" y="381000"/>
              <a:ext cx="800100" cy="762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12870541-9DB9-ABB7-614C-3F897E13EB86}"/>
              </a:ext>
            </a:extLst>
          </p:cNvPr>
          <p:cNvSpPr txBox="1"/>
          <p:nvPr/>
        </p:nvSpPr>
        <p:spPr>
          <a:xfrm>
            <a:off x="478155" y="587692"/>
            <a:ext cx="5431743" cy="438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Verification Env</a:t>
            </a:r>
            <a:r>
              <a:rPr lang="en-US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.</a:t>
            </a:r>
            <a:r>
              <a:rPr lang="zh-CN" altLang="en-US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：证据与数据流</a:t>
            </a:r>
            <a:endParaRPr lang="zh-CN" sz="2850" b="1" dirty="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557F29D4-D12D-F549-0218-0008CF9432A8}"/>
              </a:ext>
            </a:extLst>
          </p:cNvPr>
          <p:cNvGrpSpPr/>
          <p:nvPr/>
        </p:nvGrpSpPr>
        <p:grpSpPr>
          <a:xfrm>
            <a:off x="514350" y="1504950"/>
            <a:ext cx="7524750" cy="5019675"/>
            <a:chOff x="514350" y="1504950"/>
            <a:chExt cx="7524750" cy="5019675"/>
          </a:xfrm>
        </p:grpSpPr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C0FC9262-E830-FF91-7077-2B5983D97593}"/>
                </a:ext>
              </a:extLst>
            </p:cNvPr>
            <p:cNvSpPr/>
            <p:nvPr/>
          </p:nvSpPr>
          <p:spPr>
            <a:xfrm>
              <a:off x="514350" y="1504950"/>
              <a:ext cx="7524750" cy="5019675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C9D4DF"/>
              </a:solidFill>
            </a:ln>
          </p:spPr>
        </p:sp>
        <p:pic>
          <p:nvPicPr>
            <p:cNvPr id="9" name="Image 9">
              <a:extLst>
                <a:ext uri="{FF2B5EF4-FFF2-40B4-BE49-F238E27FC236}">
                  <a16:creationId xmlns:a16="http://schemas.microsoft.com/office/drawing/2014/main" id="{184CF1FC-5F5E-AD3E-5D4C-65A5B7B0E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3406" y="1571625"/>
              <a:ext cx="7386638" cy="4924425"/>
            </a:xfrm>
            <a:prstGeom prst="rect">
              <a:avLst/>
            </a:prstGeom>
          </p:spPr>
        </p:pic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C1C194B4-0AEB-0E48-CA62-B68677386275}"/>
              </a:ext>
            </a:extLst>
          </p:cNvPr>
          <p:cNvGrpSpPr/>
          <p:nvPr/>
        </p:nvGrpSpPr>
        <p:grpSpPr>
          <a:xfrm>
            <a:off x="8286750" y="1504950"/>
            <a:ext cx="3390900" cy="1257300"/>
            <a:chOff x="8286750" y="1504950"/>
            <a:chExt cx="3390900" cy="1257300"/>
          </a:xfrm>
        </p:grpSpPr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7158D9A2-4EB3-C841-8A5F-E508EFBC224F}"/>
                </a:ext>
              </a:extLst>
            </p:cNvPr>
            <p:cNvSpPr/>
            <p:nvPr/>
          </p:nvSpPr>
          <p:spPr>
            <a:xfrm>
              <a:off x="8286750" y="1504950"/>
              <a:ext cx="3390900" cy="1257300"/>
            </a:xfrm>
            <a:prstGeom prst="rect">
              <a:avLst/>
            </a:prstGeom>
            <a:solidFill>
              <a:srgbClr val="558ED5"/>
            </a:solidFill>
            <a:ln>
              <a:noFill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47F37044-DD6A-9AC7-A613-754391247D5F}"/>
                </a:ext>
              </a:extLst>
            </p:cNvPr>
            <p:cNvSpPr txBox="1"/>
            <p:nvPr/>
          </p:nvSpPr>
          <p:spPr>
            <a:xfrm>
              <a:off x="8494395" y="1984058"/>
              <a:ext cx="102592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000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可信验证</a:t>
              </a:r>
              <a:endParaRPr lang="zh-CN" sz="2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981C2BE5-B3E0-ECBA-29AE-4B9E4C82556E}"/>
                </a:ext>
              </a:extLst>
            </p:cNvPr>
            <p:cNvSpPr txBox="1"/>
            <p:nvPr/>
          </p:nvSpPr>
          <p:spPr>
            <a:xfrm>
              <a:off x="8502015" y="2344102"/>
              <a:ext cx="27150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objective · passCriteria · evidenceRefs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D6BFA92C-6CA7-D560-7451-394B08F0EA9E}"/>
              </a:ext>
            </a:extLst>
          </p:cNvPr>
          <p:cNvGrpSpPr/>
          <p:nvPr/>
        </p:nvGrpSpPr>
        <p:grpSpPr>
          <a:xfrm>
            <a:off x="8498205" y="6096952"/>
            <a:ext cx="2302574" cy="451486"/>
            <a:chOff x="8498205" y="6096952"/>
            <a:chExt cx="2302574" cy="451486"/>
          </a:xfrm>
        </p:grpSpPr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59F1E6FD-5F27-E6A9-25A3-2C88254FA2B2}"/>
                </a:ext>
              </a:extLst>
            </p:cNvPr>
            <p:cNvSpPr txBox="1"/>
            <p:nvPr/>
          </p:nvSpPr>
          <p:spPr>
            <a:xfrm>
              <a:off x="8502015" y="6096952"/>
              <a:ext cx="12983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HUMAN IN CONTROL</a:t>
              </a: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C30ED98D-05C7-09EC-13A0-1761CB3E5A77}"/>
                </a:ext>
              </a:extLst>
            </p:cNvPr>
            <p:cNvSpPr txBox="1"/>
            <p:nvPr/>
          </p:nvSpPr>
          <p:spPr>
            <a:xfrm>
              <a:off x="8498205" y="6274118"/>
              <a:ext cx="23025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教师保留最终判断与反馈权</a:t>
              </a:r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C3BF5A64-FCC4-F6AF-424B-3C9197E7CCDF}"/>
              </a:ext>
            </a:extLst>
          </p:cNvPr>
          <p:cNvSpPr txBox="1"/>
          <p:nvPr/>
        </p:nvSpPr>
        <p:spPr>
          <a:xfrm>
            <a:off x="11560841" y="6627495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18</a:t>
            </a:r>
            <a:endParaRPr lang="zh-CN" sz="900" dirty="0">
              <a:solidFill>
                <a:srgbClr val="8993A1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BC62AB5-A8CB-C7F3-EFE1-0D14D99BB6F1}"/>
              </a:ext>
            </a:extLst>
          </p:cNvPr>
          <p:cNvSpPr/>
          <p:nvPr/>
        </p:nvSpPr>
        <p:spPr>
          <a:xfrm>
            <a:off x="952728" y="1943100"/>
            <a:ext cx="4511770" cy="2228850"/>
          </a:xfrm>
          <a:custGeom>
            <a:avLst/>
            <a:gdLst>
              <a:gd name="csX0" fmla="*/ 0 w 4511770"/>
              <a:gd name="csY0" fmla="*/ 0 h 2228850"/>
              <a:gd name="csX1" fmla="*/ 4511770 w 4511770"/>
              <a:gd name="csY1" fmla="*/ 0 h 2228850"/>
              <a:gd name="csX2" fmla="*/ 4511770 w 4511770"/>
              <a:gd name="csY2" fmla="*/ 2228850 h 2228850"/>
              <a:gd name="csX3" fmla="*/ 0 w 4511770"/>
              <a:gd name="csY3" fmla="*/ 2228850 h 2228850"/>
              <a:gd name="csX4" fmla="*/ 0 w 4511770"/>
              <a:gd name="csY4" fmla="*/ 0 h 22288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11770" h="2228850" extrusionOk="0">
                <a:moveTo>
                  <a:pt x="0" y="0"/>
                </a:moveTo>
                <a:cubicBezTo>
                  <a:pt x="623789" y="-157583"/>
                  <a:pt x="2312742" y="59829"/>
                  <a:pt x="4511770" y="0"/>
                </a:cubicBezTo>
                <a:cubicBezTo>
                  <a:pt x="4646088" y="528199"/>
                  <a:pt x="4460872" y="1245460"/>
                  <a:pt x="4511770" y="2228850"/>
                </a:cubicBezTo>
                <a:cubicBezTo>
                  <a:pt x="3669084" y="2374130"/>
                  <a:pt x="1589039" y="2300591"/>
                  <a:pt x="0" y="2228850"/>
                </a:cubicBezTo>
                <a:cubicBezTo>
                  <a:pt x="29969" y="1546072"/>
                  <a:pt x="-93015" y="539738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tx2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406077822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AF12D60-053D-376A-03D5-1BF971D62809}"/>
              </a:ext>
            </a:extLst>
          </p:cNvPr>
          <p:cNvSpPr/>
          <p:nvPr/>
        </p:nvSpPr>
        <p:spPr>
          <a:xfrm>
            <a:off x="3296220" y="4922429"/>
            <a:ext cx="1478372" cy="574922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C3C3557-1FF9-29F7-7B0E-60B303FF25F0}"/>
              </a:ext>
            </a:extLst>
          </p:cNvPr>
          <p:cNvSpPr/>
          <p:nvPr/>
        </p:nvSpPr>
        <p:spPr>
          <a:xfrm>
            <a:off x="5628762" y="4324350"/>
            <a:ext cx="1659061" cy="882802"/>
          </a:xfrm>
          <a:custGeom>
            <a:avLst/>
            <a:gdLst>
              <a:gd name="csX0" fmla="*/ 0 w 1659061"/>
              <a:gd name="csY0" fmla="*/ 0 h 882802"/>
              <a:gd name="csX1" fmla="*/ 519839 w 1659061"/>
              <a:gd name="csY1" fmla="*/ 0 h 882802"/>
              <a:gd name="csX2" fmla="*/ 1056269 w 1659061"/>
              <a:gd name="csY2" fmla="*/ 0 h 882802"/>
              <a:gd name="csX3" fmla="*/ 1659061 w 1659061"/>
              <a:gd name="csY3" fmla="*/ 0 h 882802"/>
              <a:gd name="csX4" fmla="*/ 1659061 w 1659061"/>
              <a:gd name="csY4" fmla="*/ 459057 h 882802"/>
              <a:gd name="csX5" fmla="*/ 1659061 w 1659061"/>
              <a:gd name="csY5" fmla="*/ 882802 h 882802"/>
              <a:gd name="csX6" fmla="*/ 1139222 w 1659061"/>
              <a:gd name="csY6" fmla="*/ 882802 h 882802"/>
              <a:gd name="csX7" fmla="*/ 586202 w 1659061"/>
              <a:gd name="csY7" fmla="*/ 882802 h 882802"/>
              <a:gd name="csX8" fmla="*/ 0 w 1659061"/>
              <a:gd name="csY8" fmla="*/ 882802 h 882802"/>
              <a:gd name="csX9" fmla="*/ 0 w 1659061"/>
              <a:gd name="csY9" fmla="*/ 423745 h 882802"/>
              <a:gd name="csX10" fmla="*/ 0 w 1659061"/>
              <a:gd name="csY10" fmla="*/ 0 h 8828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659061" h="882802" extrusionOk="0">
                <a:moveTo>
                  <a:pt x="0" y="0"/>
                </a:moveTo>
                <a:cubicBezTo>
                  <a:pt x="159035" y="-31431"/>
                  <a:pt x="400814" y="46866"/>
                  <a:pt x="519839" y="0"/>
                </a:cubicBezTo>
                <a:cubicBezTo>
                  <a:pt x="638864" y="-46866"/>
                  <a:pt x="924575" y="14528"/>
                  <a:pt x="1056269" y="0"/>
                </a:cubicBezTo>
                <a:cubicBezTo>
                  <a:pt x="1187963" y="-14528"/>
                  <a:pt x="1518939" y="48568"/>
                  <a:pt x="1659061" y="0"/>
                </a:cubicBezTo>
                <a:cubicBezTo>
                  <a:pt x="1659157" y="96995"/>
                  <a:pt x="1654202" y="345788"/>
                  <a:pt x="1659061" y="459057"/>
                </a:cubicBezTo>
                <a:cubicBezTo>
                  <a:pt x="1663920" y="572326"/>
                  <a:pt x="1644674" y="718802"/>
                  <a:pt x="1659061" y="882802"/>
                </a:cubicBezTo>
                <a:cubicBezTo>
                  <a:pt x="1455594" y="908158"/>
                  <a:pt x="1350425" y="825334"/>
                  <a:pt x="1139222" y="882802"/>
                </a:cubicBezTo>
                <a:cubicBezTo>
                  <a:pt x="928019" y="940270"/>
                  <a:pt x="703863" y="816754"/>
                  <a:pt x="586202" y="882802"/>
                </a:cubicBezTo>
                <a:cubicBezTo>
                  <a:pt x="468541" y="948850"/>
                  <a:pt x="124003" y="830780"/>
                  <a:pt x="0" y="882802"/>
                </a:cubicBezTo>
                <a:cubicBezTo>
                  <a:pt x="-24413" y="717437"/>
                  <a:pt x="49121" y="520333"/>
                  <a:pt x="0" y="423745"/>
                </a:cubicBezTo>
                <a:cubicBezTo>
                  <a:pt x="-49121" y="327157"/>
                  <a:pt x="46259" y="129433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accent3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411607019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D0E53BFF-17C2-3B07-10DF-CBF6E9230350}"/>
              </a:ext>
            </a:extLst>
          </p:cNvPr>
          <p:cNvGrpSpPr/>
          <p:nvPr/>
        </p:nvGrpSpPr>
        <p:grpSpPr>
          <a:xfrm>
            <a:off x="8286750" y="3163252"/>
            <a:ext cx="3390900" cy="1257300"/>
            <a:chOff x="8286750" y="1504950"/>
            <a:chExt cx="3390900" cy="1257300"/>
          </a:xfrm>
          <a:solidFill>
            <a:srgbClr val="4F6228"/>
          </a:solidFill>
        </p:grpSpPr>
        <p:sp>
          <p:nvSpPr>
            <p:cNvPr id="37" name="Rectangle 11">
              <a:extLst>
                <a:ext uri="{FF2B5EF4-FFF2-40B4-BE49-F238E27FC236}">
                  <a16:creationId xmlns:a16="http://schemas.microsoft.com/office/drawing/2014/main" id="{AFF40BD2-20DA-A272-B54C-13CDC3F84C03}"/>
                </a:ext>
              </a:extLst>
            </p:cNvPr>
            <p:cNvSpPr/>
            <p:nvPr/>
          </p:nvSpPr>
          <p:spPr>
            <a:xfrm>
              <a:off x="8286750" y="1504950"/>
              <a:ext cx="3390900" cy="1257300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39" name="TextBox 13">
              <a:extLst>
                <a:ext uri="{FF2B5EF4-FFF2-40B4-BE49-F238E27FC236}">
                  <a16:creationId xmlns:a16="http://schemas.microsoft.com/office/drawing/2014/main" id="{566B7A63-FEBF-9371-1A5E-FFB4CB8553EB}"/>
                </a:ext>
              </a:extLst>
            </p:cNvPr>
            <p:cNvSpPr txBox="1"/>
            <p:nvPr/>
          </p:nvSpPr>
          <p:spPr>
            <a:xfrm>
              <a:off x="8494395" y="1984058"/>
              <a:ext cx="1425390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2000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Tutor Agent</a:t>
              </a:r>
              <a:endParaRPr lang="zh-CN" sz="2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40" name="TextBox 14">
              <a:extLst>
                <a:ext uri="{FF2B5EF4-FFF2-40B4-BE49-F238E27FC236}">
                  <a16:creationId xmlns:a16="http://schemas.microsoft.com/office/drawing/2014/main" id="{B2D0D249-4B7B-4C55-FE82-6438A359068C}"/>
                </a:ext>
              </a:extLst>
            </p:cNvPr>
            <p:cNvSpPr txBox="1"/>
            <p:nvPr/>
          </p:nvSpPr>
          <p:spPr>
            <a:xfrm>
              <a:off x="8502015" y="2344102"/>
              <a:ext cx="1349728" cy="161583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05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concepts · code · logic</a:t>
              </a:r>
              <a:endPara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224D25F8-4066-182F-1A73-AF58E6679943}"/>
              </a:ext>
            </a:extLst>
          </p:cNvPr>
          <p:cNvGrpSpPr/>
          <p:nvPr/>
        </p:nvGrpSpPr>
        <p:grpSpPr>
          <a:xfrm>
            <a:off x="8286750" y="4821554"/>
            <a:ext cx="3390900" cy="1257300"/>
            <a:chOff x="8286750" y="1504950"/>
            <a:chExt cx="3390900" cy="1257300"/>
          </a:xfrm>
          <a:solidFill>
            <a:srgbClr val="953735"/>
          </a:solidFill>
        </p:grpSpPr>
        <p:sp>
          <p:nvSpPr>
            <p:cNvPr id="42" name="Rectangle 11">
              <a:extLst>
                <a:ext uri="{FF2B5EF4-FFF2-40B4-BE49-F238E27FC236}">
                  <a16:creationId xmlns:a16="http://schemas.microsoft.com/office/drawing/2014/main" id="{A4ECEC4A-2839-66D9-3F21-955A23CA9E72}"/>
                </a:ext>
              </a:extLst>
            </p:cNvPr>
            <p:cNvSpPr/>
            <p:nvPr/>
          </p:nvSpPr>
          <p:spPr>
            <a:xfrm>
              <a:off x="8286750" y="1504950"/>
              <a:ext cx="3390900" cy="1257300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44" name="TextBox 13">
              <a:extLst>
                <a:ext uri="{FF2B5EF4-FFF2-40B4-BE49-F238E27FC236}">
                  <a16:creationId xmlns:a16="http://schemas.microsoft.com/office/drawing/2014/main" id="{E38290FC-E8C1-3784-B383-E1E9979B2245}"/>
                </a:ext>
              </a:extLst>
            </p:cNvPr>
            <p:cNvSpPr txBox="1"/>
            <p:nvPr/>
          </p:nvSpPr>
          <p:spPr>
            <a:xfrm>
              <a:off x="8494395" y="1984058"/>
              <a:ext cx="2300438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2000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Assessment Agent</a:t>
              </a:r>
              <a:endParaRPr lang="zh-CN" sz="2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45" name="TextBox 14">
              <a:extLst>
                <a:ext uri="{FF2B5EF4-FFF2-40B4-BE49-F238E27FC236}">
                  <a16:creationId xmlns:a16="http://schemas.microsoft.com/office/drawing/2014/main" id="{96B58E5C-B64F-503A-91BF-8BE720D89A38}"/>
                </a:ext>
              </a:extLst>
            </p:cNvPr>
            <p:cNvSpPr txBox="1"/>
            <p:nvPr/>
          </p:nvSpPr>
          <p:spPr>
            <a:xfrm>
              <a:off x="8502015" y="2344102"/>
              <a:ext cx="2269852" cy="161583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05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behavioral evidence · dialogue history</a:t>
              </a:r>
              <a:endPara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7721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14350" y="381000"/>
              <a:ext cx="800100" cy="762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8155" y="587692"/>
            <a:ext cx="5309274" cy="438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Verification Env</a:t>
            </a:r>
            <a:r>
              <a:rPr lang="en-US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.</a:t>
            </a:r>
            <a:r>
              <a:rPr lang="zh-CN" altLang="en-US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：</a:t>
            </a:r>
            <a:r>
              <a:rPr 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T</a:t>
            </a:r>
            <a:r>
              <a:rPr lang="zh-CN" sz="2850" b="1" dirty="0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uto</a:t>
            </a:r>
            <a:r>
              <a:rPr 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r </a:t>
            </a:r>
            <a:r>
              <a:rPr lang="en-US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Agent</a:t>
            </a:r>
            <a:endParaRPr lang="zh-CN" sz="2850" b="1" dirty="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514350" y="1504950"/>
            <a:ext cx="7867650" cy="4448175"/>
            <a:chOff x="514350" y="1504950"/>
            <a:chExt cx="7867650" cy="4448175"/>
          </a:xfrm>
        </p:grpSpPr>
        <p:sp>
          <p:nvSpPr>
            <p:cNvPr id="8" name="Rectangle 8"/>
            <p:cNvSpPr/>
            <p:nvPr/>
          </p:nvSpPr>
          <p:spPr>
            <a:xfrm>
              <a:off x="514350" y="1504950"/>
              <a:ext cx="7867650" cy="4448175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C9D4DF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1025" y="1581150"/>
              <a:ext cx="7734300" cy="4295775"/>
            </a:xfrm>
            <a:prstGeom prst="rect">
              <a:avLst/>
            </a:prstGeom>
          </p:spPr>
        </p:pic>
      </p:grpSp>
      <p:grpSp>
        <p:nvGrpSpPr>
          <p:cNvPr id="41" name="Group 41"/>
          <p:cNvGrpSpPr/>
          <p:nvPr/>
        </p:nvGrpSpPr>
        <p:grpSpPr>
          <a:xfrm>
            <a:off x="8610600" y="1504950"/>
            <a:ext cx="3067050" cy="4448175"/>
            <a:chOff x="8610600" y="1504950"/>
            <a:chExt cx="3067050" cy="4448175"/>
          </a:xfrm>
        </p:grpSpPr>
        <p:sp>
          <p:nvSpPr>
            <p:cNvPr id="22" name="Rectangle 22"/>
            <p:cNvSpPr/>
            <p:nvPr/>
          </p:nvSpPr>
          <p:spPr>
            <a:xfrm>
              <a:off x="8610600" y="1504950"/>
              <a:ext cx="3067050" cy="4448175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610600" y="1504950"/>
              <a:ext cx="3067050" cy="62865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52540" y="1677888"/>
              <a:ext cx="10130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2000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Harness</a:t>
              </a:r>
              <a:endParaRPr lang="zh-CN" sz="2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23960" y="2337435"/>
              <a:ext cx="905697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1 · INTENT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24912" y="2593181"/>
              <a:ext cx="212878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7 类意图：概念、读码、调试、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824912" y="2802731"/>
              <a:ext cx="200054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验证、反思、迁移、直接答案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8839200" y="3105150"/>
              <a:ext cx="2609850" cy="9525"/>
            </a:xfrm>
            <a:custGeom>
              <a:avLst/>
              <a:gdLst/>
              <a:ahLst/>
              <a:cxnLst/>
              <a:rect l="l" t="t" r="r" b="b"/>
              <a:pathLst>
                <a:path w="2609850" h="9525">
                  <a:moveTo>
                    <a:pt x="0" y="0"/>
                  </a:moveTo>
                  <a:lnTo>
                    <a:pt x="2609850" y="0"/>
                  </a:lnTo>
                </a:path>
              </a:pathLst>
            </a:custGeom>
            <a:noFill/>
            <a:ln w="9525">
              <a:solidFill>
                <a:srgbClr val="C9D4D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823960" y="3270885"/>
              <a:ext cx="133530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E8842C"/>
                  </a:solidFill>
                  <a:latin typeface="Arial"/>
                  <a:ea typeface="Microsoft YaHei"/>
                  <a:cs typeface="Arial"/>
                </a:rPr>
                <a:t>2 · GUARDRAIL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24912" y="3526631"/>
              <a:ext cx="252473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完整代码 / 最终答案 → 立即受限引导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24912" y="3745706"/>
              <a:ext cx="215443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latin typeface="Arial"/>
                  <a:ea typeface="Microsoft YaHei"/>
                  <a:cs typeface="Arial"/>
                </a:rPr>
                <a:t>不检索，不发送可拼装答案片段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8839200" y="4048125"/>
              <a:ext cx="2609850" cy="9525"/>
            </a:xfrm>
            <a:custGeom>
              <a:avLst/>
              <a:gdLst/>
              <a:ahLst/>
              <a:cxnLst/>
              <a:rect l="l" t="t" r="r" b="b"/>
              <a:pathLst>
                <a:path w="2609850" h="9525">
                  <a:moveTo>
                    <a:pt x="0" y="0"/>
                  </a:moveTo>
                  <a:lnTo>
                    <a:pt x="2609850" y="0"/>
                  </a:lnTo>
                </a:path>
              </a:pathLst>
            </a:custGeom>
            <a:noFill/>
            <a:ln w="9525">
              <a:solidFill>
                <a:srgbClr val="C9D4D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823960" y="4213860"/>
              <a:ext cx="188192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3 </a:t>
              </a:r>
              <a:r>
                <a:rPr lang="zh-CN" sz="14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· LIMITED CONTEXT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24912" y="4469606"/>
              <a:ext cx="166712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4 种回应模式独立于意图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24912" y="4688681"/>
              <a:ext cx="180177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每个 topic 独立递进 L0–L4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8839200" y="4991100"/>
              <a:ext cx="2609850" cy="9525"/>
            </a:xfrm>
            <a:custGeom>
              <a:avLst/>
              <a:gdLst/>
              <a:ahLst/>
              <a:cxnLst/>
              <a:rect l="l" t="t" r="r" b="b"/>
              <a:pathLst>
                <a:path w="2609850" h="9525">
                  <a:moveTo>
                    <a:pt x="0" y="0"/>
                  </a:moveTo>
                  <a:lnTo>
                    <a:pt x="2609850" y="0"/>
                  </a:lnTo>
                </a:path>
              </a:pathLst>
            </a:custGeom>
            <a:noFill/>
            <a:ln w="9525">
              <a:solidFill>
                <a:srgbClr val="C9D4D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823960" y="5156835"/>
              <a:ext cx="1436291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400" b="1" dirty="0">
                  <a:solidFill>
                    <a:srgbClr val="168C5A"/>
                  </a:solidFill>
                  <a:latin typeface="Arial"/>
                  <a:ea typeface="Microsoft YaHei"/>
                  <a:cs typeface="Arial"/>
                </a:rPr>
                <a:t>4</a:t>
              </a:r>
              <a:r>
                <a:rPr lang="zh-CN" sz="1400" b="1">
                  <a:solidFill>
                    <a:srgbClr val="168C5A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zh-CN" sz="1400" b="1" dirty="0">
                  <a:solidFill>
                    <a:srgbClr val="168C5A"/>
                  </a:solidFill>
                  <a:latin typeface="Arial"/>
                  <a:ea typeface="Microsoft YaHei"/>
                  <a:cs typeface="Arial"/>
                </a:rPr>
                <a:t>· POST CHECK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24912" y="5412581"/>
              <a:ext cx="167674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证据白名单 · 引用白名单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824912" y="5631656"/>
              <a:ext cx="197650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禁止虚构“已运行 / 已通过”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560841" y="6570345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19</a:t>
            </a:r>
            <a:endParaRPr lang="zh-CN" sz="900" dirty="0">
              <a:solidFill>
                <a:srgbClr val="8993A1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299AE-3015-B233-3E4B-CD93B6DC5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303BEDE8-5CF8-2E9D-79E5-E2CC57455755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2359A47E-B422-BF96-8D05-BEBC05A4F91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72E29F32-406F-183A-D143-D09C58085189}"/>
                </a:ext>
              </a:extLst>
            </p:cNvPr>
            <p:cNvSpPr/>
            <p:nvPr/>
          </p:nvSpPr>
          <p:spPr>
            <a:xfrm>
              <a:off x="514350" y="381000"/>
              <a:ext cx="800100" cy="762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B4725BAB-E3D3-6AF2-B23F-352C90589E5D}"/>
              </a:ext>
            </a:extLst>
          </p:cNvPr>
          <p:cNvSpPr txBox="1"/>
          <p:nvPr/>
        </p:nvSpPr>
        <p:spPr>
          <a:xfrm>
            <a:off x="478155" y="587692"/>
            <a:ext cx="6458499" cy="438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Verification Env</a:t>
            </a:r>
            <a:r>
              <a:rPr lang="en-US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.</a:t>
            </a:r>
            <a:r>
              <a:rPr lang="zh-CN" altLang="en-US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：</a:t>
            </a:r>
            <a:r>
              <a:rPr lang="en-US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Assessment</a:t>
            </a:r>
            <a:r>
              <a:rPr 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 </a:t>
            </a:r>
            <a:r>
              <a:rPr lang="en-US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Agent</a:t>
            </a:r>
            <a:endParaRPr lang="zh-CN" sz="2850" b="1" dirty="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D4E9874-B7E4-4237-05F9-13A818D840C7}"/>
              </a:ext>
            </a:extLst>
          </p:cNvPr>
          <p:cNvGrpSpPr/>
          <p:nvPr/>
        </p:nvGrpSpPr>
        <p:grpSpPr>
          <a:xfrm>
            <a:off x="514350" y="1504950"/>
            <a:ext cx="7867650" cy="4448175"/>
            <a:chOff x="514350" y="1504950"/>
            <a:chExt cx="7867650" cy="4448175"/>
          </a:xfrm>
        </p:grpSpPr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ED28A49C-F655-4695-161B-45A8D4B1A082}"/>
                </a:ext>
              </a:extLst>
            </p:cNvPr>
            <p:cNvSpPr/>
            <p:nvPr/>
          </p:nvSpPr>
          <p:spPr>
            <a:xfrm>
              <a:off x="514350" y="1504950"/>
              <a:ext cx="7867650" cy="4448175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C9D4DF"/>
              </a:solidFill>
            </a:ln>
          </p:spPr>
        </p:sp>
        <p:pic>
          <p:nvPicPr>
            <p:cNvPr id="9" name="Image 9">
              <a:extLst>
                <a:ext uri="{FF2B5EF4-FFF2-40B4-BE49-F238E27FC236}">
                  <a16:creationId xmlns:a16="http://schemas.microsoft.com/office/drawing/2014/main" id="{6D7831AA-F598-5447-CCDE-62B3A3EB96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81025" y="1619683"/>
              <a:ext cx="7734300" cy="4218709"/>
            </a:xfrm>
            <a:prstGeom prst="rect">
              <a:avLst/>
            </a:prstGeom>
          </p:spPr>
        </p:pic>
      </p:grpSp>
      <p:grpSp>
        <p:nvGrpSpPr>
          <p:cNvPr id="41" name="Group 41">
            <a:extLst>
              <a:ext uri="{FF2B5EF4-FFF2-40B4-BE49-F238E27FC236}">
                <a16:creationId xmlns:a16="http://schemas.microsoft.com/office/drawing/2014/main" id="{B10297FB-2820-1350-23EA-53E66340A5E7}"/>
              </a:ext>
            </a:extLst>
          </p:cNvPr>
          <p:cNvGrpSpPr/>
          <p:nvPr/>
        </p:nvGrpSpPr>
        <p:grpSpPr>
          <a:xfrm>
            <a:off x="8610600" y="1504950"/>
            <a:ext cx="3067050" cy="4448175"/>
            <a:chOff x="8610600" y="1504950"/>
            <a:chExt cx="3067050" cy="4448175"/>
          </a:xfrm>
        </p:grpSpPr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6E00B693-5999-05F3-C551-223487B8DE89}"/>
                </a:ext>
              </a:extLst>
            </p:cNvPr>
            <p:cNvSpPr/>
            <p:nvPr/>
          </p:nvSpPr>
          <p:spPr>
            <a:xfrm>
              <a:off x="8610600" y="1504950"/>
              <a:ext cx="3067050" cy="4448175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D4DC87AC-A8B3-AD40-A61E-921D19A45597}"/>
                </a:ext>
              </a:extLst>
            </p:cNvPr>
            <p:cNvSpPr/>
            <p:nvPr/>
          </p:nvSpPr>
          <p:spPr>
            <a:xfrm>
              <a:off x="8610600" y="1504950"/>
              <a:ext cx="3067050" cy="62865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3B0DABF1-669B-3246-2C5D-C48378F4D81E}"/>
                </a:ext>
              </a:extLst>
            </p:cNvPr>
            <p:cNvSpPr txBox="1"/>
            <p:nvPr/>
          </p:nvSpPr>
          <p:spPr>
            <a:xfrm>
              <a:off x="9652540" y="1677888"/>
              <a:ext cx="10130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2000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Harness</a:t>
              </a:r>
              <a:endParaRPr lang="zh-CN" sz="2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5BB28C73-636B-969F-FCE5-A6C5394E8ED6}"/>
                </a:ext>
              </a:extLst>
            </p:cNvPr>
            <p:cNvSpPr txBox="1"/>
            <p:nvPr/>
          </p:nvSpPr>
          <p:spPr>
            <a:xfrm>
              <a:off x="8823960" y="2337435"/>
              <a:ext cx="265008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sz="1400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1 · </a:t>
              </a:r>
              <a:r>
                <a:rPr lang="en-US" altLang="zh-CN" sz="1400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AUTHORITATIVE EVIDENCE</a:t>
              </a:r>
              <a:endParaRPr lang="zh-CN" sz="1400" b="1" dirty="0">
                <a:solidFill>
                  <a:srgbClr val="1B4B8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264222EC-4A10-343F-C621-6F88C63A5CD9}"/>
                </a:ext>
              </a:extLst>
            </p:cNvPr>
            <p:cNvSpPr txBox="1"/>
            <p:nvPr/>
          </p:nvSpPr>
          <p:spPr>
            <a:xfrm>
              <a:off x="8824912" y="2593181"/>
              <a:ext cx="156132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结构化事件 </a:t>
              </a:r>
              <a:r>
                <a:rPr lang="en-US" altLang="zh-CN" sz="12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+ </a:t>
              </a:r>
              <a:r>
                <a:rPr lang="zh-CN" altLang="en-US" sz="12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可信运行</a:t>
              </a:r>
              <a:endParaRPr lang="zh-CN" sz="1200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3214A2E7-4FDB-07E0-6C7A-9DC9E6B9B9EA}"/>
                </a:ext>
              </a:extLst>
            </p:cNvPr>
            <p:cNvSpPr txBox="1"/>
            <p:nvPr/>
          </p:nvSpPr>
          <p:spPr>
            <a:xfrm>
              <a:off x="8824912" y="2802731"/>
              <a:ext cx="269945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200">
                  <a:latin typeface="Arial"/>
                  <a:ea typeface="Microsoft YaHei"/>
                  <a:cs typeface="Arial"/>
                </a:rPr>
                <a:t>events / runs / transcript / evidenceRefs</a:t>
              </a:r>
              <a:endParaRPr lang="zh-CN" altLang="zh-CN" sz="1200" dirty="0"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9" name="Line 29">
              <a:extLst>
                <a:ext uri="{FF2B5EF4-FFF2-40B4-BE49-F238E27FC236}">
                  <a16:creationId xmlns:a16="http://schemas.microsoft.com/office/drawing/2014/main" id="{2A4D9EB5-ACC5-3B8C-EC54-F02D26780313}"/>
                </a:ext>
              </a:extLst>
            </p:cNvPr>
            <p:cNvSpPr/>
            <p:nvPr/>
          </p:nvSpPr>
          <p:spPr>
            <a:xfrm>
              <a:off x="8839200" y="3105150"/>
              <a:ext cx="2609850" cy="9525"/>
            </a:xfrm>
            <a:custGeom>
              <a:avLst/>
              <a:gdLst/>
              <a:ahLst/>
              <a:cxnLst/>
              <a:rect l="l" t="t" r="r" b="b"/>
              <a:pathLst>
                <a:path w="2609850" h="9525">
                  <a:moveTo>
                    <a:pt x="0" y="0"/>
                  </a:moveTo>
                  <a:lnTo>
                    <a:pt x="2609850" y="0"/>
                  </a:lnTo>
                </a:path>
              </a:pathLst>
            </a:custGeom>
            <a:noFill/>
            <a:ln w="9525">
              <a:solidFill>
                <a:srgbClr val="C9D4DF"/>
              </a:solidFill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FFF43EF-0E6F-196E-BF9C-D9B4E6D61373}"/>
                </a:ext>
              </a:extLst>
            </p:cNvPr>
            <p:cNvSpPr txBox="1"/>
            <p:nvPr/>
          </p:nvSpPr>
          <p:spPr>
            <a:xfrm>
              <a:off x="8823960" y="3270885"/>
              <a:ext cx="1655903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>
                  <a:solidFill>
                    <a:srgbClr val="E8842C"/>
                  </a:solidFill>
                  <a:latin typeface="Arial"/>
                  <a:ea typeface="Microsoft YaHei"/>
                  <a:cs typeface="Arial"/>
                </a:rPr>
                <a:t>2 ·</a:t>
              </a:r>
              <a:r>
                <a:rPr lang="en-US" altLang="zh-CN" sz="1400" b="1">
                  <a:solidFill>
                    <a:srgbClr val="E8842C"/>
                  </a:solidFill>
                  <a:latin typeface="Arial"/>
                  <a:ea typeface="Microsoft YaHei"/>
                  <a:cs typeface="Arial"/>
                </a:rPr>
                <a:t>RULE BASELINE</a:t>
              </a:r>
              <a:endParaRPr lang="zh-CN" sz="1400" b="1" dirty="0">
                <a:solidFill>
                  <a:srgbClr val="E8842C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AF77D762-CBBC-E83F-A0D1-16C128006C5D}"/>
                </a:ext>
              </a:extLst>
            </p:cNvPr>
            <p:cNvSpPr txBox="1"/>
            <p:nvPr/>
          </p:nvSpPr>
          <p:spPr>
            <a:xfrm>
              <a:off x="8824912" y="3526631"/>
              <a:ext cx="151964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12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规则基线</a:t>
              </a:r>
              <a:r>
                <a:rPr lang="pt-BR" altLang="zh-CN" sz="12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Rubric v3.3.0</a:t>
              </a:r>
              <a:endParaRPr lang="zh-CN" altLang="zh-CN" sz="1200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32" name="TextBox 32">
              <a:extLst>
                <a:ext uri="{FF2B5EF4-FFF2-40B4-BE49-F238E27FC236}">
                  <a16:creationId xmlns:a16="http://schemas.microsoft.com/office/drawing/2014/main" id="{6114DB79-B045-C15F-8F96-56A72A087BB5}"/>
                </a:ext>
              </a:extLst>
            </p:cNvPr>
            <p:cNvSpPr txBox="1"/>
            <p:nvPr/>
          </p:nvSpPr>
          <p:spPr>
            <a:xfrm>
              <a:off x="8824912" y="3745706"/>
              <a:ext cx="145232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12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过程 </a:t>
              </a:r>
              <a:r>
                <a:rPr lang="en-US" altLang="zh-CN" sz="12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75% · </a:t>
              </a:r>
              <a:r>
                <a:rPr lang="zh-CN" altLang="en-US" sz="12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复盘 </a:t>
              </a:r>
              <a:r>
                <a:rPr lang="en-US" altLang="zh-CN" sz="12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25%</a:t>
              </a:r>
              <a:endParaRPr lang="zh-CN" altLang="zh-CN" sz="1200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33" name="Line 33">
              <a:extLst>
                <a:ext uri="{FF2B5EF4-FFF2-40B4-BE49-F238E27FC236}">
                  <a16:creationId xmlns:a16="http://schemas.microsoft.com/office/drawing/2014/main" id="{3ED94A36-9773-00C2-7D01-46343A777620}"/>
                </a:ext>
              </a:extLst>
            </p:cNvPr>
            <p:cNvSpPr/>
            <p:nvPr/>
          </p:nvSpPr>
          <p:spPr>
            <a:xfrm>
              <a:off x="8839200" y="4048125"/>
              <a:ext cx="2609850" cy="9525"/>
            </a:xfrm>
            <a:custGeom>
              <a:avLst/>
              <a:gdLst/>
              <a:ahLst/>
              <a:cxnLst/>
              <a:rect l="l" t="t" r="r" b="b"/>
              <a:pathLst>
                <a:path w="2609850" h="9525">
                  <a:moveTo>
                    <a:pt x="0" y="0"/>
                  </a:moveTo>
                  <a:lnTo>
                    <a:pt x="2609850" y="0"/>
                  </a:lnTo>
                </a:path>
              </a:pathLst>
            </a:custGeom>
            <a:noFill/>
            <a:ln w="9525">
              <a:solidFill>
                <a:srgbClr val="C9D4DF"/>
              </a:solidFill>
            </a:ln>
          </p:spPr>
        </p:sp>
        <p:sp>
          <p:nvSpPr>
            <p:cNvPr id="34" name="TextBox 34">
              <a:extLst>
                <a:ext uri="{FF2B5EF4-FFF2-40B4-BE49-F238E27FC236}">
                  <a16:creationId xmlns:a16="http://schemas.microsoft.com/office/drawing/2014/main" id="{D1747115-59E3-03A8-A4BD-7D2B42A30FFC}"/>
                </a:ext>
              </a:extLst>
            </p:cNvPr>
            <p:cNvSpPr txBox="1"/>
            <p:nvPr/>
          </p:nvSpPr>
          <p:spPr>
            <a:xfrm>
              <a:off x="8823960" y="4213860"/>
              <a:ext cx="2197461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3 ·</a:t>
              </a:r>
              <a:r>
                <a:rPr lang="en-US" altLang="zh-CN" sz="1400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CONSTRAINED AGENT</a:t>
              </a:r>
              <a:endParaRPr lang="zh-CN" sz="1400" b="1" dirty="0">
                <a:solidFill>
                  <a:srgbClr val="1B4B8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35" name="TextBox 35">
              <a:extLst>
                <a:ext uri="{FF2B5EF4-FFF2-40B4-BE49-F238E27FC236}">
                  <a16:creationId xmlns:a16="http://schemas.microsoft.com/office/drawing/2014/main" id="{129B7F77-1E39-9EAA-D5EE-FABDBB60F4BC}"/>
                </a:ext>
              </a:extLst>
            </p:cNvPr>
            <p:cNvSpPr txBox="1"/>
            <p:nvPr/>
          </p:nvSpPr>
          <p:spPr>
            <a:xfrm>
              <a:off x="8824912" y="4469606"/>
              <a:ext cx="138499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独立评分，证据受限</a:t>
              </a:r>
              <a:endParaRPr lang="zh-CN" sz="1200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81DB6B34-F8A7-87AF-B22A-BFF8EFCA7A31}"/>
                </a:ext>
              </a:extLst>
            </p:cNvPr>
            <p:cNvSpPr txBox="1"/>
            <p:nvPr/>
          </p:nvSpPr>
          <p:spPr>
            <a:xfrm>
              <a:off x="8824912" y="4688681"/>
              <a:ext cx="150361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不能修改 </a:t>
              </a:r>
              <a:r>
                <a:rPr lang="en-US" altLang="zh-CN" sz="12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verified </a:t>
              </a:r>
              <a:r>
                <a:rPr lang="zh-CN" altLang="en-US" sz="12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事实</a:t>
              </a:r>
              <a:endParaRPr lang="zh-CN" sz="1200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37" name="Line 37">
              <a:extLst>
                <a:ext uri="{FF2B5EF4-FFF2-40B4-BE49-F238E27FC236}">
                  <a16:creationId xmlns:a16="http://schemas.microsoft.com/office/drawing/2014/main" id="{E3E90E66-63EE-4ED7-A4FC-B3DCCA353348}"/>
                </a:ext>
              </a:extLst>
            </p:cNvPr>
            <p:cNvSpPr/>
            <p:nvPr/>
          </p:nvSpPr>
          <p:spPr>
            <a:xfrm>
              <a:off x="8839200" y="4991100"/>
              <a:ext cx="2609850" cy="9525"/>
            </a:xfrm>
            <a:custGeom>
              <a:avLst/>
              <a:gdLst/>
              <a:ahLst/>
              <a:cxnLst/>
              <a:rect l="l" t="t" r="r" b="b"/>
              <a:pathLst>
                <a:path w="2609850" h="9525">
                  <a:moveTo>
                    <a:pt x="0" y="0"/>
                  </a:moveTo>
                  <a:lnTo>
                    <a:pt x="2609850" y="0"/>
                  </a:lnTo>
                </a:path>
              </a:pathLst>
            </a:custGeom>
            <a:noFill/>
            <a:ln w="9525">
              <a:solidFill>
                <a:srgbClr val="C9D4DF"/>
              </a:solidFill>
            </a:ln>
          </p:spPr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7F541471-8CD7-2B14-012C-D89AF15BFC3D}"/>
                </a:ext>
              </a:extLst>
            </p:cNvPr>
            <p:cNvSpPr txBox="1"/>
            <p:nvPr/>
          </p:nvSpPr>
          <p:spPr>
            <a:xfrm>
              <a:off x="8823960" y="5156835"/>
              <a:ext cx="243496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400" b="1">
                  <a:solidFill>
                    <a:srgbClr val="168C5A"/>
                  </a:solidFill>
                  <a:latin typeface="Arial"/>
                  <a:ea typeface="Microsoft YaHei"/>
                  <a:cs typeface="Arial"/>
                </a:rPr>
                <a:t>4</a:t>
              </a:r>
              <a:r>
                <a:rPr lang="zh-CN" sz="1400" b="1">
                  <a:solidFill>
                    <a:srgbClr val="168C5A"/>
                  </a:solidFill>
                  <a:latin typeface="Arial"/>
                  <a:ea typeface="Microsoft YaHei"/>
                  <a:cs typeface="Arial"/>
                </a:rPr>
                <a:t> ·</a:t>
              </a:r>
              <a:r>
                <a:rPr lang="en-US" altLang="zh-CN" sz="1400" b="1">
                  <a:solidFill>
                    <a:srgbClr val="168C5A"/>
                  </a:solidFill>
                  <a:latin typeface="Arial"/>
                  <a:ea typeface="Microsoft YaHei"/>
                  <a:cs typeface="Arial"/>
                </a:rPr>
                <a:t>FUSION &amp; PERSISTENCE</a:t>
              </a:r>
              <a:r>
                <a:rPr lang="zh-CN" sz="1400" b="1">
                  <a:solidFill>
                    <a:srgbClr val="168C5A"/>
                  </a:solidFill>
                  <a:latin typeface="Arial"/>
                  <a:ea typeface="Microsoft YaHei"/>
                  <a:cs typeface="Arial"/>
                </a:rPr>
                <a:t> </a:t>
              </a:r>
              <a:endParaRPr lang="zh-CN" sz="1400" b="1" dirty="0">
                <a:solidFill>
                  <a:srgbClr val="168C5A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C3B7ED02-BAE7-5576-C682-3C74200F4AE1}"/>
                </a:ext>
              </a:extLst>
            </p:cNvPr>
            <p:cNvSpPr txBox="1"/>
            <p:nvPr/>
          </p:nvSpPr>
          <p:spPr>
            <a:xfrm>
              <a:off x="8824912" y="5412581"/>
              <a:ext cx="153683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规则 </a:t>
              </a:r>
              <a:r>
                <a:rPr lang="en-US" altLang="zh-CN" sz="12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60% · Agent 40%</a:t>
              </a:r>
              <a:endParaRPr lang="zh-CN" sz="1200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40" name="TextBox 40">
              <a:extLst>
                <a:ext uri="{FF2B5EF4-FFF2-40B4-BE49-F238E27FC236}">
                  <a16:creationId xmlns:a16="http://schemas.microsoft.com/office/drawing/2014/main" id="{6437A416-FFE7-3520-ED1E-FC213D56FB26}"/>
                </a:ext>
              </a:extLst>
            </p:cNvPr>
            <p:cNvSpPr txBox="1"/>
            <p:nvPr/>
          </p:nvSpPr>
          <p:spPr>
            <a:xfrm>
              <a:off x="8824912" y="5631656"/>
              <a:ext cx="166071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复盘 </a:t>
              </a:r>
              <a:r>
                <a:rPr lang="en-US" altLang="zh-CN" sz="12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· </a:t>
              </a:r>
              <a:r>
                <a:rPr lang="zh-CN" altLang="en-US" sz="12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掌握度 </a:t>
              </a:r>
              <a:r>
                <a:rPr lang="en-US" altLang="zh-CN" sz="12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· </a:t>
              </a:r>
              <a:r>
                <a:rPr lang="zh-CN" altLang="en-US" sz="12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教师验收</a:t>
              </a:r>
              <a:endParaRPr lang="zh-CN" sz="1200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sp>
        <p:nvSpPr>
          <p:cNvPr id="45" name="TextBox 45">
            <a:extLst>
              <a:ext uri="{FF2B5EF4-FFF2-40B4-BE49-F238E27FC236}">
                <a16:creationId xmlns:a16="http://schemas.microsoft.com/office/drawing/2014/main" id="{F5AF4018-BD66-509D-E322-576F7CA393EB}"/>
              </a:ext>
            </a:extLst>
          </p:cNvPr>
          <p:cNvSpPr txBox="1"/>
          <p:nvPr/>
        </p:nvSpPr>
        <p:spPr>
          <a:xfrm>
            <a:off x="11560841" y="6570345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2</a:t>
            </a:r>
            <a:r>
              <a:rPr lang="en-US" alt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0</a:t>
            </a:r>
            <a:endParaRPr lang="zh-CN" sz="900" dirty="0">
              <a:solidFill>
                <a:srgbClr val="8993A1"/>
              </a:solidFill>
              <a:latin typeface="Arial"/>
              <a:ea typeface="Microsoft Ya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74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17C36-23F2-C2C0-C2EE-1CA31D1FA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96E7171A-AD0C-E26E-D4D4-039738439F62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F4D0B93B-5EA7-EF5E-22F3-1D87FD6C2FED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70C6A919-F175-90ED-944C-B2CDC9E816B3}"/>
                </a:ext>
              </a:extLst>
            </p:cNvPr>
            <p:cNvSpPr/>
            <p:nvPr/>
          </p:nvSpPr>
          <p:spPr>
            <a:xfrm>
              <a:off x="514350" y="381000"/>
              <a:ext cx="800100" cy="762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05A51957-A544-8509-4625-2DA50E9AF022}"/>
              </a:ext>
            </a:extLst>
          </p:cNvPr>
          <p:cNvSpPr txBox="1"/>
          <p:nvPr/>
        </p:nvSpPr>
        <p:spPr>
          <a:xfrm>
            <a:off x="478155" y="587692"/>
            <a:ext cx="7565341" cy="438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Verification Env</a:t>
            </a:r>
            <a:r>
              <a:rPr lang="en-US" alt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.</a:t>
            </a:r>
            <a:r>
              <a:rPr lang="zh-CN" altLang="en-US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：证据驱动的苏格拉底式复盘</a:t>
            </a:r>
            <a:endParaRPr lang="zh-CN" sz="2850" b="1" dirty="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9AD06529-1289-8A6B-8E4D-D1492BD597F5}"/>
              </a:ext>
            </a:extLst>
          </p:cNvPr>
          <p:cNvGrpSpPr/>
          <p:nvPr/>
        </p:nvGrpSpPr>
        <p:grpSpPr>
          <a:xfrm>
            <a:off x="514350" y="1504950"/>
            <a:ext cx="7524750" cy="5019675"/>
            <a:chOff x="514350" y="1504950"/>
            <a:chExt cx="7524750" cy="5019675"/>
          </a:xfrm>
        </p:grpSpPr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0823B17C-EE6C-E635-3F2D-9B7E802CCA9D}"/>
                </a:ext>
              </a:extLst>
            </p:cNvPr>
            <p:cNvSpPr/>
            <p:nvPr/>
          </p:nvSpPr>
          <p:spPr>
            <a:xfrm>
              <a:off x="514350" y="1504950"/>
              <a:ext cx="7524750" cy="5019675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C9D4DF"/>
              </a:solidFill>
            </a:ln>
          </p:spPr>
        </p:sp>
        <p:pic>
          <p:nvPicPr>
            <p:cNvPr id="9" name="Image 9">
              <a:extLst>
                <a:ext uri="{FF2B5EF4-FFF2-40B4-BE49-F238E27FC236}">
                  <a16:creationId xmlns:a16="http://schemas.microsoft.com/office/drawing/2014/main" id="{4839087D-E163-8645-85D2-27061EC84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3406" y="1571625"/>
              <a:ext cx="7386638" cy="4924425"/>
            </a:xfrm>
            <a:prstGeom prst="rect">
              <a:avLst/>
            </a:prstGeom>
          </p:spPr>
        </p:pic>
      </p:grpSp>
      <p:sp>
        <p:nvSpPr>
          <p:cNvPr id="11" name="Rectangle 11">
            <a:extLst>
              <a:ext uri="{FF2B5EF4-FFF2-40B4-BE49-F238E27FC236}">
                <a16:creationId xmlns:a16="http://schemas.microsoft.com/office/drawing/2014/main" id="{5F0EF499-B86E-00BD-D72D-80A29485CD0E}"/>
              </a:ext>
            </a:extLst>
          </p:cNvPr>
          <p:cNvSpPr/>
          <p:nvPr/>
        </p:nvSpPr>
        <p:spPr>
          <a:xfrm>
            <a:off x="8286750" y="1504950"/>
            <a:ext cx="3390900" cy="1257300"/>
          </a:xfrm>
          <a:prstGeom prst="rect">
            <a:avLst/>
          </a:prstGeom>
          <a:solidFill>
            <a:srgbClr val="1B4B8F"/>
          </a:solidFill>
          <a:ln>
            <a:noFill/>
          </a:ln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8730BDB-B31E-97AE-3EF0-CDC331D51AA9}"/>
              </a:ext>
            </a:extLst>
          </p:cNvPr>
          <p:cNvSpPr txBox="1"/>
          <p:nvPr/>
        </p:nvSpPr>
        <p:spPr>
          <a:xfrm>
            <a:off x="8500110" y="1699260"/>
            <a:ext cx="13662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842C"/>
                </a:solidFill>
                <a:latin typeface="Arial"/>
                <a:ea typeface="Microsoft YaHei"/>
                <a:cs typeface="Arial"/>
              </a:rPr>
              <a:t>01 · ASSESSMENT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AEA9FA0-C4BE-1631-48D0-C93F2E511C6A}"/>
              </a:ext>
            </a:extLst>
          </p:cNvPr>
          <p:cNvSpPr txBox="1"/>
          <p:nvPr/>
        </p:nvSpPr>
        <p:spPr>
          <a:xfrm>
            <a:off x="8502015" y="2105889"/>
            <a:ext cx="2539157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定义复盘目标与证据门槛</a:t>
            </a:r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1D372374-FAE8-A9CD-5D0C-825B4AA11174}"/>
              </a:ext>
            </a:extLst>
          </p:cNvPr>
          <p:cNvSpPr/>
          <p:nvPr/>
        </p:nvSpPr>
        <p:spPr>
          <a:xfrm>
            <a:off x="8286750" y="2914650"/>
            <a:ext cx="3390900" cy="1257300"/>
          </a:xfrm>
          <a:prstGeom prst="rect">
            <a:avLst/>
          </a:prstGeom>
          <a:solidFill>
            <a:srgbClr val="F2F6FA"/>
          </a:solidFill>
          <a:ln w="19050">
            <a:solidFill>
              <a:srgbClr val="3E7CB1"/>
            </a:solidFill>
          </a:ln>
        </p:spPr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CCE19B3-8D7C-8F3E-FF4E-C8F418E9467D}"/>
              </a:ext>
            </a:extLst>
          </p:cNvPr>
          <p:cNvSpPr txBox="1"/>
          <p:nvPr/>
        </p:nvSpPr>
        <p:spPr>
          <a:xfrm>
            <a:off x="8500110" y="3108960"/>
            <a:ext cx="9041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E7CB1"/>
                </a:solidFill>
                <a:latin typeface="Arial"/>
                <a:ea typeface="Microsoft YaHei"/>
                <a:cs typeface="Arial"/>
              </a:rPr>
              <a:t>02 · TUTOR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B3C9B4E-3417-C072-9255-7034537BAB92}"/>
              </a:ext>
            </a:extLst>
          </p:cNvPr>
          <p:cNvSpPr txBox="1"/>
          <p:nvPr/>
        </p:nvSpPr>
        <p:spPr>
          <a:xfrm>
            <a:off x="8494395" y="3485375"/>
            <a:ext cx="2936701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参考 </a:t>
            </a:r>
            <a:r>
              <a:rPr lang="zh-CN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b</a:t>
            </a:r>
            <a:r>
              <a:rPr lang="zh-CN" b="1" dirty="0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rie</a:t>
            </a:r>
            <a:r>
              <a:rPr lang="zh-CN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f </a:t>
            </a:r>
            <a:r>
              <a:rPr lang="zh-CN" altLang="en-US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进行</a:t>
            </a:r>
            <a:r>
              <a:rPr lang="zh-CN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苏</a:t>
            </a:r>
            <a:r>
              <a:rPr lang="zh-CN" b="1" dirty="0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格</a:t>
            </a:r>
            <a:r>
              <a:rPr lang="zh-CN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拉底</a:t>
            </a:r>
            <a:r>
              <a:rPr lang="zh-CN" altLang="en-US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复盘</a:t>
            </a:r>
            <a:endParaRPr lang="zh-CN" b="1" dirty="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47E6D27D-E62B-AACE-549A-7B446EC5A70C}"/>
              </a:ext>
            </a:extLst>
          </p:cNvPr>
          <p:cNvSpPr/>
          <p:nvPr/>
        </p:nvSpPr>
        <p:spPr>
          <a:xfrm>
            <a:off x="8286750" y="4324350"/>
            <a:ext cx="3390900" cy="1195388"/>
          </a:xfrm>
          <a:prstGeom prst="rect">
            <a:avLst/>
          </a:prstGeom>
          <a:solidFill>
            <a:srgbClr val="F2F6FA"/>
          </a:solidFill>
          <a:ln w="19050">
            <a:solidFill>
              <a:srgbClr val="E8842C"/>
            </a:solidFill>
          </a:ln>
        </p:spPr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28315A0-F946-3DCD-FCF6-C177025C942F}"/>
              </a:ext>
            </a:extLst>
          </p:cNvPr>
          <p:cNvSpPr txBox="1"/>
          <p:nvPr/>
        </p:nvSpPr>
        <p:spPr>
          <a:xfrm>
            <a:off x="8500110" y="4518660"/>
            <a:ext cx="13662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842C"/>
                </a:solidFill>
                <a:latin typeface="Arial"/>
                <a:ea typeface="Microsoft YaHei"/>
                <a:cs typeface="Arial"/>
              </a:rPr>
              <a:t>03 · ASSESSMENT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7834DF9-2C66-7D2B-DAF4-032D3BFE6FED}"/>
              </a:ext>
            </a:extLst>
          </p:cNvPr>
          <p:cNvSpPr txBox="1"/>
          <p:nvPr/>
        </p:nvSpPr>
        <p:spPr>
          <a:xfrm>
            <a:off x="8494395" y="4914900"/>
            <a:ext cx="2308324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结合行为进行学习评价</a:t>
            </a:r>
            <a:endParaRPr lang="zh-CN" b="1" dirty="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25" name="Rectangle 25">
            <a:extLst>
              <a:ext uri="{FF2B5EF4-FFF2-40B4-BE49-F238E27FC236}">
                <a16:creationId xmlns:a16="http://schemas.microsoft.com/office/drawing/2014/main" id="{A317A16C-9D71-3202-8F4F-450534F562AB}"/>
              </a:ext>
            </a:extLst>
          </p:cNvPr>
          <p:cNvSpPr/>
          <p:nvPr/>
        </p:nvSpPr>
        <p:spPr>
          <a:xfrm>
            <a:off x="8286750" y="5672134"/>
            <a:ext cx="3390900" cy="840677"/>
          </a:xfrm>
          <a:prstGeom prst="rect">
            <a:avLst/>
          </a:prstGeom>
          <a:solidFill>
            <a:srgbClr val="168C5A"/>
          </a:solidFill>
          <a:ln>
            <a:noFill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DA0D7FD4-F672-055A-2957-11321864B3C0}"/>
              </a:ext>
            </a:extLst>
          </p:cNvPr>
          <p:cNvSpPr txBox="1"/>
          <p:nvPr/>
        </p:nvSpPr>
        <p:spPr>
          <a:xfrm>
            <a:off x="8502015" y="5873041"/>
            <a:ext cx="1526059" cy="2417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05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TEACHER </a:t>
            </a:r>
            <a:r>
              <a:rPr lang="zh-CN" sz="105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I</a:t>
            </a:r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N CONTROL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DC133EF8-E318-6C92-8417-E772D815FB17}"/>
              </a:ext>
            </a:extLst>
          </p:cNvPr>
          <p:cNvSpPr txBox="1"/>
          <p:nvPr/>
        </p:nvSpPr>
        <p:spPr>
          <a:xfrm>
            <a:off x="8498205" y="6138069"/>
            <a:ext cx="1654299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教师</a:t>
            </a:r>
            <a:r>
              <a:rPr lang="zh-CN" altLang="en-US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参考与</a:t>
            </a:r>
            <a:r>
              <a:rPr lang="zh-CN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反馈</a:t>
            </a:r>
            <a:endParaRPr lang="zh-CN" b="1" dirty="0">
              <a:solidFill>
                <a:srgbClr val="FFFFFF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7F1ED2DB-C912-3C6F-6582-294AC9232C76}"/>
              </a:ext>
            </a:extLst>
          </p:cNvPr>
          <p:cNvSpPr txBox="1"/>
          <p:nvPr/>
        </p:nvSpPr>
        <p:spPr>
          <a:xfrm>
            <a:off x="11560841" y="6627495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2</a:t>
            </a:r>
            <a:r>
              <a:rPr lang="en-US" alt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1</a:t>
            </a:r>
            <a:endParaRPr lang="zh-CN" sz="900" dirty="0">
              <a:solidFill>
                <a:srgbClr val="8993A1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5B56107-0BBD-54B6-3728-147FBEA594BC}"/>
              </a:ext>
            </a:extLst>
          </p:cNvPr>
          <p:cNvSpPr/>
          <p:nvPr/>
        </p:nvSpPr>
        <p:spPr>
          <a:xfrm>
            <a:off x="3582837" y="4111925"/>
            <a:ext cx="3901709" cy="1503063"/>
          </a:xfrm>
          <a:custGeom>
            <a:avLst/>
            <a:gdLst>
              <a:gd name="csX0" fmla="*/ 0 w 3901709"/>
              <a:gd name="csY0" fmla="*/ 751532 h 1503063"/>
              <a:gd name="csX1" fmla="*/ 1950855 w 3901709"/>
              <a:gd name="csY1" fmla="*/ 0 h 1503063"/>
              <a:gd name="csX2" fmla="*/ 3901710 w 3901709"/>
              <a:gd name="csY2" fmla="*/ 751532 h 1503063"/>
              <a:gd name="csX3" fmla="*/ 1950855 w 3901709"/>
              <a:gd name="csY3" fmla="*/ 1503064 h 1503063"/>
              <a:gd name="csX4" fmla="*/ 0 w 3901709"/>
              <a:gd name="csY4" fmla="*/ 751532 h 15030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901709" h="1503063" extrusionOk="0">
                <a:moveTo>
                  <a:pt x="0" y="751532"/>
                </a:moveTo>
                <a:cubicBezTo>
                  <a:pt x="13619" y="417133"/>
                  <a:pt x="1067696" y="-119383"/>
                  <a:pt x="1950855" y="0"/>
                </a:cubicBezTo>
                <a:cubicBezTo>
                  <a:pt x="3049149" y="55777"/>
                  <a:pt x="3924704" y="332226"/>
                  <a:pt x="3901710" y="751532"/>
                </a:cubicBezTo>
                <a:cubicBezTo>
                  <a:pt x="3918886" y="1343764"/>
                  <a:pt x="3010569" y="1674420"/>
                  <a:pt x="1950855" y="1503064"/>
                </a:cubicBezTo>
                <a:cubicBezTo>
                  <a:pt x="856878" y="1492350"/>
                  <a:pt x="49776" y="1236390"/>
                  <a:pt x="0" y="751532"/>
                </a:cubicBezTo>
                <a:close/>
              </a:path>
            </a:pathLst>
          </a:custGeom>
          <a:noFill/>
          <a:ln w="3810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64574268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285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14350" y="381000"/>
              <a:ext cx="800100" cy="762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8155" y="587692"/>
            <a:ext cx="2192908" cy="438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系统测试情况</a:t>
            </a:r>
            <a:endParaRPr lang="zh-CN" sz="2850" b="1" dirty="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514350" y="1619250"/>
            <a:ext cx="5086350" cy="3429000"/>
            <a:chOff x="514350" y="1619250"/>
            <a:chExt cx="5086350" cy="3429000"/>
          </a:xfrm>
        </p:grpSpPr>
        <p:sp>
          <p:nvSpPr>
            <p:cNvPr id="8" name="Rectangle 8"/>
            <p:cNvSpPr/>
            <p:nvPr/>
          </p:nvSpPr>
          <p:spPr>
            <a:xfrm>
              <a:off x="514350" y="1619250"/>
              <a:ext cx="5086350" cy="3429000"/>
            </a:xfrm>
            <a:prstGeom prst="rect">
              <a:avLst/>
            </a:prstGeom>
            <a:solidFill>
              <a:srgbClr val="1B4B8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5810" y="1870710"/>
              <a:ext cx="24079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AUTOMATED / CONTRACT TESTS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97230" y="2383155"/>
              <a:ext cx="3063339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21</a:t>
              </a:r>
              <a:r>
                <a:rPr lang="en-US" altLang="zh-CN" sz="6600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  <a:r>
                <a:rPr lang="zh-CN" sz="6600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/21</a:t>
              </a:r>
              <a:r>
                <a:rPr lang="en-US" altLang="zh-CN" sz="6600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  <a:endParaRPr lang="zh-CN" sz="6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0095" y="3336608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全部通过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81050" y="3829050"/>
              <a:ext cx="4552950" cy="9525"/>
            </a:xfrm>
            <a:custGeom>
              <a:avLst/>
              <a:gdLst/>
              <a:ahLst/>
              <a:cxnLst/>
              <a:rect l="l" t="t" r="r" b="b"/>
              <a:pathLst>
                <a:path w="4552950" h="9525">
                  <a:moveTo>
                    <a:pt x="0" y="0"/>
                  </a:moveTo>
                  <a:lnTo>
                    <a:pt x="4552950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3905" y="4064318"/>
              <a:ext cx="750205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14</a:t>
              </a:r>
              <a:r>
                <a:rPr lang="en-US" altLang="zh-CN" sz="135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  <a:r>
                <a:rPr lang="zh-CN" sz="135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Node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45055" y="4064318"/>
              <a:ext cx="59631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  <a:r>
                <a:rPr lang="en-US" altLang="zh-CN" sz="135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</a:t>
              </a:r>
              <a:r>
                <a:rPr lang="zh-CN" sz="135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Rust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97605" y="4064318"/>
              <a:ext cx="8803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32 Python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5810" y="4509135"/>
              <a:ext cx="39349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覆盖 Handbook / Tutor / Learning 与 8 个组件 crate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829300" y="1619250"/>
            <a:ext cx="5848350" cy="3429000"/>
            <a:chOff x="5829300" y="1619250"/>
            <a:chExt cx="5848350" cy="3429000"/>
          </a:xfrm>
        </p:grpSpPr>
        <p:sp>
          <p:nvSpPr>
            <p:cNvPr id="18" name="Rectangle 18"/>
            <p:cNvSpPr/>
            <p:nvPr/>
          </p:nvSpPr>
          <p:spPr>
            <a:xfrm>
              <a:off x="5829300" y="1619250"/>
              <a:ext cx="2838450" cy="1619250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C9D4D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25515" y="1839278"/>
              <a:ext cx="12910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QEMU END-TO-END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93130" y="2116455"/>
              <a:ext cx="2183301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8/8 Labs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23610" y="2794635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行为断言全部通过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839200" y="1619250"/>
              <a:ext cx="2838450" cy="1619250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C9D4D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35415" y="1839278"/>
              <a:ext cx="10705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TUTOR HARNESS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03030" y="2116455"/>
              <a:ext cx="512961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3600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19</a:t>
              </a:r>
              <a:endParaRPr lang="zh-CN" sz="3600" b="1" dirty="0">
                <a:solidFill>
                  <a:srgbClr val="1B4B8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04095" y="2326958"/>
              <a:ext cx="93137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68C5A"/>
                  </a:solidFill>
                  <a:latin typeface="Arial"/>
                  <a:ea typeface="Microsoft YaHei"/>
                  <a:cs typeface="Arial"/>
                </a:rPr>
                <a:t>泄漏率 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33510" y="2794635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相关性、引导、引用均达标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829300" y="3429000"/>
              <a:ext cx="2838450" cy="1619250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C9D4D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25515" y="3649028"/>
              <a:ext cx="14748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ASSESSMENT HARNESS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93130" y="3926205"/>
              <a:ext cx="36867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84645" y="4136708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68C5A"/>
                  </a:solidFill>
                  <a:latin typeface="Arial"/>
                  <a:ea typeface="Microsoft YaHei"/>
                  <a:cs typeface="Arial"/>
                </a:rPr>
                <a:t>用例通过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23610" y="4604385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计划、判定、反馈契约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839200" y="3429000"/>
              <a:ext cx="2838450" cy="1619250"/>
            </a:xfrm>
            <a:prstGeom prst="rect">
              <a:avLst/>
            </a:prstGeom>
            <a:solidFill>
              <a:srgbClr val="F8FAFC"/>
            </a:solidFill>
            <a:ln w="19050">
              <a:solidFill>
                <a:srgbClr val="C9D4D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35415" y="3649028"/>
              <a:ext cx="11807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KNOWLEDGE BASE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3990975"/>
              <a:ext cx="1231344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1,384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323195" y="4136708"/>
              <a:ext cx="7465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68C5A"/>
                  </a:solidFill>
                  <a:latin typeface="Arial"/>
                  <a:ea typeface="Microsoft YaHei"/>
                  <a:cs typeface="Arial"/>
                </a:rPr>
                <a:t>active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31605" y="4550092"/>
              <a:ext cx="18795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1,360 indexed chunks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1560841" y="6570345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2</a:t>
            </a:r>
            <a:r>
              <a:rPr lang="en-US" alt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2</a:t>
            </a:r>
            <a:endParaRPr lang="zh-CN" sz="900" dirty="0">
              <a:solidFill>
                <a:srgbClr val="8993A1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14350" y="381000"/>
              <a:ext cx="800100" cy="762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8155" y="587692"/>
            <a:ext cx="2923877" cy="438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三方环境框架对比</a:t>
            </a:r>
            <a:endParaRPr lang="zh-CN" sz="2850" b="1" dirty="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61" name="Group 61"/>
          <p:cNvGrpSpPr/>
          <p:nvPr/>
        </p:nvGrpSpPr>
        <p:grpSpPr>
          <a:xfrm>
            <a:off x="514350" y="1562100"/>
            <a:ext cx="11163300" cy="4229100"/>
            <a:chOff x="514350" y="1562100"/>
            <a:chExt cx="11163300" cy="4229100"/>
          </a:xfrm>
        </p:grpSpPr>
        <p:sp>
          <p:nvSpPr>
            <p:cNvPr id="8" name="Rectangle 8"/>
            <p:cNvSpPr/>
            <p:nvPr/>
          </p:nvSpPr>
          <p:spPr>
            <a:xfrm>
              <a:off x="514350" y="1562100"/>
              <a:ext cx="2000250" cy="57150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87705" y="17687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比较维度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514600" y="1562100"/>
              <a:ext cx="3143250" cy="571500"/>
            </a:xfrm>
            <a:prstGeom prst="rect">
              <a:avLst/>
            </a:prstGeom>
            <a:solidFill>
              <a:srgbClr val="1B4B8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644300" y="1728758"/>
              <a:ext cx="85051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EVOLVE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657850" y="1562100"/>
              <a:ext cx="2857500" cy="571500"/>
            </a:xfrm>
            <a:prstGeom prst="rect">
              <a:avLst/>
            </a:prstGeom>
            <a:solidFill>
              <a:srgbClr val="3E7CB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80953" y="1718819"/>
              <a:ext cx="105843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tg-rcore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515350" y="1562100"/>
              <a:ext cx="3162300" cy="571500"/>
            </a:xfrm>
            <a:prstGeom prst="rect">
              <a:avLst/>
            </a:prstGeom>
            <a:solidFill>
              <a:srgbClr val="5B667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926260" y="1736408"/>
              <a:ext cx="42310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xv6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14350" y="2133600"/>
              <a:ext cx="2000250" cy="876300"/>
            </a:xfrm>
            <a:prstGeom prst="rect">
              <a:avLst/>
            </a:prstGeom>
            <a:solidFill>
              <a:srgbClr val="F8FAFC"/>
            </a:solidFill>
            <a:ln w="9525">
              <a:solidFill>
                <a:srgbClr val="C9D4D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7705" y="233076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代码组织与演进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514600" y="2133600"/>
              <a:ext cx="3143250" cy="876300"/>
            </a:xfrm>
            <a:prstGeom prst="rect">
              <a:avLst/>
            </a:prstGeom>
            <a:solidFill>
              <a:srgbClr val="F2F6FA"/>
            </a:solidFill>
            <a:ln w="9525">
              <a:solidFill>
                <a:srgbClr val="1B4B8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688908" y="2291239"/>
              <a:ext cx="154089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单内核 feature 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90812" y="2564606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演进本身可切换、可观察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657850" y="2133600"/>
              <a:ext cx="2857500" cy="876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4D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32158" y="2291239"/>
              <a:ext cx="18533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分章工程 + 共享 crate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34062" y="25646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章节边界表达演进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515350" y="2133600"/>
              <a:ext cx="3162300" cy="876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4D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89658" y="2291239"/>
              <a:ext cx="128204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单一成熟源码树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91562" y="2564606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增量依赖指导与版本对照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14350" y="3009900"/>
              <a:ext cx="2000250" cy="876300"/>
            </a:xfrm>
            <a:prstGeom prst="rect">
              <a:avLst/>
            </a:prstGeom>
            <a:solidFill>
              <a:srgbClr val="F8FAFC"/>
            </a:solidFill>
            <a:ln w="9525">
              <a:solidFill>
                <a:srgbClr val="C9D4D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7705" y="3207068"/>
              <a:ext cx="1558119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3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知识分布与教学节奏</a:t>
              </a:r>
              <a:endParaRPr lang="zh-CN" sz="1350" b="1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514600" y="3009900"/>
              <a:ext cx="3143250" cy="876300"/>
            </a:xfrm>
            <a:prstGeom prst="rect">
              <a:avLst/>
            </a:prstGeom>
            <a:solidFill>
              <a:srgbClr val="F2F6FA"/>
            </a:solidFill>
            <a:ln w="9525">
              <a:solidFill>
                <a:srgbClr val="1B4B8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688908" y="31675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削峰铺轨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90812" y="34409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先主线、后完整语义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657850" y="3009900"/>
              <a:ext cx="2857500" cy="876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4D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832158" y="31675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章内做透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834062" y="344090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标准化练习，峰值更陡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515350" y="3009900"/>
              <a:ext cx="3162300" cy="876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4DF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89658" y="3167539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完整系统在场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91562" y="34409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适合概念后的深化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14350" y="3886200"/>
              <a:ext cx="2000250" cy="876300"/>
            </a:xfrm>
            <a:prstGeom prst="rect">
              <a:avLst/>
            </a:prstGeom>
            <a:solidFill>
              <a:srgbClr val="F8FAFC"/>
            </a:solidFill>
            <a:ln w="9525">
              <a:solidFill>
                <a:srgbClr val="C9D4D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7705" y="4083368"/>
              <a:ext cx="1211870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350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实践形</a:t>
              </a:r>
              <a:r>
                <a:rPr lang="zh-CN" altLang="en-US" sz="13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态与验收</a:t>
              </a:r>
              <a:endParaRPr lang="zh-CN" sz="1350" b="1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514600" y="3886200"/>
              <a:ext cx="3143250" cy="876300"/>
            </a:xfrm>
            <a:prstGeom prst="rect">
              <a:avLst/>
            </a:prstGeom>
            <a:solidFill>
              <a:srgbClr val="F2F6FA"/>
            </a:solidFill>
            <a:ln w="9525">
              <a:solidFill>
                <a:srgbClr val="1B4B8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688908" y="4043839"/>
              <a:ext cx="2393540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75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Web </a:t>
              </a:r>
              <a:r>
                <a:rPr lang="zh-CN" altLang="en-US" sz="1275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手册 </a:t>
              </a:r>
              <a:r>
                <a:rPr lang="en-US" altLang="zh-CN" sz="1275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+ </a:t>
              </a:r>
              <a:r>
                <a:rPr lang="zh-CN" altLang="en-US" sz="1275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隔离工作区 </a:t>
              </a:r>
              <a:r>
                <a:rPr lang="en-US" altLang="zh-CN" sz="1275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+ </a:t>
              </a:r>
              <a:r>
                <a:rPr lang="zh-CN" altLang="en-US" sz="1275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教师端</a:t>
              </a:r>
              <a:endParaRPr lang="zh-CN" sz="1275" b="1" dirty="0">
                <a:solidFill>
                  <a:srgbClr val="1B4B8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690812" y="4317206"/>
              <a:ext cx="1891543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QEMU </a:t>
              </a:r>
              <a:r>
                <a:rPr lang="zh-CN" altLang="en-US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断言 </a:t>
              </a:r>
              <a:r>
                <a:rPr lang="en-US" alt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/ make test-</a:t>
              </a:r>
              <a:r>
                <a:rPr lang="en-US" altLang="zh-CN" sz="1125" dirty="0" err="1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labN</a:t>
              </a:r>
              <a:r>
                <a:rPr lang="en-US" alt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 </a:t>
              </a:r>
            </a:p>
            <a:p>
              <a:pPr algn="l"/>
              <a:r>
                <a:rPr lang="en-US" alt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+ 40 </a:t>
              </a:r>
              <a:r>
                <a:rPr lang="zh-CN" altLang="en-US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项 </a:t>
              </a:r>
              <a:r>
                <a:rPr lang="en-US" alt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host </a:t>
              </a:r>
              <a:r>
                <a:rPr lang="zh-CN" altLang="en-US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单测</a:t>
              </a:r>
              <a:endParaRPr lang="zh-CN" sz="1125" dirty="0">
                <a:solidFill>
                  <a:srgbClr val="5B6673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657850" y="3886200"/>
              <a:ext cx="2857500" cy="876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4D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832158" y="4043839"/>
              <a:ext cx="1638269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75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本地 </a:t>
              </a:r>
              <a:r>
                <a:rPr lang="en-US" altLang="zh-CN" sz="1275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clone + </a:t>
              </a:r>
              <a:r>
                <a:rPr lang="zh-CN" altLang="en-US" sz="1275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终端为主</a:t>
              </a:r>
              <a:endParaRPr lang="zh-CN" sz="1275" b="1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834062" y="4317206"/>
              <a:ext cx="1859483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125" dirty="0" err="1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tg</a:t>
              </a:r>
              <a:r>
                <a:rPr lang="en-US" alt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-</a:t>
              </a:r>
              <a:r>
                <a:rPr lang="en-US" altLang="zh-CN" sz="1125" dirty="0" err="1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rcore</a:t>
              </a:r>
              <a:r>
                <a:rPr lang="en-US" alt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-tutorial-checker </a:t>
              </a:r>
              <a:r>
                <a:rPr lang="zh-CN" altLang="en-US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判题</a:t>
              </a:r>
              <a:endParaRPr lang="zh-CN" sz="1125" dirty="0">
                <a:solidFill>
                  <a:srgbClr val="5B6673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515350" y="3886200"/>
              <a:ext cx="3162300" cy="876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4D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689658" y="4043839"/>
              <a:ext cx="1938031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75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教材 </a:t>
              </a:r>
              <a:r>
                <a:rPr lang="en-US" altLang="zh-CN" sz="1275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+ </a:t>
              </a:r>
              <a:r>
                <a:rPr lang="zh-CN" altLang="en-US" sz="1275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终端 </a:t>
              </a:r>
              <a:r>
                <a:rPr lang="en-US" altLang="zh-CN" sz="1275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lab</a:t>
              </a:r>
              <a:r>
                <a:rPr lang="zh-CN" altLang="en-US" sz="1275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，教务自建</a:t>
              </a:r>
              <a:endParaRPr lang="zh-CN" sz="1275" b="1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91562" y="4317206"/>
              <a:ext cx="2337178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make </a:t>
              </a:r>
              <a:r>
                <a:rPr lang="en-US" altLang="zh-CN" sz="1125" dirty="0" err="1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qemu</a:t>
              </a:r>
              <a:r>
                <a:rPr lang="en-US" alt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 + grade-lab-* / </a:t>
              </a:r>
              <a:r>
                <a:rPr lang="en-US" altLang="zh-CN" sz="1125" dirty="0" err="1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usertests</a:t>
              </a:r>
              <a:endParaRPr lang="zh-CN" sz="1125" dirty="0">
                <a:solidFill>
                  <a:srgbClr val="5B6673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14350" y="4762500"/>
              <a:ext cx="2000250" cy="1028700"/>
            </a:xfrm>
            <a:prstGeom prst="rect">
              <a:avLst/>
            </a:prstGeom>
            <a:solidFill>
              <a:srgbClr val="F8FAFC"/>
            </a:solidFill>
            <a:ln w="9525">
              <a:solidFill>
                <a:srgbClr val="C9D4D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7705" y="4988242"/>
              <a:ext cx="1433085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3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AI </a:t>
              </a:r>
              <a:r>
                <a:rPr lang="zh-CN" altLang="en-US" sz="135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时代的教学应对</a:t>
              </a:r>
              <a:endParaRPr lang="zh-CN" sz="1350" b="1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514600" y="4762500"/>
              <a:ext cx="3143250" cy="1028700"/>
            </a:xfrm>
            <a:prstGeom prst="rect">
              <a:avLst/>
            </a:prstGeom>
            <a:solidFill>
              <a:srgbClr val="F2F6FA"/>
            </a:solidFill>
            <a:ln w="9525">
              <a:solidFill>
                <a:srgbClr val="1B4B8F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688908" y="4939189"/>
              <a:ext cx="2300310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证据</a:t>
              </a:r>
              <a:r>
                <a:rPr lang="zh-CN" altLang="en-US" sz="1275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驱动</a:t>
              </a:r>
              <a:r>
                <a:rPr lang="en-US" altLang="zh-CN" sz="1275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Agent</a:t>
              </a:r>
              <a:r>
                <a:rPr lang="zh-CN" sz="1275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、</a:t>
              </a:r>
              <a:r>
                <a:rPr lang="zh-CN" sz="1275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教师控制内建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690812" y="5222081"/>
              <a:ext cx="2340384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学习活动可见、内置 </a:t>
              </a:r>
              <a:r>
                <a:rPr lang="en-US" alt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AI</a:t>
              </a:r>
              <a:r>
                <a:rPr lang="zh-CN" altLang="en-US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设置答案护栏</a:t>
              </a:r>
              <a:endParaRPr lang="zh-CN" altLang="zh-CN" sz="1125" dirty="0">
                <a:solidFill>
                  <a:srgbClr val="5B6673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690812" y="5460206"/>
              <a:ext cx="1009892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报告复盘可复核</a:t>
              </a:r>
              <a:endParaRPr lang="zh-CN" altLang="zh-CN" sz="1125" dirty="0">
                <a:solidFill>
                  <a:srgbClr val="5B6673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657850" y="4762500"/>
              <a:ext cx="2857500" cy="1028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4DF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832158" y="4939189"/>
              <a:ext cx="14605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经典内容与判题强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834062" y="5222081"/>
              <a:ext cx="1434688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过程</a:t>
              </a:r>
              <a:r>
                <a:rPr lang="zh-CN" altLang="en-US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无监督，</a:t>
              </a:r>
              <a:r>
                <a:rPr lang="en-US" alt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AI</a:t>
              </a:r>
              <a:r>
                <a:rPr lang="zh-CN" altLang="en-US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无限制</a:t>
              </a:r>
              <a:endParaRPr lang="zh-CN" sz="1125" dirty="0">
                <a:solidFill>
                  <a:srgbClr val="5B6673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515350" y="4762500"/>
              <a:ext cx="3162300" cy="1028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4DF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689658" y="4939189"/>
              <a:ext cx="181760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成熟内容与评分脚本强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691562" y="5222081"/>
              <a:ext cx="1434688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过程</a:t>
              </a:r>
              <a:r>
                <a:rPr lang="zh-CN" altLang="en-US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无监督，</a:t>
              </a:r>
              <a:r>
                <a:rPr lang="en-US" altLang="zh-CN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AI</a:t>
              </a:r>
              <a:r>
                <a:rPr lang="zh-CN" altLang="en-US" sz="112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无限制</a:t>
              </a:r>
              <a:endParaRPr lang="zh-CN" altLang="zh-CN" sz="1125" dirty="0">
                <a:solidFill>
                  <a:srgbClr val="5B6673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11560841" y="6570345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2</a:t>
            </a:r>
            <a:r>
              <a:rPr lang="en-US" alt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3</a:t>
            </a:r>
            <a:endParaRPr lang="zh-CN" sz="900" dirty="0">
              <a:solidFill>
                <a:srgbClr val="8993A1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14350" y="381000"/>
              <a:ext cx="800100" cy="762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8155" y="587692"/>
            <a:ext cx="1461939" cy="438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项目</a:t>
            </a:r>
            <a:r>
              <a:rPr 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意义</a:t>
            </a:r>
            <a:endParaRPr lang="zh-CN" sz="2850" b="1" dirty="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514350" y="1428750"/>
            <a:ext cx="5334000" cy="3208056"/>
            <a:chOff x="514350" y="1428750"/>
            <a:chExt cx="5334000" cy="3208056"/>
          </a:xfrm>
        </p:grpSpPr>
        <p:sp>
          <p:nvSpPr>
            <p:cNvPr id="8" name="Rectangle 8"/>
            <p:cNvSpPr/>
            <p:nvPr/>
          </p:nvSpPr>
          <p:spPr>
            <a:xfrm>
              <a:off x="514350" y="1428750"/>
              <a:ext cx="5334000" cy="228600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14350" y="1428750"/>
              <a:ext cx="5334000" cy="495300"/>
            </a:xfrm>
            <a:prstGeom prst="rect">
              <a:avLst/>
            </a:prstGeom>
            <a:solidFill>
              <a:srgbClr val="1B4B8F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76288" y="1587500"/>
              <a:ext cx="200026" cy="187326"/>
              <a:chOff x="776288" y="1587500"/>
              <a:chExt cx="200026" cy="18732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76288" y="1587500"/>
                <a:ext cx="200026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33350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188913" y="0"/>
                    </a:lnTo>
                    <a:cubicBezTo>
                      <a:pt x="195050" y="0"/>
                      <a:pt x="200026" y="4975"/>
                      <a:pt x="200026" y="11113"/>
                    </a:cubicBezTo>
                    <a:lnTo>
                      <a:pt x="200026" y="122238"/>
                    </a:lnTo>
                    <a:cubicBezTo>
                      <a:pt x="200026" y="128375"/>
                      <a:pt x="195050" y="133350"/>
                      <a:pt x="188913" y="133350"/>
                    </a:cubicBezTo>
                    <a:lnTo>
                      <a:pt x="11113" y="133350"/>
                    </a:lnTo>
                    <a:cubicBezTo>
                      <a:pt x="4975" y="133350"/>
                      <a:pt x="0" y="128375"/>
                      <a:pt x="0" y="122238"/>
                    </a:cubicBezTo>
                    <a:lnTo>
                      <a:pt x="0" y="11113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20738" y="1765301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42963" y="1720851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09638" y="1720851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162144" y="1551236"/>
              <a:ext cx="288963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对</a:t>
              </a:r>
              <a:r>
                <a:rPr lang="zh-CN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学生</a:t>
              </a:r>
              <a:r>
                <a:rPr lang="zh-CN" altLang="en-US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：</a:t>
              </a:r>
              <a:r>
                <a:rPr lang="zh-CN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en-US" altLang="zh-CN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 </a:t>
              </a:r>
              <a:r>
                <a:rPr lang="zh-CN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助教与思维</a:t>
              </a:r>
              <a:r>
                <a:rPr lang="zh-CN" altLang="en-US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引导</a:t>
              </a:r>
              <a:endParaRPr lang="zh-CN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7710" y="2118360"/>
              <a:ext cx="4930581" cy="25184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85750" indent="-285750" algn="l">
                <a:lnSpc>
                  <a:spcPct val="200000"/>
                </a:lnSpc>
                <a:buFont typeface="Wingdings" panose="05000000000000000000" pitchFamily="2" charset="2"/>
                <a:buChar char="n"/>
              </a:pPr>
              <a:r>
                <a:rPr lang="zh-CN" sz="14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zh-CN" sz="1400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一对一、全程在线、行为可控的 AI 助教 + 零配置实验</a:t>
              </a:r>
              <a:r>
                <a:rPr lang="zh-CN" sz="14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环境</a:t>
              </a:r>
              <a:endParaRPr lang="en-US" altLang="zh-CN" sz="140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n"/>
              </a:pPr>
              <a:r>
                <a:rPr lang="zh-CN" altLang="zh-CN" sz="14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"提出判断—设计验证—观察—修改复验"的工程师思维训练</a:t>
              </a:r>
              <a:endParaRPr lang="en-US" altLang="zh-CN" sz="140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n"/>
              </a:pPr>
              <a:r>
                <a:rPr lang="zh-CN" altLang="zh-CN" sz="14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复盘机制引导学生学会自我思考与反思</a:t>
              </a:r>
            </a:p>
            <a:p>
              <a:pPr>
                <a:lnSpc>
                  <a:spcPct val="200000"/>
                </a:lnSpc>
              </a:pPr>
              <a:endParaRPr lang="zh-CN" altLang="zh-CN" sz="140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  <a:p>
              <a:pPr>
                <a:lnSpc>
                  <a:spcPct val="200000"/>
                </a:lnSpc>
              </a:pPr>
              <a:endParaRPr lang="zh-CN" altLang="zh-CN" sz="140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  <a:p>
              <a:pPr algn="l">
                <a:lnSpc>
                  <a:spcPct val="200000"/>
                </a:lnSpc>
              </a:pPr>
              <a:endParaRPr lang="zh-CN" sz="1400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7710" y="2404110"/>
              <a:ext cx="6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400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343650" y="1428750"/>
            <a:ext cx="5334000" cy="3208056"/>
            <a:chOff x="6343650" y="1428750"/>
            <a:chExt cx="5334000" cy="3208056"/>
          </a:xfrm>
        </p:grpSpPr>
        <p:sp>
          <p:nvSpPr>
            <p:cNvPr id="21" name="Rectangle 21"/>
            <p:cNvSpPr/>
            <p:nvPr/>
          </p:nvSpPr>
          <p:spPr>
            <a:xfrm>
              <a:off x="6343650" y="1428750"/>
              <a:ext cx="5334000" cy="228600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343650" y="1428750"/>
              <a:ext cx="5334000" cy="495300"/>
            </a:xfrm>
            <a:prstGeom prst="rect">
              <a:avLst/>
            </a:prstGeom>
            <a:solidFill>
              <a:srgbClr val="1B4B8F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605588" y="1609725"/>
              <a:ext cx="200026" cy="166688"/>
              <a:chOff x="6605588" y="1609725"/>
              <a:chExt cx="200026" cy="16668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683375" y="165417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605588" y="1609725"/>
                <a:ext cx="200026" cy="13287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32873">
                    <a:moveTo>
                      <a:pt x="90034" y="132873"/>
                    </a:moveTo>
                    <a:cubicBezTo>
                      <a:pt x="54429" y="129461"/>
                      <a:pt x="24425" y="107380"/>
                      <a:pt x="0" y="66675"/>
                    </a:cubicBezTo>
                    <a:cubicBezTo>
                      <a:pt x="26670" y="22225"/>
                      <a:pt x="60008" y="0"/>
                      <a:pt x="100013" y="0"/>
                    </a:cubicBezTo>
                    <a:cubicBezTo>
                      <a:pt x="140018" y="0"/>
                      <a:pt x="173355" y="22225"/>
                      <a:pt x="200026" y="66675"/>
                    </a:cubicBezTo>
                    <a:cubicBezTo>
                      <a:pt x="197691" y="70574"/>
                      <a:pt x="195233" y="74399"/>
                      <a:pt x="192658" y="78143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738938" y="173196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972300" y="1548555"/>
              <a:ext cx="30008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对</a:t>
              </a:r>
              <a:r>
                <a:rPr lang="zh-CN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教师</a:t>
              </a:r>
              <a:r>
                <a:rPr lang="zh-CN" altLang="en-US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：</a:t>
              </a:r>
              <a:r>
                <a:rPr lang="zh-CN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过</a:t>
              </a:r>
              <a:r>
                <a:rPr lang="zh-CN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程可</a:t>
              </a:r>
              <a:r>
                <a:rPr lang="zh-CN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见与</a:t>
              </a:r>
              <a:r>
                <a:rPr lang="zh-CN" altLang="en-US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教学反馈</a:t>
              </a:r>
              <a:endParaRPr lang="zh-CN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57010" y="2118360"/>
              <a:ext cx="3879267" cy="25184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85750" indent="-285750" algn="l">
                <a:lnSpc>
                  <a:spcPct val="200000"/>
                </a:lnSpc>
                <a:buFont typeface="Wingdings" panose="05000000000000000000" pitchFamily="2" charset="2"/>
                <a:buChar char="n"/>
              </a:pPr>
              <a:r>
                <a:rPr lang="zh-CN" sz="14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黑</a:t>
              </a:r>
              <a:r>
                <a:rPr lang="zh-CN" sz="1400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箱提交物变为附带完整证据链的过程</a:t>
              </a:r>
              <a:r>
                <a:rPr lang="zh-CN" sz="14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记录</a:t>
              </a:r>
              <a:endParaRPr lang="en-US" altLang="zh-CN" sz="140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n"/>
              </a:pPr>
              <a:r>
                <a:rPr lang="zh-CN" altLang="zh-CN" sz="14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统一验收界面保留教师最终判断权与审计记录</a:t>
              </a:r>
              <a:endParaRPr lang="en-US" altLang="zh-CN" sz="140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  <a:p>
              <a:pPr marL="285750" indent="-285750">
                <a:lnSpc>
                  <a:spcPct val="200000"/>
                </a:lnSpc>
                <a:buFont typeface="Wingdings" panose="05000000000000000000" pitchFamily="2" charset="2"/>
                <a:buChar char="n"/>
              </a:pPr>
              <a:r>
                <a:rPr lang="en-US" altLang="zh-CN" sz="14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Agent Server</a:t>
              </a:r>
              <a:r>
                <a:rPr lang="zh-CN" altLang="en-US" sz="14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辅助评估，</a:t>
              </a:r>
              <a:r>
                <a:rPr lang="zh-CN" altLang="zh-CN" sz="14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降低核验成本</a:t>
              </a:r>
            </a:p>
            <a:p>
              <a:pPr>
                <a:lnSpc>
                  <a:spcPct val="200000"/>
                </a:lnSpc>
              </a:pPr>
              <a:endParaRPr lang="zh-CN" altLang="zh-CN" sz="140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  <a:p>
              <a:pPr>
                <a:lnSpc>
                  <a:spcPct val="200000"/>
                </a:lnSpc>
              </a:pPr>
              <a:endParaRPr lang="zh-CN" altLang="zh-CN" sz="140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  <a:p>
              <a:pPr algn="l">
                <a:lnSpc>
                  <a:spcPct val="200000"/>
                </a:lnSpc>
              </a:pPr>
              <a:endParaRPr lang="zh-CN" sz="1400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57010" y="2689860"/>
              <a:ext cx="6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200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57010" y="2918460"/>
              <a:ext cx="6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200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14350" y="3867150"/>
            <a:ext cx="5334000" cy="2777169"/>
            <a:chOff x="514350" y="3867150"/>
            <a:chExt cx="5334000" cy="2777169"/>
          </a:xfrm>
        </p:grpSpPr>
        <p:sp>
          <p:nvSpPr>
            <p:cNvPr id="33" name="Rectangle 33"/>
            <p:cNvSpPr/>
            <p:nvPr/>
          </p:nvSpPr>
          <p:spPr>
            <a:xfrm>
              <a:off x="514350" y="3867150"/>
              <a:ext cx="5334000" cy="228600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14350" y="3867150"/>
              <a:ext cx="5334000" cy="495300"/>
            </a:xfrm>
            <a:prstGeom prst="rect">
              <a:avLst/>
            </a:prstGeom>
            <a:solidFill>
              <a:srgbClr val="3E7CB1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87400" y="4014788"/>
              <a:ext cx="177801" cy="200026"/>
              <a:chOff x="787400" y="4014788"/>
              <a:chExt cx="177801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87400" y="4014788"/>
                <a:ext cx="177801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200026">
                    <a:moveTo>
                      <a:pt x="88900" y="0"/>
                    </a:moveTo>
                    <a:lnTo>
                      <a:pt x="177801" y="50006"/>
                    </a:lnTo>
                    <a:lnTo>
                      <a:pt x="177801" y="150019"/>
                    </a:lnTo>
                    <a:lnTo>
                      <a:pt x="88900" y="200026"/>
                    </a:lnTo>
                    <a:lnTo>
                      <a:pt x="0" y="150019"/>
                    </a:lnTo>
                    <a:lnTo>
                      <a:pt x="0" y="50006"/>
                    </a:ln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76300" y="4064794"/>
                <a:ext cx="88900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50006">
                    <a:moveTo>
                      <a:pt x="0" y="50006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76300" y="411480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87400" y="4064794"/>
                <a:ext cx="88900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50006">
                    <a:moveTo>
                      <a:pt x="88900" y="50006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143000" y="3998483"/>
              <a:ext cx="39241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对</a:t>
              </a:r>
              <a:r>
                <a:rPr lang="zh-CN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课程</a:t>
              </a:r>
              <a:r>
                <a:rPr lang="zh-CN" altLang="en-US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教学：</a:t>
              </a:r>
              <a:r>
                <a:rPr lang="zh-CN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</a:t>
              </a:r>
              <a:r>
                <a:rPr lang="zh-CN" altLang="en-US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演进可迭代</a:t>
              </a:r>
              <a:r>
                <a:rPr lang="zh-CN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的</a:t>
              </a:r>
              <a:r>
                <a:rPr lang="zh-CN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教学内核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7710" y="4556760"/>
              <a:ext cx="4908395" cy="20875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1450" indent="-171450" algn="l">
                <a:lnSpc>
                  <a:spcPct val="200000"/>
                </a:lnSpc>
                <a:buFont typeface="Wingdings" panose="05000000000000000000" pitchFamily="2" charset="2"/>
                <a:buChar char="n"/>
              </a:pPr>
              <a:r>
                <a:rPr lang="zh-CN" sz="14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内</a:t>
              </a:r>
              <a:r>
                <a:rPr lang="zh-CN" sz="1400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核以 Rust 组件 crate 形态组织，每个组件可独立单元</a:t>
              </a:r>
              <a:r>
                <a:rPr lang="zh-CN" sz="14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测试</a:t>
              </a:r>
              <a:endParaRPr lang="en-US" altLang="zh-CN" sz="140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  <a:p>
              <a:pPr marL="171450" indent="-171450" algn="l">
                <a:lnSpc>
                  <a:spcPct val="200000"/>
                </a:lnSpc>
                <a:buFont typeface="Wingdings" panose="05000000000000000000" pitchFamily="2" charset="2"/>
                <a:buChar char="n"/>
              </a:pPr>
              <a:r>
                <a:rPr lang="zh-CN" altLang="zh-CN" sz="14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具备发布到 crates.io 的工程条件，回应赛题组件化要求</a:t>
              </a:r>
              <a:endParaRPr lang="en-US" altLang="zh-CN" sz="140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  <a:p>
              <a:pPr marL="171450" indent="-171450" algn="l">
                <a:lnSpc>
                  <a:spcPct val="200000"/>
                </a:lnSpc>
                <a:buFont typeface="Wingdings" panose="05000000000000000000" pitchFamily="2" charset="2"/>
                <a:buChar char="n"/>
              </a:pPr>
              <a:r>
                <a:rPr lang="zh-CN" altLang="zh-CN" sz="14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教学容量显式声明</a:t>
              </a:r>
              <a:r>
                <a:rPr lang="zh-CN" altLang="en-US" sz="14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，</a:t>
              </a:r>
              <a:r>
                <a:rPr lang="zh-CN" altLang="zh-CN" sz="14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为课程复用与</a:t>
              </a:r>
              <a:r>
                <a:rPr lang="zh-CN" altLang="en-US" sz="14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教学</a:t>
              </a:r>
              <a:r>
                <a:rPr lang="zh-CN" altLang="zh-CN" sz="14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演进提供清晰接口</a:t>
              </a:r>
            </a:p>
            <a:p>
              <a:pPr>
                <a:lnSpc>
                  <a:spcPct val="200000"/>
                </a:lnSpc>
              </a:pPr>
              <a:endParaRPr lang="zh-CN" altLang="zh-CN" sz="140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  <a:p>
              <a:pPr algn="l">
                <a:lnSpc>
                  <a:spcPct val="200000"/>
                </a:lnSpc>
              </a:pPr>
              <a:endParaRPr lang="zh-CN" sz="1400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7710" y="4842510"/>
              <a:ext cx="6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200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7710" y="5356860"/>
              <a:ext cx="6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200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343650" y="3867150"/>
            <a:ext cx="5334000" cy="2777169"/>
            <a:chOff x="6343650" y="3867150"/>
            <a:chExt cx="5334000" cy="2777169"/>
          </a:xfrm>
        </p:grpSpPr>
        <p:sp>
          <p:nvSpPr>
            <p:cNvPr id="46" name="Rectangle 46"/>
            <p:cNvSpPr/>
            <p:nvPr/>
          </p:nvSpPr>
          <p:spPr>
            <a:xfrm>
              <a:off x="6343650" y="3867150"/>
              <a:ext cx="5334000" cy="228600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343650" y="3867150"/>
              <a:ext cx="5334000" cy="495300"/>
            </a:xfrm>
            <a:prstGeom prst="rect">
              <a:avLst/>
            </a:prstGeom>
            <a:solidFill>
              <a:srgbClr val="3E7CB1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611144" y="4025900"/>
              <a:ext cx="188913" cy="172244"/>
              <a:chOff x="6611144" y="4025900"/>
              <a:chExt cx="188913" cy="172244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694488" y="4125913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638925" y="4125913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750051" y="4125913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694488" y="4025900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722269" y="4075907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666707" y="4075907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722269" y="4175919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666707" y="4175919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611144" y="4175919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777832" y="4175919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972300" y="3987413"/>
              <a:ext cx="39241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对技术</a:t>
              </a:r>
              <a:r>
                <a:rPr lang="zh-CN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范式</a:t>
              </a:r>
              <a:r>
                <a:rPr lang="zh-CN" altLang="en-US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：</a:t>
              </a:r>
              <a:r>
                <a:rPr lang="zh-CN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</a:t>
              </a:r>
              <a:r>
                <a:rPr lang="zh-CN" altLang="en-US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迁移可</a:t>
              </a:r>
              <a:r>
                <a:rPr lang="zh-CN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落</a:t>
              </a:r>
              <a:r>
                <a:rPr lang="zh-CN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地的融合路径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557010" y="4556760"/>
              <a:ext cx="4305409" cy="20875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1450" indent="-171450">
                <a:lnSpc>
                  <a:spcPct val="200000"/>
                </a:lnSpc>
                <a:buFont typeface="Wingdings" panose="05000000000000000000" pitchFamily="2" charset="2"/>
                <a:buChar char="n"/>
              </a:pPr>
              <a:r>
                <a:rPr lang="zh-CN" sz="14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L</a:t>
              </a:r>
              <a:r>
                <a:rPr lang="zh-CN" sz="1400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LM + 可信证据 + 制度化</a:t>
              </a:r>
              <a:r>
                <a:rPr lang="zh-CN" sz="14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评价的融合</a:t>
              </a:r>
              <a:r>
                <a:rPr lang="zh-CN" altLang="en-US" sz="14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路径尝试</a:t>
              </a:r>
              <a:endParaRPr lang="en-US" altLang="zh-CN" sz="140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  <a:p>
              <a:pPr marL="171450" indent="-171450">
                <a:lnSpc>
                  <a:spcPct val="200000"/>
                </a:lnSpc>
                <a:buFont typeface="Wingdings" panose="05000000000000000000" pitchFamily="2" charset="2"/>
                <a:buChar char="n"/>
              </a:pPr>
              <a:r>
                <a:rPr lang="zh-CN" altLang="en-US" sz="14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灵活</a:t>
              </a:r>
              <a:r>
                <a:rPr lang="zh-CN" altLang="zh-CN" sz="14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迁移到</a:t>
              </a:r>
              <a:r>
                <a:rPr lang="zh-CN" altLang="en-US" sz="14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其他</a:t>
              </a:r>
              <a:r>
                <a:rPr lang="zh-CN" altLang="zh-CN" sz="140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"过程可信 + AI 辅导"的实践教学场景</a:t>
              </a:r>
            </a:p>
            <a:p>
              <a:pPr>
                <a:lnSpc>
                  <a:spcPct val="200000"/>
                </a:lnSpc>
              </a:pPr>
              <a:endParaRPr lang="zh-CN" altLang="zh-CN" sz="140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  <a:p>
              <a:pPr>
                <a:lnSpc>
                  <a:spcPct val="200000"/>
                </a:lnSpc>
              </a:pPr>
              <a:endParaRPr lang="zh-CN" altLang="zh-CN" sz="140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  <a:p>
              <a:pPr algn="l">
                <a:lnSpc>
                  <a:spcPct val="200000"/>
                </a:lnSpc>
              </a:pPr>
              <a:endParaRPr lang="zh-CN" sz="1400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557010" y="4785360"/>
              <a:ext cx="6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200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557010" y="5299710"/>
              <a:ext cx="6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200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1560841" y="6570345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24</a:t>
            </a:r>
            <a:endParaRPr lang="zh-CN" sz="900" dirty="0">
              <a:solidFill>
                <a:srgbClr val="8993A1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14350" y="381000"/>
              <a:ext cx="800100" cy="762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8155" y="587692"/>
            <a:ext cx="2923877" cy="438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开发</a:t>
            </a:r>
            <a:r>
              <a:rPr 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迭代</a:t>
            </a:r>
            <a:r>
              <a:rPr lang="zh-CN" altLang="en-US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核心路径</a:t>
            </a:r>
            <a:endParaRPr lang="zh-CN" sz="2850" b="1" dirty="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514350" y="1428750"/>
            <a:ext cx="11163300" cy="533400"/>
            <a:chOff x="514350" y="1428750"/>
            <a:chExt cx="11163300" cy="533400"/>
          </a:xfrm>
        </p:grpSpPr>
        <p:sp>
          <p:nvSpPr>
            <p:cNvPr id="8" name="Rectangle 8"/>
            <p:cNvSpPr/>
            <p:nvPr/>
          </p:nvSpPr>
          <p:spPr>
            <a:xfrm>
              <a:off x="514350" y="1428750"/>
              <a:ext cx="3505200" cy="53340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89610" y="1527810"/>
              <a:ext cx="162063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方向一 · 内核能力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92468" y="1761649"/>
              <a:ext cx="29956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Lab5 → Lab8：VirtIO 磁盘、信号、线程与死锁检测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343400" y="1428750"/>
              <a:ext cx="3505200" cy="53340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518660" y="1527810"/>
              <a:ext cx="162063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方向二 · 教学平台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21518" y="1761649"/>
              <a:ext cx="31061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静态手册 → 双端教学/学习区、账号、可信运行与报告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172450" y="1428750"/>
              <a:ext cx="3505200" cy="53340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47710" y="1527810"/>
              <a:ext cx="162063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方向三 · 智能教学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50568" y="1761649"/>
              <a:ext cx="30086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Tutor / Assessment Agent 与证据约束的融合评价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14350" y="4105275"/>
            <a:ext cx="11163300" cy="171450"/>
            <a:chOff x="514350" y="4105275"/>
            <a:chExt cx="11163300" cy="171450"/>
          </a:xfrm>
        </p:grpSpPr>
        <p:sp>
          <p:nvSpPr>
            <p:cNvPr id="18" name="Line 18"/>
            <p:cNvSpPr/>
            <p:nvPr/>
          </p:nvSpPr>
          <p:spPr>
            <a:xfrm>
              <a:off x="514350" y="4191000"/>
              <a:ext cx="11163300" cy="9525"/>
            </a:xfrm>
            <a:custGeom>
              <a:avLst/>
              <a:gdLst/>
              <a:ahLst/>
              <a:cxnLst/>
              <a:rect l="l" t="t" r="r" b="b"/>
              <a:pathLst>
                <a:path w="11163300" h="9525">
                  <a:moveTo>
                    <a:pt x="0" y="0"/>
                  </a:moveTo>
                  <a:lnTo>
                    <a:pt x="11163300" y="0"/>
                  </a:lnTo>
                </a:path>
              </a:pathLst>
            </a:custGeom>
            <a:noFill/>
            <a:ln w="19050">
              <a:solidFill>
                <a:srgbClr val="C9D4DF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333500" y="419100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28575">
              <a:solidFill>
                <a:srgbClr val="1B4B8F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247775" y="4105275"/>
              <a:ext cx="171450" cy="171450"/>
            </a:xfrm>
            <a:prstGeom prst="ellipse">
              <a:avLst/>
            </a:prstGeom>
            <a:solidFill>
              <a:srgbClr val="1B4B8F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2838450" y="4105275"/>
              <a:ext cx="171450" cy="171450"/>
            </a:xfrm>
            <a:prstGeom prst="ellipse">
              <a:avLst/>
            </a:prstGeom>
            <a:solidFill>
              <a:srgbClr val="1B4B8F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419600" y="4105275"/>
              <a:ext cx="171450" cy="171450"/>
            </a:xfrm>
            <a:prstGeom prst="ellipse">
              <a:avLst/>
            </a:prstGeom>
            <a:solidFill>
              <a:srgbClr val="1B4B8F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6010275" y="4105275"/>
              <a:ext cx="171450" cy="171450"/>
            </a:xfrm>
            <a:prstGeom prst="ellipse">
              <a:avLst/>
            </a:prstGeom>
            <a:solidFill>
              <a:srgbClr val="1B4B8F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600950" y="4105275"/>
              <a:ext cx="171450" cy="171450"/>
            </a:xfrm>
            <a:prstGeom prst="ellipse">
              <a:avLst/>
            </a:prstGeom>
            <a:solidFill>
              <a:srgbClr val="1B4B8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182100" y="4105275"/>
              <a:ext cx="171450" cy="171450"/>
            </a:xfrm>
            <a:prstGeom prst="ellipse">
              <a:avLst/>
            </a:prstGeom>
            <a:solidFill>
              <a:srgbClr val="1B4B8F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0772775" y="4105275"/>
              <a:ext cx="171450" cy="171450"/>
            </a:xfrm>
            <a:prstGeom prst="ellipse">
              <a:avLst/>
            </a:prstGeom>
            <a:solidFill>
              <a:srgbClr val="E8842C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223420" y="2613660"/>
            <a:ext cx="2220160" cy="1491615"/>
            <a:chOff x="223420" y="2613660"/>
            <a:chExt cx="2220160" cy="1491615"/>
          </a:xfrm>
        </p:grpSpPr>
        <p:sp>
          <p:nvSpPr>
            <p:cNvPr id="28" name="Line 28"/>
            <p:cNvSpPr/>
            <p:nvPr/>
          </p:nvSpPr>
          <p:spPr>
            <a:xfrm>
              <a:off x="1333500" y="3619500"/>
              <a:ext cx="9525" cy="485775"/>
            </a:xfrm>
            <a:custGeom>
              <a:avLst/>
              <a:gdLst/>
              <a:ahLst/>
              <a:cxnLst/>
              <a:rect l="l" t="t" r="r" b="b"/>
              <a:pathLst>
                <a:path w="9525" h="485775">
                  <a:moveTo>
                    <a:pt x="0" y="0"/>
                  </a:moveTo>
                  <a:lnTo>
                    <a:pt x="0" y="485775"/>
                  </a:lnTo>
                </a:path>
              </a:pathLst>
            </a:custGeom>
            <a:noFill/>
            <a:ln w="19050">
              <a:solidFill>
                <a:srgbClr val="DFE7E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209046" y="2613660"/>
              <a:ext cx="2489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M1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3420" y="2888456"/>
              <a:ext cx="222016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Lab Package 与渐进式内核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4619" y="3137297"/>
              <a:ext cx="161776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Lab1-8 文档、feature 链、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4014" y="3308747"/>
              <a:ext cx="129897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构建与 QEMU 路径一致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912144" y="4276725"/>
            <a:ext cx="2024062" cy="1527572"/>
            <a:chOff x="1912144" y="4276725"/>
            <a:chExt cx="2024062" cy="1527572"/>
          </a:xfrm>
        </p:grpSpPr>
        <p:sp>
          <p:nvSpPr>
            <p:cNvPr id="34" name="Line 34"/>
            <p:cNvSpPr/>
            <p:nvPr/>
          </p:nvSpPr>
          <p:spPr>
            <a:xfrm>
              <a:off x="2924175" y="4276725"/>
              <a:ext cx="9525" cy="485775"/>
            </a:xfrm>
            <a:custGeom>
              <a:avLst/>
              <a:gdLst/>
              <a:ahLst/>
              <a:cxnLst/>
              <a:rect l="l" t="t" r="r" b="b"/>
              <a:pathLst>
                <a:path w="9525" h="485775">
                  <a:moveTo>
                    <a:pt x="0" y="0"/>
                  </a:moveTo>
                  <a:lnTo>
                    <a:pt x="0" y="485775"/>
                  </a:lnTo>
                </a:path>
              </a:pathLst>
            </a:custGeom>
            <a:noFill/>
            <a:ln w="19050">
              <a:solidFill>
                <a:srgbClr val="DFE7E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799721" y="4918710"/>
              <a:ext cx="2489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M2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026493" y="5193506"/>
              <a:ext cx="179536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工作台升级与可信验证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912144" y="5442347"/>
              <a:ext cx="202406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账号、隔离源码、Monaco/xterm、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390329" y="5613797"/>
              <a:ext cx="106769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recipe 与命名断言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555802" y="2613660"/>
            <a:ext cx="1899047" cy="1491615"/>
            <a:chOff x="3555802" y="2613660"/>
            <a:chExt cx="1899047" cy="1491615"/>
          </a:xfrm>
        </p:grpSpPr>
        <p:sp>
          <p:nvSpPr>
            <p:cNvPr id="40" name="Line 40"/>
            <p:cNvSpPr/>
            <p:nvPr/>
          </p:nvSpPr>
          <p:spPr>
            <a:xfrm>
              <a:off x="4505325" y="3619500"/>
              <a:ext cx="9525" cy="485775"/>
            </a:xfrm>
            <a:custGeom>
              <a:avLst/>
              <a:gdLst/>
              <a:ahLst/>
              <a:cxnLst/>
              <a:rect l="l" t="t" r="r" b="b"/>
              <a:pathLst>
                <a:path w="9525" h="485775">
                  <a:moveTo>
                    <a:pt x="0" y="0"/>
                  </a:moveTo>
                  <a:lnTo>
                    <a:pt x="0" y="485775"/>
                  </a:lnTo>
                </a:path>
              </a:pathLst>
            </a:custGeom>
            <a:noFill/>
            <a:ln w="19050">
              <a:solidFill>
                <a:srgbClr val="DFE7E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380871" y="2613660"/>
              <a:ext cx="2489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M3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610304" y="2888456"/>
              <a:ext cx="179004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Tutor、RAG 与证据链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55802" y="3137297"/>
              <a:ext cx="189904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意图、护栏、知识权限、证据引用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983980" y="3308747"/>
              <a:ext cx="104269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全链通过 Harness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098258" y="4276725"/>
            <a:ext cx="1995483" cy="1527572"/>
            <a:chOff x="5098258" y="4276725"/>
            <a:chExt cx="1995483" cy="1527572"/>
          </a:xfrm>
        </p:grpSpPr>
        <p:sp>
          <p:nvSpPr>
            <p:cNvPr id="46" name="Line 46"/>
            <p:cNvSpPr/>
            <p:nvPr/>
          </p:nvSpPr>
          <p:spPr>
            <a:xfrm>
              <a:off x="6096000" y="4276725"/>
              <a:ext cx="9525" cy="485775"/>
            </a:xfrm>
            <a:custGeom>
              <a:avLst/>
              <a:gdLst/>
              <a:ahLst/>
              <a:cxnLst/>
              <a:rect l="l" t="t" r="r" b="b"/>
              <a:pathLst>
                <a:path w="9525" h="485775">
                  <a:moveTo>
                    <a:pt x="0" y="0"/>
                  </a:moveTo>
                  <a:lnTo>
                    <a:pt x="0" y="485775"/>
                  </a:lnTo>
                </a:path>
              </a:pathLst>
            </a:custGeom>
            <a:noFill/>
            <a:ln w="19050">
              <a:solidFill>
                <a:srgbClr val="DFE7E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71546" y="4918710"/>
              <a:ext cx="2489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M4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98258" y="5193506"/>
              <a:ext cx="1995483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规则评价与 Assessment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459016" y="5442347"/>
              <a:ext cx="127396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规则基线兜底可解释；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584031" y="5613797"/>
              <a:ext cx="102393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行为证据评分融合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590258" y="2613660"/>
            <a:ext cx="2192834" cy="1491615"/>
            <a:chOff x="6590258" y="2613660"/>
            <a:chExt cx="2192834" cy="1491615"/>
          </a:xfrm>
        </p:grpSpPr>
        <p:sp>
          <p:nvSpPr>
            <p:cNvPr id="52" name="Line 52"/>
            <p:cNvSpPr/>
            <p:nvPr/>
          </p:nvSpPr>
          <p:spPr>
            <a:xfrm>
              <a:off x="7686675" y="3619500"/>
              <a:ext cx="9525" cy="485775"/>
            </a:xfrm>
            <a:custGeom>
              <a:avLst/>
              <a:gdLst/>
              <a:ahLst/>
              <a:cxnLst/>
              <a:rect l="l" t="t" r="r" b="b"/>
              <a:pathLst>
                <a:path w="9525" h="485775">
                  <a:moveTo>
                    <a:pt x="0" y="0"/>
                  </a:moveTo>
                  <a:lnTo>
                    <a:pt x="0" y="485775"/>
                  </a:lnTo>
                </a:path>
              </a:pathLst>
            </a:custGeom>
            <a:noFill/>
            <a:ln w="19050">
              <a:solidFill>
                <a:srgbClr val="DFE7E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562221" y="2613660"/>
              <a:ext cx="2489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M5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68530" y="2888456"/>
              <a:ext cx="1436291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苏格拉底复盘升级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590258" y="3137297"/>
              <a:ext cx="219283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Assessment 辅助 Tutor 个性化反问；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746528" y="3308747"/>
              <a:ext cx="188029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报告与复盘 transcript 同步可见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459911" y="4276725"/>
            <a:ext cx="1615827" cy="1527572"/>
            <a:chOff x="8459911" y="4276725"/>
            <a:chExt cx="1615827" cy="1527572"/>
          </a:xfrm>
        </p:grpSpPr>
        <p:sp>
          <p:nvSpPr>
            <p:cNvPr id="58" name="Line 58"/>
            <p:cNvSpPr/>
            <p:nvPr/>
          </p:nvSpPr>
          <p:spPr>
            <a:xfrm>
              <a:off x="9267825" y="4276725"/>
              <a:ext cx="9525" cy="485775"/>
            </a:xfrm>
            <a:custGeom>
              <a:avLst/>
              <a:gdLst/>
              <a:ahLst/>
              <a:cxnLst/>
              <a:rect l="l" t="t" r="r" b="b"/>
              <a:pathLst>
                <a:path w="9525" h="485775">
                  <a:moveTo>
                    <a:pt x="0" y="0"/>
                  </a:moveTo>
                  <a:lnTo>
                    <a:pt x="0" y="485775"/>
                  </a:lnTo>
                </a:path>
              </a:pathLst>
            </a:custGeom>
            <a:noFill/>
            <a:ln w="19050">
              <a:solidFill>
                <a:srgbClr val="DFE7EF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143371" y="4918710"/>
              <a:ext cx="2489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M6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59911" y="5193506"/>
              <a:ext cx="1615827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教师验收与教学调整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05825" y="5442347"/>
              <a:ext cx="1524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统一验收读证据定最终分，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630841" y="5613797"/>
              <a:ext cx="127396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支持教学节奏灵活调整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0099625" y="2613660"/>
            <a:ext cx="1517749" cy="1491615"/>
            <a:chOff x="10099625" y="2613660"/>
            <a:chExt cx="1517749" cy="1491615"/>
          </a:xfrm>
        </p:grpSpPr>
        <p:sp>
          <p:nvSpPr>
            <p:cNvPr id="64" name="Line 64"/>
            <p:cNvSpPr/>
            <p:nvPr/>
          </p:nvSpPr>
          <p:spPr>
            <a:xfrm>
              <a:off x="10858500" y="3619500"/>
              <a:ext cx="9525" cy="485775"/>
            </a:xfrm>
            <a:custGeom>
              <a:avLst/>
              <a:gdLst/>
              <a:ahLst/>
              <a:cxnLst/>
              <a:rect l="l" t="t" r="r" b="b"/>
              <a:pathLst>
                <a:path w="9525" h="485775">
                  <a:moveTo>
                    <a:pt x="0" y="0"/>
                  </a:moveTo>
                  <a:lnTo>
                    <a:pt x="0" y="485775"/>
                  </a:lnTo>
                </a:path>
              </a:pathLst>
            </a:custGeom>
            <a:noFill/>
            <a:ln w="19050">
              <a:solidFill>
                <a:srgbClr val="E8842C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734046" y="2613660"/>
              <a:ext cx="2489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8842C"/>
                  </a:solidFill>
                  <a:latin typeface="Arial"/>
                  <a:ea typeface="Microsoft YaHei"/>
                  <a:cs typeface="Arial"/>
                </a:rPr>
                <a:t>M7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230123" y="2888456"/>
              <a:ext cx="125675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全量回归与文档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099625" y="3137297"/>
              <a:ext cx="151774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自动测试、Smoke、全流程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284023" y="3308747"/>
              <a:ext cx="114895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测试与实验文档交付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14350" y="6057900"/>
            <a:ext cx="11541347" cy="419100"/>
            <a:chOff x="514350" y="6057900"/>
            <a:chExt cx="11541347" cy="419100"/>
          </a:xfrm>
        </p:grpSpPr>
        <p:sp>
          <p:nvSpPr>
            <p:cNvPr id="70" name="Rectangle 70"/>
            <p:cNvSpPr/>
            <p:nvPr/>
          </p:nvSpPr>
          <p:spPr>
            <a:xfrm>
              <a:off x="514350" y="6057900"/>
              <a:ext cx="11163300" cy="419100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29615" y="6211252"/>
              <a:ext cx="113260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每阶段修改以</a:t>
              </a:r>
              <a:r>
                <a:rPr lang="zh-CN" sz="105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机器可读契约</a:t>
              </a:r>
              <a:r>
                <a:rPr lang="zh-CN" sz="1050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为接口边界，以</a:t>
              </a:r>
              <a:r>
                <a:rPr lang="zh-CN" sz="105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测试 fixture 与真实 HTTP/SQLite Smoke</a:t>
              </a:r>
              <a:r>
                <a:rPr lang="zh-CN" sz="1050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收口验收；新增功能同步更新测试与文档，防止手册、Scaffold、Prompt 与验证命令各自漂移。</a:t>
              </a:r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11560841" y="6570345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2</a:t>
            </a:r>
            <a:r>
              <a:rPr lang="en-US" alt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5</a:t>
            </a:r>
            <a:endParaRPr lang="zh-CN" sz="900" dirty="0">
              <a:solidFill>
                <a:srgbClr val="8993A1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514350" y="381000"/>
              <a:ext cx="800100" cy="762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8155" y="587692"/>
            <a:ext cx="1827423" cy="438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分工与</a:t>
            </a:r>
            <a:r>
              <a:rPr lang="zh-CN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协作</a:t>
            </a:r>
            <a:endParaRPr lang="zh-CN" sz="2850" b="1" dirty="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110ED1D7-D553-0A59-ADC5-5AD537B52162}"/>
              </a:ext>
            </a:extLst>
          </p:cNvPr>
          <p:cNvGrpSpPr/>
          <p:nvPr/>
        </p:nvGrpSpPr>
        <p:grpSpPr>
          <a:xfrm>
            <a:off x="582104" y="1464582"/>
            <a:ext cx="2890208" cy="1375886"/>
            <a:chOff x="514351" y="1428751"/>
            <a:chExt cx="2890208" cy="1375886"/>
          </a:xfrm>
        </p:grpSpPr>
        <p:sp>
          <p:nvSpPr>
            <p:cNvPr id="8" name="Rectangle 8"/>
            <p:cNvSpPr/>
            <p:nvPr/>
          </p:nvSpPr>
          <p:spPr>
            <a:xfrm>
              <a:off x="514351" y="1428751"/>
              <a:ext cx="2890208" cy="1375886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4052" y="1603064"/>
              <a:ext cx="559305" cy="406732"/>
            </a:xfrm>
            <a:prstGeom prst="rect">
              <a:avLst/>
            </a:prstGeom>
            <a:solidFill>
              <a:srgbClr val="1B4B8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4207" y="1683319"/>
              <a:ext cx="318997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53184" y="1653905"/>
              <a:ext cx="11413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AM-SuSh</a:t>
              </a:r>
            </a:p>
          </p:txBody>
        </p:sp>
        <p:sp>
          <p:nvSpPr>
            <p:cNvPr id="13" name="Line 13"/>
            <p:cNvSpPr/>
            <p:nvPr/>
          </p:nvSpPr>
          <p:spPr>
            <a:xfrm flipV="1">
              <a:off x="754053" y="2089177"/>
              <a:ext cx="2477978" cy="80408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19050">
              <a:solidFill>
                <a:srgbClr val="C9D4D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9070" y="2309398"/>
              <a:ext cx="2257028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总体集成与服务端证据链</a:t>
              </a: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23CF2E7C-57D7-25A1-E96C-6F07CEEA9039}"/>
              </a:ext>
            </a:extLst>
          </p:cNvPr>
          <p:cNvGrpSpPr/>
          <p:nvPr/>
        </p:nvGrpSpPr>
        <p:grpSpPr>
          <a:xfrm>
            <a:off x="582104" y="3530851"/>
            <a:ext cx="5316335" cy="2005022"/>
            <a:chOff x="514350" y="4276598"/>
            <a:chExt cx="5448300" cy="2005022"/>
          </a:xfrm>
        </p:grpSpPr>
        <p:sp>
          <p:nvSpPr>
            <p:cNvPr id="50" name="Rectangle 50"/>
            <p:cNvSpPr/>
            <p:nvPr/>
          </p:nvSpPr>
          <p:spPr>
            <a:xfrm>
              <a:off x="514350" y="4276598"/>
              <a:ext cx="5448300" cy="200502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9D4DF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70583" y="4391418"/>
              <a:ext cx="121828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A</a:t>
              </a:r>
              <a:r>
                <a:rPr lang="zh-CN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I </a:t>
              </a:r>
              <a:r>
                <a:rPr lang="zh-CN" altLang="en-US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协作说明</a:t>
              </a:r>
              <a:endParaRPr lang="zh-CN" b="1" dirty="0">
                <a:solidFill>
                  <a:srgbClr val="1B4B8F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229350" y="2878365"/>
            <a:ext cx="5448300" cy="3643205"/>
            <a:chOff x="6229350" y="5295900"/>
            <a:chExt cx="5448300" cy="990600"/>
          </a:xfrm>
        </p:grpSpPr>
        <p:sp>
          <p:nvSpPr>
            <p:cNvPr id="62" name="Rectangle 62"/>
            <p:cNvSpPr/>
            <p:nvPr/>
          </p:nvSpPr>
          <p:spPr>
            <a:xfrm>
              <a:off x="6229350" y="5295900"/>
              <a:ext cx="5448300" cy="9906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1B4B8F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31188" y="5354330"/>
              <a:ext cx="1615827" cy="75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非本队来源说明</a:t>
              </a:r>
              <a:endParaRPr lang="zh-CN" b="1" dirty="0">
                <a:solidFill>
                  <a:srgbClr val="1B4B8F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11560841" y="6570345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2</a:t>
            </a:r>
            <a:r>
              <a:rPr lang="en-US" alt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6</a:t>
            </a:r>
            <a:endParaRPr lang="zh-CN" sz="900" dirty="0">
              <a:solidFill>
                <a:srgbClr val="8993A1"/>
              </a:solidFill>
              <a:latin typeface="Arial"/>
              <a:ea typeface="Microsoft YaHei"/>
              <a:cs typeface="Arial"/>
            </a:endParaRPr>
          </a:p>
        </p:txBody>
      </p:sp>
      <p:graphicFrame>
        <p:nvGraphicFramePr>
          <p:cNvPr id="77" name="表格 76">
            <a:extLst>
              <a:ext uri="{FF2B5EF4-FFF2-40B4-BE49-F238E27FC236}">
                <a16:creationId xmlns:a16="http://schemas.microsoft.com/office/drawing/2014/main" id="{FA9B1C41-9003-D407-67E5-664A12373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503957"/>
              </p:ext>
            </p:extLst>
          </p:nvPr>
        </p:nvGraphicFramePr>
        <p:xfrm>
          <a:off x="801718" y="3988051"/>
          <a:ext cx="4960727" cy="136701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14987">
                  <a:extLst>
                    <a:ext uri="{9D8B030D-6E8A-4147-A177-3AD203B41FA5}">
                      <a16:colId xmlns:a16="http://schemas.microsoft.com/office/drawing/2014/main" val="895738320"/>
                    </a:ext>
                  </a:extLst>
                </a:gridCol>
                <a:gridCol w="3445740">
                  <a:extLst>
                    <a:ext uri="{9D8B030D-6E8A-4147-A177-3AD203B41FA5}">
                      <a16:colId xmlns:a16="http://schemas.microsoft.com/office/drawing/2014/main" val="1426917750"/>
                    </a:ext>
                  </a:extLst>
                </a:gridCol>
              </a:tblGrid>
              <a:tr h="45567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工具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用途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7779408"/>
                  </a:ext>
                </a:extLst>
              </a:tr>
              <a:tr h="4556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/>
                        <a:t>Cursor IDE</a:t>
                      </a:r>
                      <a:r>
                        <a:rPr lang="zh-CN" altLang="en-US" sz="1400" b="0"/>
                        <a:t>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文件编辑、代码解释、验证命令编排等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8860243"/>
                  </a:ext>
                </a:extLst>
              </a:tr>
              <a:tr h="4556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/>
                        <a:t>ChatGPT</a:t>
                      </a:r>
                      <a:r>
                        <a:rPr lang="zh-CN" altLang="en-US" sz="1400" b="0"/>
                        <a:t>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概念知识讨论、</a:t>
                      </a:r>
                      <a:r>
                        <a:rPr lang="en-US" altLang="zh-CN" sz="1400"/>
                        <a:t>debug</a:t>
                      </a:r>
                      <a:r>
                        <a:rPr lang="zh-CN" altLang="en-US" sz="1400"/>
                        <a:t>、文档措辞参考等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2533365"/>
                  </a:ext>
                </a:extLst>
              </a:tr>
            </a:tbl>
          </a:graphicData>
        </a:graphic>
      </p:graphicFrame>
      <p:grpSp>
        <p:nvGrpSpPr>
          <p:cNvPr id="81" name="组合 80">
            <a:extLst>
              <a:ext uri="{FF2B5EF4-FFF2-40B4-BE49-F238E27FC236}">
                <a16:creationId xmlns:a16="http://schemas.microsoft.com/office/drawing/2014/main" id="{23317B5A-085C-1017-546D-B4721D669C52}"/>
              </a:ext>
            </a:extLst>
          </p:cNvPr>
          <p:cNvGrpSpPr/>
          <p:nvPr/>
        </p:nvGrpSpPr>
        <p:grpSpPr>
          <a:xfrm>
            <a:off x="4301348" y="1451895"/>
            <a:ext cx="2890208" cy="1375886"/>
            <a:chOff x="514351" y="1428751"/>
            <a:chExt cx="2890208" cy="1375886"/>
          </a:xfrm>
        </p:grpSpPr>
        <p:sp>
          <p:nvSpPr>
            <p:cNvPr id="82" name="Rectangle 8">
              <a:extLst>
                <a:ext uri="{FF2B5EF4-FFF2-40B4-BE49-F238E27FC236}">
                  <a16:creationId xmlns:a16="http://schemas.microsoft.com/office/drawing/2014/main" id="{9D51111D-51EA-6904-7A2C-54FEF9150082}"/>
                </a:ext>
              </a:extLst>
            </p:cNvPr>
            <p:cNvSpPr/>
            <p:nvPr/>
          </p:nvSpPr>
          <p:spPr>
            <a:xfrm>
              <a:off x="514351" y="1428751"/>
              <a:ext cx="2890208" cy="1375886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83" name="Rectangle 9">
              <a:extLst>
                <a:ext uri="{FF2B5EF4-FFF2-40B4-BE49-F238E27FC236}">
                  <a16:creationId xmlns:a16="http://schemas.microsoft.com/office/drawing/2014/main" id="{FDAC3E8A-AA14-9F18-2218-8042C4370EB8}"/>
                </a:ext>
              </a:extLst>
            </p:cNvPr>
            <p:cNvSpPr/>
            <p:nvPr/>
          </p:nvSpPr>
          <p:spPr>
            <a:xfrm>
              <a:off x="754052" y="1603064"/>
              <a:ext cx="559305" cy="406732"/>
            </a:xfrm>
            <a:prstGeom prst="rect">
              <a:avLst/>
            </a:prstGeom>
            <a:solidFill>
              <a:srgbClr val="1B4B8F"/>
            </a:solidFill>
            <a:ln>
              <a:noFill/>
            </a:ln>
          </p:spPr>
        </p:sp>
        <p:sp>
          <p:nvSpPr>
            <p:cNvPr id="84" name="TextBox 10">
              <a:extLst>
                <a:ext uri="{FF2B5EF4-FFF2-40B4-BE49-F238E27FC236}">
                  <a16:creationId xmlns:a16="http://schemas.microsoft.com/office/drawing/2014/main" id="{6073A4AA-AFD2-0780-B61F-858FF52F09D1}"/>
                </a:ext>
              </a:extLst>
            </p:cNvPr>
            <p:cNvSpPr txBox="1"/>
            <p:nvPr/>
          </p:nvSpPr>
          <p:spPr>
            <a:xfrm>
              <a:off x="903060" y="1683319"/>
              <a:ext cx="26129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1600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SZ</a:t>
              </a:r>
              <a:endParaRPr lang="zh-CN" sz="1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85" name="TextBox 11">
              <a:extLst>
                <a:ext uri="{FF2B5EF4-FFF2-40B4-BE49-F238E27FC236}">
                  <a16:creationId xmlns:a16="http://schemas.microsoft.com/office/drawing/2014/main" id="{A83A1C5E-F6E2-AA55-B842-D75ACC51B7F5}"/>
                </a:ext>
              </a:extLst>
            </p:cNvPr>
            <p:cNvSpPr txBox="1"/>
            <p:nvPr/>
          </p:nvSpPr>
          <p:spPr>
            <a:xfrm>
              <a:off x="1453184" y="1653905"/>
              <a:ext cx="585097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2000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SIZN</a:t>
              </a:r>
              <a:endParaRPr lang="zh-CN" sz="2000" b="1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86" name="Line 13">
              <a:extLst>
                <a:ext uri="{FF2B5EF4-FFF2-40B4-BE49-F238E27FC236}">
                  <a16:creationId xmlns:a16="http://schemas.microsoft.com/office/drawing/2014/main" id="{8533F717-59E5-042F-DD7C-160C9AD21DA7}"/>
                </a:ext>
              </a:extLst>
            </p:cNvPr>
            <p:cNvSpPr/>
            <p:nvPr/>
          </p:nvSpPr>
          <p:spPr>
            <a:xfrm flipV="1">
              <a:off x="754053" y="2089177"/>
              <a:ext cx="2477978" cy="80408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19050">
              <a:solidFill>
                <a:srgbClr val="C9D4DF"/>
              </a:solidFill>
            </a:ln>
          </p:spPr>
        </p:sp>
        <p:sp>
          <p:nvSpPr>
            <p:cNvPr id="87" name="TextBox 14">
              <a:extLst>
                <a:ext uri="{FF2B5EF4-FFF2-40B4-BE49-F238E27FC236}">
                  <a16:creationId xmlns:a16="http://schemas.microsoft.com/office/drawing/2014/main" id="{59CCDB24-7C9C-4631-1CE7-540374D067D9}"/>
                </a:ext>
              </a:extLst>
            </p:cNvPr>
            <p:cNvSpPr txBox="1"/>
            <p:nvPr/>
          </p:nvSpPr>
          <p:spPr>
            <a:xfrm>
              <a:off x="739070" y="2309398"/>
              <a:ext cx="198291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00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渐进式内核与</a:t>
              </a:r>
              <a:r>
                <a:rPr lang="en-US" altLang="zh-CN" sz="1600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IDE</a:t>
              </a:r>
              <a:r>
                <a:rPr lang="zh-CN" altLang="en-US" sz="1600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交互</a:t>
              </a:r>
              <a:endParaRPr lang="zh-CN" sz="1600" b="1" dirty="0">
                <a:solidFill>
                  <a:srgbClr val="1B4B8F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32BDE3AA-E8B0-4FA2-F2BA-37E69AEB3F77}"/>
              </a:ext>
            </a:extLst>
          </p:cNvPr>
          <p:cNvGrpSpPr/>
          <p:nvPr/>
        </p:nvGrpSpPr>
        <p:grpSpPr>
          <a:xfrm>
            <a:off x="8172450" y="1451895"/>
            <a:ext cx="2890208" cy="1375886"/>
            <a:chOff x="514351" y="1428751"/>
            <a:chExt cx="2890208" cy="1375886"/>
          </a:xfrm>
        </p:grpSpPr>
        <p:sp>
          <p:nvSpPr>
            <p:cNvPr id="89" name="Rectangle 8">
              <a:extLst>
                <a:ext uri="{FF2B5EF4-FFF2-40B4-BE49-F238E27FC236}">
                  <a16:creationId xmlns:a16="http://schemas.microsoft.com/office/drawing/2014/main" id="{354A0BCC-8272-E27B-F0CB-3DBCBCB7E498}"/>
                </a:ext>
              </a:extLst>
            </p:cNvPr>
            <p:cNvSpPr/>
            <p:nvPr/>
          </p:nvSpPr>
          <p:spPr>
            <a:xfrm>
              <a:off x="514351" y="1428751"/>
              <a:ext cx="2890208" cy="1375886"/>
            </a:xfrm>
            <a:prstGeom prst="rect">
              <a:avLst/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90" name="Rectangle 9">
              <a:extLst>
                <a:ext uri="{FF2B5EF4-FFF2-40B4-BE49-F238E27FC236}">
                  <a16:creationId xmlns:a16="http://schemas.microsoft.com/office/drawing/2014/main" id="{4A35AFDB-A8C8-20E9-F230-61BBF2D1242D}"/>
                </a:ext>
              </a:extLst>
            </p:cNvPr>
            <p:cNvSpPr/>
            <p:nvPr/>
          </p:nvSpPr>
          <p:spPr>
            <a:xfrm>
              <a:off x="754052" y="1603064"/>
              <a:ext cx="559305" cy="406732"/>
            </a:xfrm>
            <a:prstGeom prst="rect">
              <a:avLst/>
            </a:prstGeom>
            <a:solidFill>
              <a:srgbClr val="1B4B8F"/>
            </a:solidFill>
            <a:ln>
              <a:noFill/>
            </a:ln>
          </p:spPr>
        </p:sp>
        <p:sp>
          <p:nvSpPr>
            <p:cNvPr id="91" name="TextBox 10">
              <a:extLst>
                <a:ext uri="{FF2B5EF4-FFF2-40B4-BE49-F238E27FC236}">
                  <a16:creationId xmlns:a16="http://schemas.microsoft.com/office/drawing/2014/main" id="{BABBB1D1-E310-205B-0BDD-B73D6CD1C656}"/>
                </a:ext>
              </a:extLst>
            </p:cNvPr>
            <p:cNvSpPr txBox="1"/>
            <p:nvPr/>
          </p:nvSpPr>
          <p:spPr>
            <a:xfrm>
              <a:off x="897449" y="1683319"/>
              <a:ext cx="27251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1600" b="1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RT</a:t>
              </a:r>
              <a:endParaRPr lang="zh-CN" sz="1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92" name="TextBox 11">
              <a:extLst>
                <a:ext uri="{FF2B5EF4-FFF2-40B4-BE49-F238E27FC236}">
                  <a16:creationId xmlns:a16="http://schemas.microsoft.com/office/drawing/2014/main" id="{3ED7DAF9-EAEF-1CF2-3DF0-EC318CA69409}"/>
                </a:ext>
              </a:extLst>
            </p:cNvPr>
            <p:cNvSpPr txBox="1"/>
            <p:nvPr/>
          </p:nvSpPr>
          <p:spPr>
            <a:xfrm>
              <a:off x="1453184" y="1653905"/>
              <a:ext cx="119443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2000" b="1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RnTs1002</a:t>
              </a:r>
              <a:endParaRPr lang="zh-CN" sz="2000" b="1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93" name="Line 13">
              <a:extLst>
                <a:ext uri="{FF2B5EF4-FFF2-40B4-BE49-F238E27FC236}">
                  <a16:creationId xmlns:a16="http://schemas.microsoft.com/office/drawing/2014/main" id="{460E71F1-5CAD-E534-A99B-81144042C47D}"/>
                </a:ext>
              </a:extLst>
            </p:cNvPr>
            <p:cNvSpPr/>
            <p:nvPr/>
          </p:nvSpPr>
          <p:spPr>
            <a:xfrm flipV="1">
              <a:off x="754053" y="2089177"/>
              <a:ext cx="2477978" cy="80408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19050">
              <a:solidFill>
                <a:srgbClr val="C9D4DF"/>
              </a:solidFill>
            </a:ln>
          </p:spPr>
        </p:sp>
        <p:sp>
          <p:nvSpPr>
            <p:cNvPr id="94" name="TextBox 14">
              <a:extLst>
                <a:ext uri="{FF2B5EF4-FFF2-40B4-BE49-F238E27FC236}">
                  <a16:creationId xmlns:a16="http://schemas.microsoft.com/office/drawing/2014/main" id="{86D3FA3D-F0BF-10F8-7F54-1B6BE6621F98}"/>
                </a:ext>
              </a:extLst>
            </p:cNvPr>
            <p:cNvSpPr txBox="1"/>
            <p:nvPr/>
          </p:nvSpPr>
          <p:spPr>
            <a:xfrm>
              <a:off x="739070" y="2309398"/>
              <a:ext cx="2257028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00" b="1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教学编排与实验任务设计</a:t>
              </a:r>
              <a:endParaRPr lang="zh-CN" sz="1600" b="1" dirty="0">
                <a:solidFill>
                  <a:srgbClr val="1B4B8F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aphicFrame>
        <p:nvGraphicFramePr>
          <p:cNvPr id="98" name="表格 97">
            <a:extLst>
              <a:ext uri="{FF2B5EF4-FFF2-40B4-BE49-F238E27FC236}">
                <a16:creationId xmlns:a16="http://schemas.microsoft.com/office/drawing/2014/main" id="{3C8E776C-382E-D6CD-C26D-A3F4378643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788029"/>
              </p:ext>
            </p:extLst>
          </p:nvPr>
        </p:nvGraphicFramePr>
        <p:xfrm>
          <a:off x="6480543" y="3460720"/>
          <a:ext cx="5009072" cy="292149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37555">
                  <a:extLst>
                    <a:ext uri="{9D8B030D-6E8A-4147-A177-3AD203B41FA5}">
                      <a16:colId xmlns:a16="http://schemas.microsoft.com/office/drawing/2014/main" val="895738320"/>
                    </a:ext>
                  </a:extLst>
                </a:gridCol>
                <a:gridCol w="3271517">
                  <a:extLst>
                    <a:ext uri="{9D8B030D-6E8A-4147-A177-3AD203B41FA5}">
                      <a16:colId xmlns:a16="http://schemas.microsoft.com/office/drawing/2014/main" val="1426917750"/>
                    </a:ext>
                  </a:extLst>
                </a:gridCol>
              </a:tblGrid>
              <a:tr h="45567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来源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用途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7779408"/>
                  </a:ext>
                </a:extLst>
              </a:tr>
              <a:tr h="4556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/>
                        <a:t>tg-rcore-tutorial</a:t>
                      </a:r>
                      <a:endParaRPr lang="zh-CN" altLang="en-US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赛题 </a:t>
                      </a:r>
                      <a:r>
                        <a:rPr lang="en-US" altLang="zh-CN" sz="1400"/>
                        <a:t>30% </a:t>
                      </a:r>
                      <a:r>
                        <a:rPr lang="zh-CN" altLang="en-US" sz="1400"/>
                        <a:t>参考练习基线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8860243"/>
                  </a:ext>
                </a:extLst>
              </a:tr>
              <a:tr h="4556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/>
                        <a:t>MIT 6.S081</a:t>
                      </a:r>
                    </a:p>
                    <a:p>
                      <a:pPr algn="ctr"/>
                      <a:r>
                        <a:rPr lang="en-US" altLang="zh-CN" sz="1400" b="0"/>
                        <a:t>xv6-riscv</a:t>
                      </a:r>
                      <a:endParaRPr lang="zh-CN" altLang="en-US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教学环境框架对比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2533365"/>
                  </a:ext>
                </a:extLst>
              </a:tr>
              <a:tr h="4556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/>
                        <a:t>OSTEP</a:t>
                      </a:r>
                      <a:r>
                        <a:rPr lang="zh-CN" altLang="en-US" sz="1400" b="0"/>
                        <a:t>、</a:t>
                      </a:r>
                      <a:r>
                        <a:rPr lang="en-US" altLang="zh-CN" sz="1400" b="0"/>
                        <a:t>CSAPP</a:t>
                      </a:r>
                      <a:r>
                        <a:rPr lang="zh-CN" altLang="en-US" sz="1400" b="0"/>
                        <a:t>、</a:t>
                      </a:r>
                      <a:r>
                        <a:rPr lang="en-US" altLang="zh-CN" sz="1400" b="0"/>
                        <a:t>RISC-V Reader</a:t>
                      </a:r>
                      <a:endParaRPr lang="zh-CN" altLang="en-US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实验手册背景和受限 </a:t>
                      </a:r>
                      <a:r>
                        <a:rPr lang="en-US" altLang="zh-CN" sz="1400"/>
                        <a:t>RAG </a:t>
                      </a:r>
                      <a:r>
                        <a:rPr lang="zh-CN" altLang="en-US" sz="1400"/>
                        <a:t>知识来源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1522268"/>
                  </a:ext>
                </a:extLst>
              </a:tr>
              <a:tr h="45567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/>
                        <a:t>OpenSBI</a:t>
                      </a:r>
                      <a:r>
                        <a:rPr lang="zh-CN" altLang="en-US" sz="1400" b="0"/>
                        <a:t>、</a:t>
                      </a:r>
                      <a:r>
                        <a:rPr lang="en-US" altLang="zh-CN" sz="1400" b="0"/>
                        <a:t>QEMU</a:t>
                      </a:r>
                      <a:r>
                        <a:rPr lang="zh-CN" altLang="en-US" sz="1400" b="0"/>
                        <a:t>、</a:t>
                      </a:r>
                      <a:r>
                        <a:rPr lang="en-US" altLang="zh-CN" sz="1400" b="0"/>
                        <a:t>Rust</a:t>
                      </a:r>
                      <a:r>
                        <a:rPr lang="zh-CN" altLang="en-US" sz="1400" b="0"/>
                        <a:t>、</a:t>
                      </a:r>
                      <a:r>
                        <a:rPr lang="en-US" altLang="zh-CN" sz="1400" b="0"/>
                        <a:t>Cargo crates</a:t>
                      </a:r>
                      <a:endParaRPr lang="zh-CN" altLang="en-US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编译、启动、硬件模拟和运行依赖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1496023"/>
                  </a:ext>
                </a:extLst>
              </a:tr>
              <a:tr h="45567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/>
                        <a:t>外部</a:t>
                      </a:r>
                      <a:r>
                        <a:rPr lang="en-US" altLang="zh-CN" sz="1400" b="0"/>
                        <a:t>LLM</a:t>
                      </a:r>
                      <a:r>
                        <a:rPr lang="zh-CN" altLang="en-US" sz="1400" b="0"/>
                        <a:t>服务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支持</a:t>
                      </a:r>
                      <a:r>
                        <a:rPr lang="en-US" altLang="zh-CN" sz="1400"/>
                        <a:t>Agent Server</a:t>
                      </a:r>
                      <a:r>
                        <a:rPr lang="zh-CN" altLang="en-US" sz="1400"/>
                        <a:t>实现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3262462"/>
                  </a:ext>
                </a:extLst>
              </a:tr>
            </a:tbl>
          </a:graphicData>
        </a:graphic>
      </p:graphicFrame>
      <p:sp>
        <p:nvSpPr>
          <p:cNvPr id="100" name="文本框 99">
            <a:extLst>
              <a:ext uri="{FF2B5EF4-FFF2-40B4-BE49-F238E27FC236}">
                <a16:creationId xmlns:a16="http://schemas.microsoft.com/office/drawing/2014/main" id="{D0E749BC-7576-A15C-7730-2152952C60AC}"/>
              </a:ext>
            </a:extLst>
          </p:cNvPr>
          <p:cNvSpPr txBox="1"/>
          <p:nvPr/>
        </p:nvSpPr>
        <p:spPr>
          <a:xfrm>
            <a:off x="1715191" y="5832822"/>
            <a:ext cx="28108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b="1">
                <a:latin typeface="+mn-ea"/>
                <a:cs typeface="Arial"/>
              </a:rPr>
              <a:t>更多详细说明请见实验文档</a:t>
            </a:r>
            <a:endParaRPr lang="zh-CN" altLang="zh-CN" sz="1600" b="1" dirty="0">
              <a:latin typeface="+mn-ea"/>
              <a:cs typeface="Arial"/>
            </a:endParaRPr>
          </a:p>
        </p:txBody>
      </p: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790D7220-3717-52A7-62DC-8FC622D7E990}"/>
              </a:ext>
            </a:extLst>
          </p:cNvPr>
          <p:cNvCxnSpPr>
            <a:cxnSpLocks/>
          </p:cNvCxnSpPr>
          <p:nvPr/>
        </p:nvCxnSpPr>
        <p:spPr>
          <a:xfrm>
            <a:off x="1689375" y="6171376"/>
            <a:ext cx="2748951" cy="0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14350" y="381000"/>
              <a:ext cx="800100" cy="762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8155" y="587692"/>
            <a:ext cx="2192908" cy="438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2850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未来优化方向</a:t>
            </a:r>
            <a:endParaRPr lang="zh-CN" sz="2850" b="1" dirty="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733425" y="1733550"/>
            <a:ext cx="285750" cy="3971925"/>
            <a:chOff x="733425" y="1733550"/>
            <a:chExt cx="285750" cy="3971925"/>
          </a:xfrm>
        </p:grpSpPr>
        <p:sp>
          <p:nvSpPr>
            <p:cNvPr id="8" name="Line 8"/>
            <p:cNvSpPr/>
            <p:nvPr/>
          </p:nvSpPr>
          <p:spPr>
            <a:xfrm>
              <a:off x="876300" y="1733550"/>
              <a:ext cx="9525" cy="3962400"/>
            </a:xfrm>
            <a:custGeom>
              <a:avLst/>
              <a:gdLst/>
              <a:ahLst/>
              <a:cxnLst/>
              <a:rect l="l" t="t" r="r" b="b"/>
              <a:pathLst>
                <a:path w="9525" h="3962400">
                  <a:moveTo>
                    <a:pt x="0" y="0"/>
                  </a:moveTo>
                  <a:lnTo>
                    <a:pt x="0" y="3962400"/>
                  </a:lnTo>
                </a:path>
              </a:pathLst>
            </a:custGeom>
            <a:noFill/>
            <a:ln w="38100">
              <a:solidFill>
                <a:srgbClr val="C9D4DF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733425" y="1762125"/>
              <a:ext cx="285750" cy="285750"/>
            </a:xfrm>
            <a:prstGeom prst="ellipse">
              <a:avLst/>
            </a:prstGeom>
            <a:solidFill>
              <a:srgbClr val="E8842C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733425" y="2676525"/>
              <a:ext cx="285750" cy="285750"/>
            </a:xfrm>
            <a:prstGeom prst="ellipse">
              <a:avLst/>
            </a:prstGeom>
            <a:solidFill>
              <a:srgbClr val="1B4B8F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733425" y="3590925"/>
              <a:ext cx="285750" cy="285750"/>
            </a:xfrm>
            <a:prstGeom prst="ellipse">
              <a:avLst/>
            </a:prstGeom>
            <a:solidFill>
              <a:srgbClr val="1B4B8F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33425" y="4505325"/>
              <a:ext cx="285750" cy="285750"/>
            </a:xfrm>
            <a:prstGeom prst="ellipse">
              <a:avLst/>
            </a:prstGeom>
            <a:solidFill>
              <a:srgbClr val="3E7CB1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733425" y="5419725"/>
              <a:ext cx="285750" cy="285750"/>
            </a:xfrm>
            <a:prstGeom prst="ellipse">
              <a:avLst/>
            </a:prstGeom>
            <a:solidFill>
              <a:srgbClr val="168C5A"/>
            </a:solidFill>
            <a:ln>
              <a:noFill/>
            </a:ln>
          </p:spPr>
        </p:sp>
      </p:grpSp>
      <p:sp>
        <p:nvSpPr>
          <p:cNvPr id="44" name="TextBox 44"/>
          <p:cNvSpPr txBox="1"/>
          <p:nvPr/>
        </p:nvSpPr>
        <p:spPr>
          <a:xfrm>
            <a:off x="11560841" y="6570345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2</a:t>
            </a:r>
            <a:r>
              <a:rPr lang="en-US" alt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7</a:t>
            </a:r>
            <a:endParaRPr lang="zh-CN" sz="900" dirty="0">
              <a:solidFill>
                <a:srgbClr val="8993A1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590041F5-3EF2-CE89-74EA-B70AC96697A7}"/>
              </a:ext>
            </a:extLst>
          </p:cNvPr>
          <p:cNvSpPr/>
          <p:nvPr/>
        </p:nvSpPr>
        <p:spPr>
          <a:xfrm>
            <a:off x="1489322" y="1587499"/>
            <a:ext cx="9816852" cy="4336467"/>
          </a:xfrm>
          <a:prstGeom prst="rect">
            <a:avLst/>
          </a:prstGeom>
          <a:solidFill>
            <a:srgbClr val="F2F6FA"/>
          </a:solidFill>
          <a:ln>
            <a:noFill/>
          </a:ln>
        </p:spPr>
      </p:sp>
      <p:sp>
        <p:nvSpPr>
          <p:cNvPr id="46" name="TextBox 15">
            <a:extLst>
              <a:ext uri="{FF2B5EF4-FFF2-40B4-BE49-F238E27FC236}">
                <a16:creationId xmlns:a16="http://schemas.microsoft.com/office/drawing/2014/main" id="{CB5698AA-1341-4F4E-30CC-CC9519B2AB1B}"/>
              </a:ext>
            </a:extLst>
          </p:cNvPr>
          <p:cNvSpPr txBox="1"/>
          <p:nvPr/>
        </p:nvSpPr>
        <p:spPr>
          <a:xfrm>
            <a:off x="2681541" y="1808144"/>
            <a:ext cx="64" cy="27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endParaRPr lang="zh-CN" b="1" dirty="0">
              <a:solidFill>
                <a:srgbClr val="FFFFFF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50" name="TextBox 19">
            <a:extLst>
              <a:ext uri="{FF2B5EF4-FFF2-40B4-BE49-F238E27FC236}">
                <a16:creationId xmlns:a16="http://schemas.microsoft.com/office/drawing/2014/main" id="{135C3D06-7317-FC0E-41F6-A0B13EB751FA}"/>
              </a:ext>
            </a:extLst>
          </p:cNvPr>
          <p:cNvSpPr txBox="1"/>
          <p:nvPr/>
        </p:nvSpPr>
        <p:spPr>
          <a:xfrm>
            <a:off x="1671790" y="2015442"/>
            <a:ext cx="9143935" cy="3416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lang="en-US" altLang="zh-CN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1. </a:t>
            </a:r>
            <a:r>
              <a:rPr lang="zh-CN" altLang="en-US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深化内核机制</a:t>
            </a:r>
          </a:p>
          <a:p>
            <a:endParaRPr lang="zh-CN" altLang="en-US" sz="120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  <a:p>
            <a:r>
              <a:rPr lang="zh-CN" altLang="en-US" sz="1200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逐步补充 </a:t>
            </a:r>
            <a:r>
              <a:rPr lang="en-US" altLang="zh-CN" sz="1200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COW</a:t>
            </a:r>
            <a:r>
              <a:rPr lang="zh-CN" altLang="en-US" sz="1200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、文件映射、持久化元数据和崩溃一致性，使各实验模块从相对独立的功能验证进一步形成完整、连续的系统语义。</a:t>
            </a:r>
          </a:p>
          <a:p>
            <a:endParaRPr lang="zh-CN" altLang="en-US" sz="120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  <a:p>
            <a:r>
              <a:rPr lang="zh-CN" altLang="en-US" sz="1200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完善资源耗尽时的错误处理与回收机制；扩展到更通用的对象生命周期和多核调度，更好实现和推动学生的个性化学习。</a:t>
            </a:r>
          </a:p>
          <a:p>
            <a:endParaRPr lang="zh-CN" altLang="en-US" sz="120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  <a:p>
            <a:r>
              <a:rPr lang="en-US" altLang="zh-CN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2. </a:t>
            </a:r>
            <a:r>
              <a:rPr lang="zh-CN" altLang="en-US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扩展验证与落地观测</a:t>
            </a:r>
          </a:p>
          <a:p>
            <a:endParaRPr lang="zh-CN" altLang="en-US" sz="120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  <a:p>
            <a:r>
              <a:rPr lang="zh-CN" altLang="en-US" sz="1200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后续验证应从关键事件扩展到覆盖内存、进程、文件系统和并发机制的统一观测体系，并加强跨模块行为关联。</a:t>
            </a:r>
          </a:p>
          <a:p>
            <a:endParaRPr lang="zh-CN" altLang="en-US" sz="120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  <a:p>
            <a:r>
              <a:rPr lang="zh-CN" altLang="en-US" sz="1200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开展匿名化的多班级真人对照实验，预注册指标并报告样本量、效应量和失败案例，进一步完善工程缺陷并持续观测落地效果。</a:t>
            </a:r>
          </a:p>
          <a:p>
            <a:endParaRPr lang="zh-CN" altLang="en-US" sz="120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  <a:p>
            <a:r>
              <a:rPr lang="en-US" altLang="zh-CN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3. </a:t>
            </a:r>
            <a:r>
              <a:rPr lang="zh-CN" altLang="en-US" b="1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提升平台部署与执行安全</a:t>
            </a:r>
          </a:p>
          <a:p>
            <a:endParaRPr lang="zh-CN" altLang="en-US" sz="120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  <a:p>
            <a:r>
              <a:rPr lang="zh-CN" altLang="en-US" sz="1200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演进为标准化、隔离化和可扩展的运行环境，完善计算资源限制、、运行监控与异常恢复等，满足公开部署和多班级并发使用的需要。</a:t>
            </a:r>
          </a:p>
          <a:p>
            <a:endParaRPr lang="zh-CN" altLang="en-US" sz="120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  <a:p>
            <a:r>
              <a:rPr lang="zh-CN" altLang="en-US" sz="1200">
                <a:solidFill>
                  <a:srgbClr val="1F2A37"/>
                </a:solidFill>
                <a:latin typeface="Arial"/>
                <a:ea typeface="Microsoft YaHei"/>
                <a:cs typeface="Arial"/>
              </a:rPr>
              <a:t>完善统一开发环境、服务部署、健康检查和数据恢复方案，进一步整个功能到教师工作台中。</a:t>
            </a:r>
            <a:endParaRPr lang="zh-CN" sz="1200" dirty="0">
              <a:solidFill>
                <a:srgbClr val="1F2A37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14350" y="381000"/>
              <a:ext cx="114300" cy="6096000"/>
            </a:xfrm>
            <a:prstGeom prst="rect">
              <a:avLst/>
            </a:prstGeom>
            <a:solidFill>
              <a:srgbClr val="1B4B8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628650" y="381000"/>
              <a:ext cx="114300" cy="609600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2919425" y="2011680"/>
            <a:ext cx="6353150" cy="1527929"/>
            <a:chOff x="2919425" y="2011680"/>
            <a:chExt cx="6353150" cy="1527929"/>
          </a:xfrm>
        </p:grpSpPr>
        <p:sp>
          <p:nvSpPr>
            <p:cNvPr id="8" name="TextBox 8"/>
            <p:cNvSpPr txBox="1"/>
            <p:nvPr/>
          </p:nvSpPr>
          <p:spPr>
            <a:xfrm>
              <a:off x="4394978" y="2011680"/>
              <a:ext cx="3402044" cy="1341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60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EVOLVE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524250" y="2971800"/>
              <a:ext cx="5143500" cy="57150"/>
            </a:xfrm>
            <a:prstGeom prst="rect">
              <a:avLst/>
            </a:prstGeom>
            <a:solidFill>
              <a:srgbClr val="1B4B8F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848600" y="2971800"/>
              <a:ext cx="819150" cy="57150"/>
            </a:xfrm>
            <a:prstGeom prst="rect">
              <a:avLst/>
            </a:prstGeom>
            <a:solidFill>
              <a:srgbClr val="E8842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919425" y="3231832"/>
              <a:ext cx="635315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00" dirty="0">
                  <a:solidFill>
                    <a:srgbClr val="5B6673"/>
                  </a:solidFill>
                  <a:latin typeface="Arial"/>
                  <a:ea typeface="Microsoft YaHei"/>
                  <a:cs typeface="Arial"/>
                </a:rPr>
                <a:t>Evolving Virtual OS Learning &amp; Verification Environment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45845" y="4019550"/>
            <a:ext cx="10631805" cy="800100"/>
            <a:chOff x="1045845" y="4019550"/>
            <a:chExt cx="10631805" cy="800100"/>
          </a:xfrm>
        </p:grpSpPr>
        <p:sp>
          <p:nvSpPr>
            <p:cNvPr id="13" name="Line 13"/>
            <p:cNvSpPr/>
            <p:nvPr/>
          </p:nvSpPr>
          <p:spPr>
            <a:xfrm>
              <a:off x="1066800" y="4019550"/>
              <a:ext cx="10610850" cy="9525"/>
            </a:xfrm>
            <a:custGeom>
              <a:avLst/>
              <a:gdLst/>
              <a:ahLst/>
              <a:cxnLst/>
              <a:rect l="l" t="t" r="r" b="b"/>
              <a:pathLst>
                <a:path w="10610850" h="9525">
                  <a:moveTo>
                    <a:pt x="0" y="0"/>
                  </a:moveTo>
                  <a:lnTo>
                    <a:pt x="10610850" y="0"/>
                  </a:lnTo>
                </a:path>
              </a:pathLst>
            </a:custGeom>
            <a:noFill/>
            <a:ln w="19050">
              <a:solidFill>
                <a:srgbClr val="C9D4D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45845" y="4222432"/>
              <a:ext cx="9429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8842C"/>
                  </a:solidFill>
                  <a:latin typeface="Arial"/>
                  <a:ea typeface="Microsoft YaHei"/>
                  <a:cs typeface="Arial"/>
                </a:rPr>
                <a:t>Evolving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9655" y="4550092"/>
              <a:ext cx="865622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35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渐进式内核</a:t>
              </a:r>
              <a:endParaRPr lang="zh-CN" sz="1350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3600450" y="42481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rgbClr val="DFE7E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960495" y="4222432"/>
              <a:ext cx="81585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4B8F"/>
                  </a:solidFill>
                  <a:latin typeface="Arial"/>
                  <a:ea typeface="Microsoft YaHei"/>
                  <a:cs typeface="Arial"/>
                </a:rPr>
                <a:t>Virtual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64305" y="4550092"/>
              <a:ext cx="69249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35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虚拟</a:t>
              </a:r>
              <a:r>
                <a:rPr lang="zh-CN" sz="135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环</a:t>
              </a:r>
              <a:r>
                <a:rPr lang="zh-CN" sz="1350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境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400800" y="42481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rgbClr val="DFE7E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60845" y="4222432"/>
              <a:ext cx="13703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OS Learning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64655" y="4550092"/>
              <a:ext cx="1384995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35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操作系统实验教学</a:t>
              </a:r>
              <a:endParaRPr lang="zh-CN" sz="1350" dirty="0">
                <a:solidFill>
                  <a:srgbClr val="1F2A3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9239250" y="42481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rgbClr val="DFE7E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601200" y="4238625"/>
              <a:ext cx="17918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C5A"/>
                  </a:solidFill>
                  <a:latin typeface="Arial"/>
                  <a:ea typeface="Microsoft YaHei"/>
                  <a:cs typeface="Arial"/>
                </a:rPr>
                <a:t>Verification Env.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603105" y="4550092"/>
              <a:ext cx="1462003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可信证</a:t>
              </a:r>
              <a:r>
                <a:rPr lang="zh-CN" sz="135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据与</a:t>
              </a:r>
              <a:r>
                <a:rPr lang="en-US" altLang="zh-CN" sz="135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 AI </a:t>
              </a:r>
              <a:r>
                <a:rPr lang="zh-CN" sz="135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协</a:t>
              </a:r>
              <a:r>
                <a:rPr lang="zh-CN" sz="1350" dirty="0">
                  <a:solidFill>
                    <a:srgbClr val="1F2A37"/>
                  </a:solidFill>
                  <a:latin typeface="Arial"/>
                  <a:ea typeface="Microsoft YaHei"/>
                  <a:cs typeface="Arial"/>
                </a:rPr>
                <a:t>作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1560841" y="6475095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2</a:t>
            </a:r>
            <a:r>
              <a:rPr lang="en-US" altLang="zh-CN" sz="900">
                <a:solidFill>
                  <a:srgbClr val="8993A1"/>
                </a:solidFill>
                <a:latin typeface="Arial"/>
                <a:ea typeface="Microsoft YaHei"/>
                <a:cs typeface="Arial"/>
              </a:rPr>
              <a:t>8</a:t>
            </a:r>
            <a:endParaRPr lang="zh-CN" sz="900" dirty="0">
              <a:solidFill>
                <a:srgbClr val="8993A1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10920</Words>
  <Application>Microsoft Office PowerPoint</Application>
  <PresentationFormat>宽屏</PresentationFormat>
  <Paragraphs>640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4" baseType="lpstr">
      <vt:lpstr>宋体</vt:lpstr>
      <vt:lpstr>Arial</vt:lpstr>
      <vt:lpstr>Calibri</vt:lpstr>
      <vt:lpstr>Consolas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Aurora Jane</cp:lastModifiedBy>
  <cp:revision>46</cp:revision>
  <dcterms:created xsi:type="dcterms:W3CDTF">2026-08-16T17:06:10Z</dcterms:created>
  <dcterms:modified xsi:type="dcterms:W3CDTF">2026-08-17T17:06:39Z</dcterms:modified>
  <cp:category/>
  <cp:contentStatus/>
  <dc:language/>
</cp:coreProperties>
</file>